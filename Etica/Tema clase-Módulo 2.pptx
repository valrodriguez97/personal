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323" r:id="rId3"/>
    <p:sldId id="384" r:id="rId4"/>
    <p:sldId id="404" r:id="rId5"/>
    <p:sldId id="403" r:id="rId6"/>
    <p:sldId id="385" r:id="rId7"/>
    <p:sldId id="386" r:id="rId8"/>
    <p:sldId id="387" r:id="rId9"/>
    <p:sldId id="388" r:id="rId10"/>
    <p:sldId id="389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07B7810-F0B3-4C46-A944-2C2F06CD20D5}">
          <p14:sldIdLst>
            <p14:sldId id="256"/>
            <p14:sldId id="323"/>
            <p14:sldId id="384"/>
            <p14:sldId id="404"/>
            <p14:sldId id="403"/>
            <p14:sldId id="385"/>
            <p14:sldId id="386"/>
            <p14:sldId id="387"/>
            <p14:sldId id="388"/>
            <p14:sldId id="389"/>
          </p14:sldIdLst>
        </p14:section>
        <p14:section name="Sección sin título" id="{E5D1AE2A-07DF-490D-9F1E-C771C9E8023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lla gomez" initials="sg" lastIdx="1" clrIdx="0">
    <p:extLst>
      <p:ext uri="{19B8F6BF-5375-455C-9EA6-DF929625EA0E}">
        <p15:presenceInfo xmlns:p15="http://schemas.microsoft.com/office/powerpoint/2012/main" userId="41e53ed47ff0139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8817"/>
    <a:srgbClr val="BFCCB8"/>
    <a:srgbClr val="7CB48C"/>
    <a:srgbClr val="D1BE89"/>
    <a:srgbClr val="F7E7C0"/>
    <a:srgbClr val="53514D"/>
    <a:srgbClr val="FFD966"/>
    <a:srgbClr val="35503C"/>
    <a:srgbClr val="E0A4A4"/>
    <a:srgbClr val="E3B6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5343" autoAdjust="0"/>
  </p:normalViewPr>
  <p:slideViewPr>
    <p:cSldViewPr snapToGrid="0">
      <p:cViewPr varScale="1">
        <p:scale>
          <a:sx n="111" d="100"/>
          <a:sy n="111" d="100"/>
        </p:scale>
        <p:origin x="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54406A-8EC0-4F10-9D3B-2EBC050F747D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53672-D77E-4F08-B0A2-B2896AD7583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0492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FB84C-F124-B067-CC02-02EFD86CD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C2CE21-B44F-99EC-3A84-DEB42BC5F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13718B-24BB-3CE9-EA7E-96928CDCC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B50FB9-F2ED-4D22-01F0-3905BEFEC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267F4F-E2C0-C82D-2185-A2CDE5BB7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2303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5E370-342B-D425-9718-7D029C37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43EAA4-DFFA-B9B3-6C3A-24792C197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AB4925-4037-296B-3AF0-B2FB68860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4080CF-9A9C-6299-6223-90051C1A8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37EFA0-3E58-DD13-4E04-0790A0CED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6493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4BE2F-7A59-B82F-EA4A-B3630C57D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87524A-78EB-707E-B49E-F3D16086F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C9BA44-2ED2-8FAB-197E-CC2D70FF5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B9ED5D-7FF5-EA1C-5A54-584159F4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77471C-16C8-F8AB-7F09-EB3856C0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81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1D8B4-B799-FA45-8079-EE8E724D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D7FFE1-B336-B464-8273-71CA76F443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43BF28-AEB8-773B-D1AD-BB24B43E8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44A84A-27B8-4AA2-E047-9728419AB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EBAEBA-4471-37F2-B23D-5D4D0E96F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A2232C-3B8C-EEA2-0944-D64927E9E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3714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61121-753F-1E05-5469-D9DC8243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C158E0-0FF9-AF9A-9D96-E72328BF4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521AB8-34DA-C65D-5763-2019969F1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34788A5-C267-B255-2C00-72716E5B1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3F8224F-0A93-9096-C6F3-3241F9B2CA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8326969-A514-7C12-93A6-BEE7C67A8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4F0BB1-5A7C-C9D8-05DC-CE6D643C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AD55EFA-88BE-5D96-7ABC-C20EE61D1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777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2060A-A4C3-3792-2A24-B6CC534A6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6A3AAE-EE2E-7409-5B98-0A4DE562F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562DCAA-4826-6F47-7235-75F8DC882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9CA385-E77B-FBBB-3112-021DFCDA4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98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28ADB9F-391F-C414-DFDD-5ACFE71EF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AE45D6C-8017-4B03-F284-5356AAFA8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CD7E9C-7E7C-A295-4F7B-4633004DC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808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D7835-0DDB-ABAB-97DC-2A27B951E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3907EA-EC0B-B679-406A-7DFE029AE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0BDF6E-AC88-F6BA-E303-00414C7B0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5FC5FC-1582-7519-E925-3D3B874F2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675DBC-65D8-B7B8-6AD5-844C55EB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44DD2C-457F-771E-2E34-5764681D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4963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554E1-B0B2-E83A-C8AE-3C402F93C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93D8327-C23B-FBB9-74CF-D55D33C99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65A0F5-632E-413E-BCE8-BC90FF382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1B6013-1999-CEE9-7077-39A3FE09E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B39E48-2E95-4921-7F82-AA60A0C9D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E000C6-56E5-04E3-8075-28CF2AE5A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6237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C01CA-E316-4DD1-5A0E-38BC9D660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1AB25F-AF11-FEE2-54B8-BB820F9E4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3DA78E-0036-EF64-6561-40849C256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6FDEFB-432E-7769-95C6-E883C07E3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FA4402-3016-BB2F-D7FF-635F0268C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1312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B7C609-EF1C-B251-C959-8A4D0A764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83CD8D-C8F0-B03F-6181-03CE1B806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38B562-E843-643C-1C19-7502D8371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99F-06B2-6046-AE77-4163F561B680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B05F38-78D0-F442-D4DA-D734C732C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895E85-C381-8CD4-C94D-7C80C890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553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C073353-CBAF-BB37-4E4E-A37A31AB7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BD6F64-C9D9-2FC0-DD1F-C08FE7037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84228A-7FCA-5544-99D1-A02F4F0DA7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E699F-06B2-6046-AE77-4163F561B680}" type="datetimeFigureOut">
              <a:rPr lang="es-CO" smtClean="0"/>
              <a:t>18/03/2026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C1EFC6-029A-5272-B332-0CD5E8613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2BB21E-D42C-EE45-8B13-60297C8EF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5B1DE-5DA8-E14A-870A-1F70A3200B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456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 de texto 6">
            <a:extLst>
              <a:ext uri="{FF2B5EF4-FFF2-40B4-BE49-F238E27FC236}">
                <a16:creationId xmlns:a16="http://schemas.microsoft.com/office/drawing/2014/main" id="{74CA7B29-A1D9-7BFF-FA59-DB4A231E7B85}"/>
              </a:ext>
            </a:extLst>
          </p:cNvPr>
          <p:cNvSpPr txBox="1"/>
          <p:nvPr/>
        </p:nvSpPr>
        <p:spPr>
          <a:xfrm>
            <a:off x="3544988" y="4698710"/>
            <a:ext cx="6248400" cy="459740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s-ES" sz="1600" dirty="0">
                <a:solidFill>
                  <a:srgbClr val="59595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Claudia Patricia </a:t>
            </a:r>
            <a:r>
              <a:rPr lang="es-ES" sz="1600">
                <a:solidFill>
                  <a:srgbClr val="59595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González Quintero </a:t>
            </a:r>
            <a:endParaRPr lang="es-CO" sz="160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uadro de texto 1">
            <a:extLst>
              <a:ext uri="{FF2B5EF4-FFF2-40B4-BE49-F238E27FC236}">
                <a16:creationId xmlns:a16="http://schemas.microsoft.com/office/drawing/2014/main" id="{33D3B48A-871C-DE3F-6125-BA08BF57BBAD}"/>
              </a:ext>
            </a:extLst>
          </p:cNvPr>
          <p:cNvSpPr txBox="1"/>
          <p:nvPr/>
        </p:nvSpPr>
        <p:spPr>
          <a:xfrm>
            <a:off x="3460147" y="3299190"/>
            <a:ext cx="8067891" cy="617838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es-MX" sz="3200" b="1" dirty="0">
                <a:solidFill>
                  <a:srgbClr val="595959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NÚCLEO TEMÁTICO 2. DE LA PROFESIÓN DEL INGENIERO EN CONTEXTO</a:t>
            </a:r>
            <a:endParaRPr lang="es-CO" sz="3200" b="1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680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7911823-9105-4E37-9E08-E8A298272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4471" y="152399"/>
            <a:ext cx="8135769" cy="690881"/>
          </a:xfrm>
        </p:spPr>
        <p:txBody>
          <a:bodyPr>
            <a:normAutofit fontScale="90000"/>
          </a:bodyPr>
          <a:lstStyle/>
          <a:p>
            <a:pPr algn="r"/>
            <a:r>
              <a:rPr lang="es-MX" sz="2400" b="1" i="1" dirty="0">
                <a:latin typeface="HelveticaNeueLT Std Med Cn" panose="020B0506030502030204"/>
              </a:rPr>
              <a:t>RELACIÓN ENTRE ÉTICA, MORAL Y                           MARCO LEGAL   PARA INGENIEROS</a:t>
            </a:r>
            <a:endParaRPr lang="es-CO" sz="2400" b="1" i="1" dirty="0">
              <a:latin typeface="HelveticaNeueLT Std Med Cn" panose="020B0506030502030204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60769A7-EB53-4C16-B3AC-89D5B48D88E7}"/>
              </a:ext>
            </a:extLst>
          </p:cNvPr>
          <p:cNvSpPr txBox="1"/>
          <p:nvPr/>
        </p:nvSpPr>
        <p:spPr>
          <a:xfrm>
            <a:off x="502101" y="9147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HelveticaNeueLT Std Med Cn" panose="020B0506030502030204"/>
              </a:rPr>
              <a:t>Ética:</a:t>
            </a:r>
            <a:endParaRPr lang="es-CO" b="1" dirty="0">
              <a:latin typeface="HelveticaNeueLT Std Med Cn" panose="020B0506030502030204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B1588C0-3743-4A00-AE12-B40C031F4A37}"/>
              </a:ext>
            </a:extLst>
          </p:cNvPr>
          <p:cNvSpPr txBox="1"/>
          <p:nvPr/>
        </p:nvSpPr>
        <p:spPr>
          <a:xfrm>
            <a:off x="6598102" y="1548266"/>
            <a:ext cx="5279266" cy="44383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MX" dirty="0">
                <a:latin typeface="HelveticaNeueLT Std Med Cn" panose="020B0506030502030204"/>
              </a:rPr>
              <a:t>Actividad personal puesta de una manera estable y honrada al servicio de la sociedad y en beneficio propio a impulsos de la vocación y con la dignidad que corresponde a la persona. </a:t>
            </a:r>
          </a:p>
          <a:p>
            <a:pPr marL="285750" indent="-285750" algn="just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MX" dirty="0">
                <a:latin typeface="HelveticaNeueLT Std Med Cn" panose="020B0506030502030204"/>
              </a:rPr>
              <a:t>La finalidad del trabajo profesional es el bien común.</a:t>
            </a:r>
          </a:p>
          <a:p>
            <a:pPr marL="285750" indent="-285750" algn="just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MX" dirty="0">
                <a:latin typeface="HelveticaNeueLT Std Med Cn" panose="020B0506030502030204"/>
              </a:rPr>
              <a:t>Un profesional debe ofrecer una preparación especial: capacidad intelectual, moral y física.</a:t>
            </a:r>
            <a:endParaRPr lang="es-CO" dirty="0">
              <a:latin typeface="HelveticaNeueLT Std Med Cn" panose="020B0506030502030204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44A81214-452B-4E4D-80EF-685B51EC2FC3}"/>
              </a:ext>
            </a:extLst>
          </p:cNvPr>
          <p:cNvSpPr txBox="1"/>
          <p:nvPr/>
        </p:nvSpPr>
        <p:spPr>
          <a:xfrm>
            <a:off x="6719463" y="914706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HelveticaNeueLT Std Med Cn" panose="020B0506030502030204"/>
              </a:rPr>
              <a:t>Profesión:</a:t>
            </a:r>
            <a:endParaRPr lang="es-CO" b="1" dirty="0">
              <a:latin typeface="HelveticaNeueLT Std Med Cn" panose="020B0506030502030204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3E69637-583E-4D35-87B5-A65D3E3DD2D6}"/>
              </a:ext>
            </a:extLst>
          </p:cNvPr>
          <p:cNvSpPr txBox="1"/>
          <p:nvPr/>
        </p:nvSpPr>
        <p:spPr>
          <a:xfrm>
            <a:off x="502101" y="1522756"/>
            <a:ext cx="5593899" cy="44383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HelveticaNeueLT Std Med Cn" panose="020B0506030502030204"/>
              </a:rPr>
              <a:t>Ciencia práctica y normativa que estudia racionalmente la maldad y la bondad de los actos humanos.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HelveticaNeueLT Std Med Cn" panose="020B0506030502030204"/>
              </a:rPr>
              <a:t>Da normas para la vida.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HelveticaNeueLT Std Med Cn" panose="020B0506030502030204"/>
              </a:rPr>
              <a:t>Orienta la conducta práctica.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HelveticaNeueLT Std Med Cn" panose="020B0506030502030204"/>
              </a:rPr>
              <a:t>Dirige, encauza las decisiones libres del hombre.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HelveticaNeueLT Std Med Cn" panose="020B0506030502030204"/>
              </a:rPr>
              <a:t>Es rectora de la conducta humana para ejecutar actos buenos acordes con la razón.</a:t>
            </a:r>
            <a:endParaRPr lang="es-CO" dirty="0">
              <a:latin typeface="HelveticaNeueLT Std Med Cn" panose="020B0506030502030204"/>
            </a:endParaRPr>
          </a:p>
        </p:txBody>
      </p:sp>
    </p:spTree>
    <p:extLst>
      <p:ext uri="{BB962C8B-B14F-4D97-AF65-F5344CB8AC3E}">
        <p14:creationId xmlns:p14="http://schemas.microsoft.com/office/powerpoint/2010/main" val="1141121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7911823-9105-4E37-9E08-E8A298272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4471" y="152399"/>
            <a:ext cx="8135769" cy="690881"/>
          </a:xfrm>
        </p:spPr>
        <p:txBody>
          <a:bodyPr>
            <a:normAutofit fontScale="90000"/>
          </a:bodyPr>
          <a:lstStyle/>
          <a:p>
            <a:pPr algn="r"/>
            <a:r>
              <a:rPr lang="es-MX" sz="2400" b="1" i="1" dirty="0">
                <a:latin typeface="HelveticaNeueLT Std Med Cn" panose="020B0506030502030204"/>
              </a:rPr>
              <a:t>RELACIÓN ENTRE ÉTICA, MORAL Y                           MARCO LEGAL PARA INGENIEROS</a:t>
            </a:r>
            <a:endParaRPr lang="es-CO" sz="2400" b="1" i="1" dirty="0">
              <a:latin typeface="HelveticaNeueLT Std Med Cn" panose="020B0506030502030204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60769A7-EB53-4C16-B3AC-89D5B48D88E7}"/>
              </a:ext>
            </a:extLst>
          </p:cNvPr>
          <p:cNvSpPr txBox="1"/>
          <p:nvPr/>
        </p:nvSpPr>
        <p:spPr>
          <a:xfrm>
            <a:off x="502101" y="914706"/>
            <a:ext cx="9938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s-MX" dirty="0">
                <a:latin typeface="HelveticaNeueLT Std Med Cn" panose="020B0506030502030204"/>
              </a:rPr>
              <a:t>Un profesional debe ofrecer una preparación especial: </a:t>
            </a:r>
            <a:r>
              <a:rPr lang="es-MX" b="1" dirty="0">
                <a:latin typeface="HelveticaNeueLT Std Med Cn" panose="020B0506030502030204"/>
              </a:rPr>
              <a:t>capacidad intelectual, moral y física.</a:t>
            </a:r>
            <a:endParaRPr lang="es-CO" b="1" dirty="0">
              <a:latin typeface="HelveticaNeueLT Std Med Cn" panose="020B0506030502030204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3EFC993-3597-4FCD-ABB4-43F022F9A37F}"/>
              </a:ext>
            </a:extLst>
          </p:cNvPr>
          <p:cNvSpPr txBox="1"/>
          <p:nvPr/>
        </p:nvSpPr>
        <p:spPr>
          <a:xfrm>
            <a:off x="502101" y="3406733"/>
            <a:ext cx="3659082" cy="1077218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s-MX" sz="3200" b="1" dirty="0">
                <a:latin typeface="HelveticaNeueLT Std Med Cn" panose="020B0506030502030204"/>
              </a:rPr>
              <a:t>Capacidad intelectual </a:t>
            </a:r>
            <a:endParaRPr lang="es-CO" sz="32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C297822-999D-4BF8-AC4C-A274F8528D49}"/>
              </a:ext>
            </a:extLst>
          </p:cNvPr>
          <p:cNvSpPr txBox="1"/>
          <p:nvPr/>
        </p:nvSpPr>
        <p:spPr>
          <a:xfrm>
            <a:off x="4831773" y="2203198"/>
            <a:ext cx="6631299" cy="3690177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sz="2000" dirty="0">
                <a:latin typeface="HelveticaNeueLT Std Med Cn" panose="020B0506030502030204"/>
              </a:rPr>
              <a:t>Cúmulo de </a:t>
            </a:r>
            <a:r>
              <a:rPr lang="es-MX" sz="2000" b="1" dirty="0">
                <a:latin typeface="HelveticaNeueLT Std Med Cn" panose="020B0506030502030204"/>
              </a:rPr>
              <a:t>conocimientos</a:t>
            </a:r>
            <a:r>
              <a:rPr lang="es-MX" sz="2000" dirty="0">
                <a:latin typeface="HelveticaNeueLT Std Med Cn" panose="020B0506030502030204"/>
              </a:rPr>
              <a:t> que dentro de su rama lo hacen apto para desarrollar trabajos especializados.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sz="2000" b="1" dirty="0">
                <a:latin typeface="HelveticaNeueLT Std Med Cn" panose="020B0506030502030204"/>
              </a:rPr>
              <a:t>Responsabilidad</a:t>
            </a:r>
            <a:r>
              <a:rPr lang="es-MX" sz="2000" dirty="0">
                <a:latin typeface="HelveticaNeueLT Std Med Cn" panose="020B0506030502030204"/>
              </a:rPr>
              <a:t> que tiene en el ejercicio de su actividad.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sz="2000" b="1" dirty="0">
                <a:latin typeface="HelveticaNeueLT Std Med Cn" panose="020B0506030502030204"/>
              </a:rPr>
              <a:t>Obligación</a:t>
            </a:r>
            <a:r>
              <a:rPr lang="es-MX" sz="2000" dirty="0">
                <a:latin typeface="HelveticaNeueLT Std Med Cn" panose="020B0506030502030204"/>
              </a:rPr>
              <a:t> que adquiere de estar al tanto de los avances científicos de su especialidad</a:t>
            </a:r>
            <a:r>
              <a:rPr lang="es-MX" dirty="0">
                <a:latin typeface="HelveticaNeueLT Std Med Cn" panose="020B0506030502030204"/>
              </a:rPr>
              <a:t>. </a:t>
            </a:r>
            <a:endParaRPr lang="es-CO" dirty="0">
              <a:latin typeface="HelveticaNeueLT Std Med Cn" panose="020B0506030502030204"/>
            </a:endParaRPr>
          </a:p>
        </p:txBody>
      </p:sp>
    </p:spTree>
    <p:extLst>
      <p:ext uri="{BB962C8B-B14F-4D97-AF65-F5344CB8AC3E}">
        <p14:creationId xmlns:p14="http://schemas.microsoft.com/office/powerpoint/2010/main" val="916696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7911823-9105-4E37-9E08-E8A298272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4471" y="152399"/>
            <a:ext cx="8135769" cy="690881"/>
          </a:xfrm>
        </p:spPr>
        <p:txBody>
          <a:bodyPr>
            <a:normAutofit fontScale="90000"/>
          </a:bodyPr>
          <a:lstStyle/>
          <a:p>
            <a:pPr algn="r"/>
            <a:r>
              <a:rPr lang="es-MX" sz="2400" b="1" i="1" dirty="0">
                <a:latin typeface="HelveticaNeueLT Std Med Cn" panose="020B0506030502030204"/>
              </a:rPr>
              <a:t>RELACIÓN ENTRE ÉTICA, MORAL Y                           MARCO LEGAL PARA INGENIEROS</a:t>
            </a:r>
            <a:endParaRPr lang="es-CO" sz="2400" b="1" i="1" dirty="0">
              <a:latin typeface="HelveticaNeueLT Std Med Cn" panose="020B0506030502030204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60769A7-EB53-4C16-B3AC-89D5B48D88E7}"/>
              </a:ext>
            </a:extLst>
          </p:cNvPr>
          <p:cNvSpPr txBox="1"/>
          <p:nvPr/>
        </p:nvSpPr>
        <p:spPr>
          <a:xfrm>
            <a:off x="502101" y="914706"/>
            <a:ext cx="9938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s-MX" dirty="0">
                <a:latin typeface="HelveticaNeueLT Std Med Cn" panose="020B0506030502030204"/>
              </a:rPr>
              <a:t>Un profesional debe ofrecer una preparación especial: </a:t>
            </a:r>
            <a:r>
              <a:rPr lang="es-MX" b="1" dirty="0">
                <a:latin typeface="HelveticaNeueLT Std Med Cn" panose="020B0506030502030204"/>
              </a:rPr>
              <a:t>capacidad intelectual, moral y física.</a:t>
            </a:r>
            <a:endParaRPr lang="es-CO" b="1" dirty="0">
              <a:latin typeface="HelveticaNeueLT Std Med Cn" panose="020B0506030502030204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CD0912E-83F6-424F-877A-A352DFDD59D2}"/>
              </a:ext>
            </a:extLst>
          </p:cNvPr>
          <p:cNvSpPr txBox="1"/>
          <p:nvPr/>
        </p:nvSpPr>
        <p:spPr>
          <a:xfrm>
            <a:off x="616401" y="3429000"/>
            <a:ext cx="2912576" cy="1077218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s-MX" sz="3200" b="1" dirty="0">
                <a:latin typeface="HelveticaNeueLT Std Med Cn" panose="020B0506030502030204"/>
              </a:rPr>
              <a:t>Capacidad</a:t>
            </a:r>
            <a:r>
              <a:rPr lang="es-MX" sz="3200" dirty="0">
                <a:latin typeface="HelveticaNeueLT Std Med Cn" panose="020B0506030502030204"/>
              </a:rPr>
              <a:t> </a:t>
            </a:r>
            <a:r>
              <a:rPr lang="es-MX" sz="3200" b="1" dirty="0">
                <a:latin typeface="HelveticaNeueLT Std Med Cn" panose="020B0506030502030204"/>
              </a:rPr>
              <a:t>moral</a:t>
            </a:r>
            <a:r>
              <a:rPr lang="es-MX" sz="3200" dirty="0">
                <a:latin typeface="HelveticaNeueLT Std Med Cn" panose="020B0506030502030204"/>
              </a:rPr>
              <a:t> </a:t>
            </a:r>
            <a:endParaRPr lang="es-CO" sz="32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0C6DDF-0183-4E9E-99B4-5DF79C4D633F}"/>
              </a:ext>
            </a:extLst>
          </p:cNvPr>
          <p:cNvSpPr txBox="1"/>
          <p:nvPr/>
        </p:nvSpPr>
        <p:spPr>
          <a:xfrm>
            <a:off x="4873336" y="1302136"/>
            <a:ext cx="6776772" cy="4992392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HelveticaNeueLT Std Med Cn" panose="020B0506030502030204"/>
              </a:rPr>
              <a:t>Valor como persona, lo cual le da dignidad, seriedad y nobleza a su trabajo.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HelveticaNeueLT Std Med Cn" panose="020B0506030502030204"/>
              </a:rPr>
              <a:t>Abarca no sólo la honestidad y el trato en los negocios, sirve también en el cumplimiento de lo pactado.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HelveticaNeueLT Std Med Cn" panose="020B0506030502030204"/>
              </a:rPr>
              <a:t>Aptitud para abarcar y traspasar su esfera profesional en un horizonte de gran amplitud.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HelveticaNeueLT Std Med Cn" panose="020B0506030502030204"/>
              </a:rPr>
              <a:t>Da mayor relieve a su propio trabajo.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HelveticaNeueLT Std Med Cn" panose="020B0506030502030204"/>
              </a:rPr>
              <a:t>Lo hace valer no solo como profesional, sino como persona en su ambiente laboral. </a:t>
            </a:r>
            <a:endParaRPr lang="es-CO" dirty="0">
              <a:latin typeface="HelveticaNeueLT Std Med Cn" panose="020B0506030502030204"/>
            </a:endParaRPr>
          </a:p>
        </p:txBody>
      </p:sp>
    </p:spTree>
    <p:extLst>
      <p:ext uri="{BB962C8B-B14F-4D97-AF65-F5344CB8AC3E}">
        <p14:creationId xmlns:p14="http://schemas.microsoft.com/office/powerpoint/2010/main" val="2162493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7911823-9105-4E37-9E08-E8A298272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4471" y="152399"/>
            <a:ext cx="8135769" cy="690881"/>
          </a:xfrm>
        </p:spPr>
        <p:txBody>
          <a:bodyPr>
            <a:normAutofit fontScale="90000"/>
          </a:bodyPr>
          <a:lstStyle/>
          <a:p>
            <a:pPr algn="r"/>
            <a:r>
              <a:rPr lang="es-MX" sz="2400" b="1" i="1" dirty="0">
                <a:latin typeface="HelveticaNeueLT Std Med Cn" panose="020B0506030502030204"/>
              </a:rPr>
              <a:t>RELACIÓN ENTRE ÉTICA, MORAL Y                           MARCO LEGAL PARA INGENIEROS</a:t>
            </a:r>
            <a:endParaRPr lang="es-CO" sz="2400" b="1" i="1" dirty="0">
              <a:latin typeface="HelveticaNeueLT Std Med Cn" panose="020B0506030502030204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60769A7-EB53-4C16-B3AC-89D5B48D88E7}"/>
              </a:ext>
            </a:extLst>
          </p:cNvPr>
          <p:cNvSpPr txBox="1"/>
          <p:nvPr/>
        </p:nvSpPr>
        <p:spPr>
          <a:xfrm>
            <a:off x="502101" y="914706"/>
            <a:ext cx="9938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s-MX" dirty="0">
                <a:latin typeface="HelveticaNeueLT Std Med Cn" panose="020B0506030502030204"/>
              </a:rPr>
              <a:t>Un profesional debe ofrecer una preparación especial: capacidad intelectual, moral y física.</a:t>
            </a:r>
            <a:endParaRPr lang="es-CO" dirty="0">
              <a:latin typeface="HelveticaNeueLT Std Med Cn" panose="020B0506030502030204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7425C40-4AF0-436E-9471-45D458C00E8C}"/>
              </a:ext>
            </a:extLst>
          </p:cNvPr>
          <p:cNvSpPr txBox="1"/>
          <p:nvPr/>
        </p:nvSpPr>
        <p:spPr>
          <a:xfrm>
            <a:off x="714164" y="2618509"/>
            <a:ext cx="2912576" cy="1077218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s-MX" sz="3200" b="1" dirty="0">
                <a:latin typeface="HelveticaNeueLT Std Med Cn" panose="020B0506030502030204"/>
              </a:rPr>
              <a:t>Capacidad física </a:t>
            </a:r>
            <a:endParaRPr lang="es-CO" sz="32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A7E87EB-9702-4AEC-9EEE-D47F81660971}"/>
              </a:ext>
            </a:extLst>
          </p:cNvPr>
          <p:cNvSpPr txBox="1"/>
          <p:nvPr/>
        </p:nvSpPr>
        <p:spPr>
          <a:xfrm>
            <a:off x="5116571" y="2618509"/>
            <a:ext cx="6670964" cy="461665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MX" sz="2400" dirty="0">
                <a:latin typeface="HelveticaNeueLT Std Med Cn" panose="020B0506030502030204"/>
              </a:rPr>
              <a:t>Salud, necesaria cultivar para la vida humana. </a:t>
            </a:r>
            <a:endParaRPr lang="es-CO" sz="2400" dirty="0">
              <a:latin typeface="HelveticaNeueLT Std Med Cn" panose="020B0506030502030204"/>
            </a:endParaRPr>
          </a:p>
        </p:txBody>
      </p:sp>
      <p:pic>
        <p:nvPicPr>
          <p:cNvPr id="2052" name="Picture 4" descr="físico aptitud vector icono 31885716 Vector en Vecteezy">
            <a:extLst>
              <a:ext uri="{FF2B5EF4-FFF2-40B4-BE49-F238E27FC236}">
                <a16:creationId xmlns:a16="http://schemas.microsoft.com/office/drawing/2014/main" id="{5D132650-5056-42BB-9403-9DCD124F5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147" y="354200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D63BE54B-C600-481F-B512-CF91B5F04CC6}"/>
              </a:ext>
            </a:extLst>
          </p:cNvPr>
          <p:cNvSpPr txBox="1"/>
          <p:nvPr/>
        </p:nvSpPr>
        <p:spPr>
          <a:xfrm>
            <a:off x="4541792" y="5676034"/>
            <a:ext cx="347056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700" dirty="0"/>
              <a:t>https://es.vecteezy.com/arte-vectorial/31885716-fisico-aptitud-vector-icono</a:t>
            </a:r>
          </a:p>
        </p:txBody>
      </p:sp>
    </p:spTree>
    <p:extLst>
      <p:ext uri="{BB962C8B-B14F-4D97-AF65-F5344CB8AC3E}">
        <p14:creationId xmlns:p14="http://schemas.microsoft.com/office/powerpoint/2010/main" val="123823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3">
            <a:extLst>
              <a:ext uri="{FF2B5EF4-FFF2-40B4-BE49-F238E27FC236}">
                <a16:creationId xmlns:a16="http://schemas.microsoft.com/office/drawing/2014/main" id="{6521FF46-36B9-4675-8DBE-2FF05473D86B}"/>
              </a:ext>
            </a:extLst>
          </p:cNvPr>
          <p:cNvSpPr txBox="1">
            <a:spLocks/>
          </p:cNvSpPr>
          <p:nvPr/>
        </p:nvSpPr>
        <p:spPr>
          <a:xfrm>
            <a:off x="3654419" y="101282"/>
            <a:ext cx="8135769" cy="690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400" b="1" i="1">
                <a:latin typeface="HelveticaNeueLT Std Med Cn" panose="020B0506030502030204"/>
              </a:rPr>
              <a:t>RELACIÓN ENTRE ÉTICA, MORAL Y                           MARCO LEGAL PARA INGENIEROS</a:t>
            </a:r>
            <a:endParaRPr lang="es-CO" sz="2400" b="1" i="1" dirty="0">
              <a:latin typeface="HelveticaNeueLT Std Med Cn" panose="020B0506030502030204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1420BE7-7F20-4784-9BCD-EBEBD2032147}"/>
              </a:ext>
            </a:extLst>
          </p:cNvPr>
          <p:cNvSpPr txBox="1"/>
          <p:nvPr/>
        </p:nvSpPr>
        <p:spPr>
          <a:xfrm>
            <a:off x="788810" y="1116987"/>
            <a:ext cx="69839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HelveticaNeueLT Std Med Cn" panose="020B0506030502030204"/>
              </a:rPr>
              <a:t>Ética: </a:t>
            </a:r>
            <a:r>
              <a:rPr lang="es-MX" dirty="0">
                <a:latin typeface="HelveticaNeueLT Std Med Cn" panose="020B0506030502030204"/>
              </a:rPr>
              <a:t>¿qué debo hacer? y ¿cómo debo actuar?</a:t>
            </a:r>
            <a:r>
              <a:rPr lang="es-MX" dirty="0"/>
              <a:t> </a:t>
            </a:r>
          </a:p>
          <a:p>
            <a:endParaRPr lang="es-MX" dirty="0"/>
          </a:p>
          <a:p>
            <a:r>
              <a:rPr lang="es-MX" b="1" i="1" dirty="0">
                <a:latin typeface="HelveticaNeueLT Std Med Cn" panose="020B0506030502030204"/>
              </a:rPr>
              <a:t>1. </a:t>
            </a:r>
            <a:r>
              <a:rPr lang="es-MX" b="1" i="1" u="sng" dirty="0">
                <a:latin typeface="HelveticaNeueLT Std Med Cn" panose="020B0506030502030204"/>
              </a:rPr>
              <a:t>Principio de responsabilidad </a:t>
            </a:r>
            <a:endParaRPr lang="es-CO" b="1" i="1" u="sng" dirty="0">
              <a:latin typeface="HelveticaNeueLT Std Med Cn" panose="020B0506030502030204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7E79F72-BEB1-4880-B1A9-9EB5999D5F2D}"/>
              </a:ext>
            </a:extLst>
          </p:cNvPr>
          <p:cNvSpPr txBox="1"/>
          <p:nvPr/>
        </p:nvSpPr>
        <p:spPr>
          <a:xfrm>
            <a:off x="4806226" y="1670985"/>
            <a:ext cx="7115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HelveticaNeueLT Std Med Cn" panose="020B0506030502030204"/>
              </a:rPr>
              <a:t>Precepto fundamental en la Ingeniería de Sistemas y Computación.</a:t>
            </a:r>
            <a:endParaRPr lang="es-CO" dirty="0">
              <a:latin typeface="HelveticaNeueLT Std Med Cn" panose="020B0506030502030204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4D4F1B0-FD2C-4BE6-9883-BB853CE3E811}"/>
              </a:ext>
            </a:extLst>
          </p:cNvPr>
          <p:cNvSpPr txBox="1"/>
          <p:nvPr/>
        </p:nvSpPr>
        <p:spPr>
          <a:xfrm>
            <a:off x="6659593" y="3493697"/>
            <a:ext cx="4494362" cy="120032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HelveticaNeueLT Std Med Cn" panose="020B0506030502030204"/>
              </a:rPr>
              <a:t>Los ingenieros, están dotados del poder de elegir sus actos y son responsables de sus comportamientos y de los resultados de estos.</a:t>
            </a:r>
            <a:endParaRPr lang="es-CO" dirty="0">
              <a:latin typeface="HelveticaNeueLT Std Med Cn" panose="020B0506030502030204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1B8C07F-8195-4BD9-9770-6292A919E7F3}"/>
              </a:ext>
            </a:extLst>
          </p:cNvPr>
          <p:cNvSpPr txBox="1"/>
          <p:nvPr/>
        </p:nvSpPr>
        <p:spPr>
          <a:xfrm>
            <a:off x="788810" y="2478995"/>
            <a:ext cx="5063350" cy="3416320"/>
          </a:xfrm>
          <a:prstGeom prst="rect">
            <a:avLst/>
          </a:prstGeom>
          <a:solidFill>
            <a:srgbClr val="FFD966"/>
          </a:solidFill>
        </p:spPr>
        <p:txBody>
          <a:bodyPr wrap="square">
            <a:spAutoFit/>
          </a:bodyPr>
          <a:lstStyle/>
          <a:p>
            <a:r>
              <a:rPr lang="es-MX" dirty="0">
                <a:latin typeface="HelveticaNeueLT Std Med Cn" panose="020B0506030502030204"/>
              </a:rPr>
              <a:t>Una invitación a:</a:t>
            </a:r>
          </a:p>
          <a:p>
            <a:endParaRPr lang="es-MX" dirty="0">
              <a:latin typeface="HelveticaNeueLT Std Med Cn" panose="020B0506030502030204"/>
            </a:endParaRPr>
          </a:p>
          <a:p>
            <a:pPr algn="just"/>
            <a:r>
              <a:rPr lang="es-MX" dirty="0">
                <a:latin typeface="HelveticaNeueLT Std Med Cn" panose="020B0506030502030204"/>
              </a:rPr>
              <a:t>La búsqueda de equilibrio, pues la integridad moral en el ejercicio profesional del Ingeniero se ha visto debilitada, por la </a:t>
            </a:r>
            <a:r>
              <a:rPr lang="es-MX" b="1" dirty="0">
                <a:latin typeface="HelveticaNeueLT Std Med Cn" panose="020B0506030502030204"/>
              </a:rPr>
              <a:t>falta de reflexión </a:t>
            </a:r>
            <a:r>
              <a:rPr lang="es-MX" dirty="0">
                <a:latin typeface="HelveticaNeueLT Std Med Cn" panose="020B0506030502030204"/>
              </a:rPr>
              <a:t>frente a la profesión y la ética.</a:t>
            </a:r>
          </a:p>
          <a:p>
            <a:endParaRPr lang="es-MX" dirty="0">
              <a:latin typeface="HelveticaNeueLT Std Med Cn" panose="020B0506030502030204"/>
            </a:endParaRPr>
          </a:p>
          <a:p>
            <a:pPr algn="just"/>
            <a:r>
              <a:rPr lang="es-MX" dirty="0">
                <a:latin typeface="HelveticaNeueLT Std Med Cn" panose="020B0506030502030204"/>
              </a:rPr>
              <a:t>Someter todo proyecto, innovación, modificación o creación tecnocientífica a una </a:t>
            </a:r>
            <a:r>
              <a:rPr lang="es-MX" b="1" dirty="0">
                <a:latin typeface="HelveticaNeueLT Std Med Cn" panose="020B0506030502030204"/>
              </a:rPr>
              <a:t>evaluación previa </a:t>
            </a:r>
            <a:r>
              <a:rPr lang="es-MX" dirty="0">
                <a:latin typeface="HelveticaNeueLT Std Med Cn" panose="020B0506030502030204"/>
              </a:rPr>
              <a:t>de sus fines, medios y posibles efectos sobre la naturaleza y la sociedad (horizonte teleológico).</a:t>
            </a:r>
            <a:endParaRPr lang="es-CO" dirty="0">
              <a:latin typeface="HelveticaNeueLT Std Med Cn" panose="020B0506030502030204"/>
            </a:endParaRPr>
          </a:p>
        </p:txBody>
      </p:sp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302A31AA-69EB-42FB-AB58-4F5AB23A2CFB}"/>
              </a:ext>
            </a:extLst>
          </p:cNvPr>
          <p:cNvSpPr/>
          <p:nvPr/>
        </p:nvSpPr>
        <p:spPr>
          <a:xfrm>
            <a:off x="4374874" y="1895061"/>
            <a:ext cx="515178" cy="1452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9381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3">
            <a:extLst>
              <a:ext uri="{FF2B5EF4-FFF2-40B4-BE49-F238E27FC236}">
                <a16:creationId xmlns:a16="http://schemas.microsoft.com/office/drawing/2014/main" id="{6521FF46-36B9-4675-8DBE-2FF05473D86B}"/>
              </a:ext>
            </a:extLst>
          </p:cNvPr>
          <p:cNvSpPr txBox="1">
            <a:spLocks/>
          </p:cNvSpPr>
          <p:nvPr/>
        </p:nvSpPr>
        <p:spPr>
          <a:xfrm>
            <a:off x="3654419" y="101282"/>
            <a:ext cx="8135769" cy="690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400" b="1" i="1">
                <a:latin typeface="HelveticaNeueLT Std Med Cn" panose="020B0506030502030204"/>
              </a:rPr>
              <a:t>RELACIÓN ENTRE ÉTICA, MORAL Y                           MARCO LEGAL PARA INGENIEROS</a:t>
            </a:r>
            <a:endParaRPr lang="es-CO" sz="2400" b="1" i="1" dirty="0">
              <a:latin typeface="HelveticaNeueLT Std Med Cn" panose="020B0506030502030204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017475D-7BF3-4E52-908F-894019A7F36A}"/>
              </a:ext>
            </a:extLst>
          </p:cNvPr>
          <p:cNvSpPr txBox="1"/>
          <p:nvPr/>
        </p:nvSpPr>
        <p:spPr>
          <a:xfrm>
            <a:off x="788810" y="1116987"/>
            <a:ext cx="6983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i="1" dirty="0">
                <a:latin typeface="HelveticaNeueLT Std Med Cn" panose="020B0506030502030204"/>
              </a:rPr>
              <a:t>2. </a:t>
            </a:r>
            <a:r>
              <a:rPr lang="es-MX" b="1" i="1" u="sng" dirty="0">
                <a:latin typeface="HelveticaNeueLT Std Med Cn" panose="020B0506030502030204"/>
              </a:rPr>
              <a:t>Principio de veracidad</a:t>
            </a:r>
            <a:r>
              <a:rPr lang="es-MX" b="1" i="1" dirty="0">
                <a:latin typeface="HelveticaNeueLT Std Med Cn" panose="020B0506030502030204"/>
              </a:rPr>
              <a:t>:</a:t>
            </a:r>
            <a:endParaRPr lang="es-CO" b="1" i="1" dirty="0">
              <a:latin typeface="HelveticaNeueLT Std Med Cn" panose="020B0506030502030204"/>
            </a:endParaRP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36020FB8-36BE-476B-A496-14044C8A16B7}"/>
              </a:ext>
            </a:extLst>
          </p:cNvPr>
          <p:cNvSpPr/>
          <p:nvPr/>
        </p:nvSpPr>
        <p:spPr>
          <a:xfrm>
            <a:off x="2537460" y="2343505"/>
            <a:ext cx="577126" cy="216815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433DBDE-56C9-486F-9657-7EA586832A49}"/>
              </a:ext>
            </a:extLst>
          </p:cNvPr>
          <p:cNvSpPr txBox="1"/>
          <p:nvPr/>
        </p:nvSpPr>
        <p:spPr>
          <a:xfrm>
            <a:off x="1735641" y="1811143"/>
            <a:ext cx="8720718" cy="3970318"/>
          </a:xfrm>
          <a:custGeom>
            <a:avLst/>
            <a:gdLst>
              <a:gd name="connsiteX0" fmla="*/ 0 w 8720718"/>
              <a:gd name="connsiteY0" fmla="*/ 0 h 3970318"/>
              <a:gd name="connsiteX1" fmla="*/ 8720718 w 8720718"/>
              <a:gd name="connsiteY1" fmla="*/ 0 h 3970318"/>
              <a:gd name="connsiteX2" fmla="*/ 8720718 w 8720718"/>
              <a:gd name="connsiteY2" fmla="*/ 3970318 h 3970318"/>
              <a:gd name="connsiteX3" fmla="*/ 0 w 8720718"/>
              <a:gd name="connsiteY3" fmla="*/ 3970318 h 3970318"/>
              <a:gd name="connsiteX4" fmla="*/ 0 w 8720718"/>
              <a:gd name="connsiteY4" fmla="*/ 0 h 3970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0718" h="3970318" fill="none" extrusionOk="0">
                <a:moveTo>
                  <a:pt x="0" y="0"/>
                </a:moveTo>
                <a:cubicBezTo>
                  <a:pt x="1281725" y="84277"/>
                  <a:pt x="5245911" y="109893"/>
                  <a:pt x="8720718" y="0"/>
                </a:cubicBezTo>
                <a:cubicBezTo>
                  <a:pt x="8642152" y="1081605"/>
                  <a:pt x="8678547" y="2069847"/>
                  <a:pt x="8720718" y="3970318"/>
                </a:cubicBezTo>
                <a:cubicBezTo>
                  <a:pt x="6527500" y="3882440"/>
                  <a:pt x="3119325" y="3906244"/>
                  <a:pt x="0" y="3970318"/>
                </a:cubicBezTo>
                <a:cubicBezTo>
                  <a:pt x="52095" y="3216911"/>
                  <a:pt x="-74620" y="678742"/>
                  <a:pt x="0" y="0"/>
                </a:cubicBezTo>
                <a:close/>
              </a:path>
              <a:path w="8720718" h="3970318" stroke="0" extrusionOk="0">
                <a:moveTo>
                  <a:pt x="0" y="0"/>
                </a:moveTo>
                <a:cubicBezTo>
                  <a:pt x="2251147" y="155626"/>
                  <a:pt x="6457883" y="76272"/>
                  <a:pt x="8720718" y="0"/>
                </a:cubicBezTo>
                <a:cubicBezTo>
                  <a:pt x="8578517" y="1949244"/>
                  <a:pt x="8693957" y="2008972"/>
                  <a:pt x="8720718" y="3970318"/>
                </a:cubicBezTo>
                <a:cubicBezTo>
                  <a:pt x="4471901" y="3857462"/>
                  <a:pt x="2620561" y="3889579"/>
                  <a:pt x="0" y="3970318"/>
                </a:cubicBezTo>
                <a:cubicBezTo>
                  <a:pt x="-152765" y="3072937"/>
                  <a:pt x="117593" y="1271324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2866735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MX" b="1" dirty="0">
                <a:latin typeface="HelveticaNeueLT Std Med Cn" panose="020B0506030502030204"/>
              </a:rPr>
              <a:t>La veracidad </a:t>
            </a:r>
            <a:r>
              <a:rPr lang="es-MX" dirty="0">
                <a:latin typeface="HelveticaNeueLT Std Med Cn" panose="020B0506030502030204"/>
              </a:rPr>
              <a:t>es el pilar de nuestra acción profesional.</a:t>
            </a:r>
          </a:p>
          <a:p>
            <a:pPr algn="just"/>
            <a:endParaRPr lang="es-MX" dirty="0">
              <a:latin typeface="HelveticaNeueLT Std Med Cn" panose="020B0506030502030204"/>
            </a:endParaRPr>
          </a:p>
          <a:p>
            <a:pPr algn="just">
              <a:lnSpc>
                <a:spcPct val="150000"/>
              </a:lnSpc>
            </a:pPr>
            <a:r>
              <a:rPr lang="es-MX" dirty="0">
                <a:latin typeface="HelveticaNeueLT Std Med Cn" panose="020B0506030502030204"/>
              </a:rPr>
              <a:t>Un llamado a: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HelveticaNeueLT Std Med Cn" panose="020B0506030502030204"/>
              </a:rPr>
              <a:t>No fingir.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HelveticaNeueLT Std Med Cn" panose="020B0506030502030204"/>
              </a:rPr>
              <a:t>No engañar.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HelveticaNeueLT Std Med Cn" panose="020B0506030502030204"/>
              </a:rPr>
              <a:t>Alejarse del fraude y de la farsa.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HelveticaNeueLT Std Med Cn" panose="020B0506030502030204"/>
              </a:rPr>
              <a:t>Encontrar la manera más adecuada de gestionar los asuntos personales y profesionales, de forma que no repercutan desfavorablemente en la sociedad.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HelveticaNeueLT Std Med Cn" panose="020B0506030502030204"/>
            </a:endParaRPr>
          </a:p>
          <a:p>
            <a:pPr algn="just"/>
            <a:r>
              <a:rPr lang="es-MX" b="1" dirty="0">
                <a:latin typeface="HelveticaNeueLT Std Med Cn" panose="020B0506030502030204"/>
              </a:rPr>
              <a:t>La veracidad </a:t>
            </a:r>
            <a:r>
              <a:rPr lang="es-MX" dirty="0">
                <a:latin typeface="HelveticaNeueLT Std Med Cn" panose="020B0506030502030204"/>
              </a:rPr>
              <a:t>se convierte en un valor moral positivo que busca garantizar la verdad, a pesar que esta especifique una pluralidad de contenidos.</a:t>
            </a:r>
            <a:endParaRPr lang="es-CO" dirty="0">
              <a:latin typeface="HelveticaNeueLT Std Med Cn" panose="020B0506030502030204"/>
            </a:endParaRPr>
          </a:p>
        </p:txBody>
      </p:sp>
    </p:spTree>
    <p:extLst>
      <p:ext uri="{BB962C8B-B14F-4D97-AF65-F5344CB8AC3E}">
        <p14:creationId xmlns:p14="http://schemas.microsoft.com/office/powerpoint/2010/main" val="2242453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3">
            <a:extLst>
              <a:ext uri="{FF2B5EF4-FFF2-40B4-BE49-F238E27FC236}">
                <a16:creationId xmlns:a16="http://schemas.microsoft.com/office/drawing/2014/main" id="{6521FF46-36B9-4675-8DBE-2FF05473D86B}"/>
              </a:ext>
            </a:extLst>
          </p:cNvPr>
          <p:cNvSpPr txBox="1">
            <a:spLocks/>
          </p:cNvSpPr>
          <p:nvPr/>
        </p:nvSpPr>
        <p:spPr>
          <a:xfrm>
            <a:off x="3654419" y="101282"/>
            <a:ext cx="8135769" cy="690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400" b="1" i="1">
                <a:latin typeface="HelveticaNeueLT Std Med Cn" panose="020B0506030502030204"/>
              </a:rPr>
              <a:t>RELACIÓN ENTRE ÉTICA, MORAL Y                           MARCO LEGAL PARA INGENIEROS</a:t>
            </a:r>
            <a:endParaRPr lang="es-CO" sz="2400" b="1" i="1" dirty="0">
              <a:latin typeface="HelveticaNeueLT Std Med Cn" panose="020B0506030502030204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8FE4F574-6846-4FDE-8B25-62C41D306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465" y="3808083"/>
            <a:ext cx="3922394" cy="1961197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FA72A532-ABAF-4CA4-AA19-0B6C58C138AB}"/>
              </a:ext>
            </a:extLst>
          </p:cNvPr>
          <p:cNvSpPr txBox="1"/>
          <p:nvPr/>
        </p:nvSpPr>
        <p:spPr>
          <a:xfrm>
            <a:off x="4228465" y="5695404"/>
            <a:ext cx="39223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600" dirty="0"/>
              <a:t>https://www.ventasdeseguridad.com/2019061411512/articulos/columnas/somos-eticos-los-profesionales-en-seguridad-electronica.html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DCCB8F1-7BB8-45DB-918B-1E4852D3D9BD}"/>
              </a:ext>
            </a:extLst>
          </p:cNvPr>
          <p:cNvSpPr txBox="1"/>
          <p:nvPr/>
        </p:nvSpPr>
        <p:spPr>
          <a:xfrm>
            <a:off x="738341" y="1162596"/>
            <a:ext cx="6983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i="1" dirty="0">
                <a:latin typeface="HelveticaNeueLT Std Med Cn" panose="020B0506030502030204"/>
              </a:rPr>
              <a:t>3. </a:t>
            </a:r>
            <a:r>
              <a:rPr lang="es-MX" b="1" i="1" u="sng" dirty="0">
                <a:latin typeface="HelveticaNeueLT Std Med Cn" panose="020B0506030502030204"/>
              </a:rPr>
              <a:t>Principio de integridad:</a:t>
            </a:r>
            <a:endParaRPr lang="es-CO" b="1" i="1" u="sng" dirty="0">
              <a:latin typeface="HelveticaNeueLT Std Med Cn" panose="020B0506030502030204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2B852CD-5111-4718-BDFF-D8E608B7E224}"/>
              </a:ext>
            </a:extLst>
          </p:cNvPr>
          <p:cNvSpPr txBox="1"/>
          <p:nvPr/>
        </p:nvSpPr>
        <p:spPr>
          <a:xfrm>
            <a:off x="738341" y="2782669"/>
            <a:ext cx="10290670" cy="369332"/>
          </a:xfrm>
          <a:custGeom>
            <a:avLst/>
            <a:gdLst>
              <a:gd name="connsiteX0" fmla="*/ 0 w 10290670"/>
              <a:gd name="connsiteY0" fmla="*/ 0 h 369332"/>
              <a:gd name="connsiteX1" fmla="*/ 10290670 w 10290670"/>
              <a:gd name="connsiteY1" fmla="*/ 0 h 369332"/>
              <a:gd name="connsiteX2" fmla="*/ 10290670 w 10290670"/>
              <a:gd name="connsiteY2" fmla="*/ 369332 h 369332"/>
              <a:gd name="connsiteX3" fmla="*/ 0 w 10290670"/>
              <a:gd name="connsiteY3" fmla="*/ 369332 h 369332"/>
              <a:gd name="connsiteX4" fmla="*/ 0 w 1029067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90670" h="369332" extrusionOk="0">
                <a:moveTo>
                  <a:pt x="0" y="0"/>
                </a:moveTo>
                <a:cubicBezTo>
                  <a:pt x="2801977" y="-110860"/>
                  <a:pt x="7542184" y="100630"/>
                  <a:pt x="10290670" y="0"/>
                </a:cubicBezTo>
                <a:cubicBezTo>
                  <a:pt x="10288258" y="73419"/>
                  <a:pt x="10304090" y="286124"/>
                  <a:pt x="10290670" y="369332"/>
                </a:cubicBezTo>
                <a:cubicBezTo>
                  <a:pt x="8653664" y="387984"/>
                  <a:pt x="4395920" y="232745"/>
                  <a:pt x="0" y="369332"/>
                </a:cubicBezTo>
                <a:cubicBezTo>
                  <a:pt x="-14582" y="229261"/>
                  <a:pt x="9546" y="145852"/>
                  <a:pt x="0" y="0"/>
                </a:cubicBezTo>
                <a:close/>
              </a:path>
            </a:pathLst>
          </a:custGeom>
          <a:noFill/>
          <a:ln w="12700">
            <a:noFill/>
            <a:extLst>
              <a:ext uri="{C807C97D-BFC1-408E-A445-0C87EB9F89A2}">
                <ask:lineSketchStyleProps xmlns:ask="http://schemas.microsoft.com/office/drawing/2018/sketchyshapes" sd="214536482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lvl="1" algn="just"/>
            <a:endParaRPr lang="es-CO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076E0E6-5B6C-47DC-B6AB-479479FBACED}"/>
              </a:ext>
            </a:extLst>
          </p:cNvPr>
          <p:cNvSpPr txBox="1"/>
          <p:nvPr/>
        </p:nvSpPr>
        <p:spPr>
          <a:xfrm>
            <a:off x="738341" y="2088038"/>
            <a:ext cx="4483016" cy="1754326"/>
          </a:xfrm>
          <a:prstGeom prst="rect">
            <a:avLst/>
          </a:prstGeom>
          <a:solidFill>
            <a:srgbClr val="7CB48C"/>
          </a:solidFill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HelveticaNeueLT Std Med Cn" panose="020B0506030502030204"/>
              </a:rPr>
              <a:t>Condición donde no todas las costumbres manejadas con cierta tolerancia en procesos de contratación, uso, diseño y participación Ingenieril, deben ser aceptadas sin un previo análisis de precaución. </a:t>
            </a:r>
            <a:endParaRPr lang="es-CO" dirty="0">
              <a:latin typeface="HelveticaNeueLT Std Med Cn" panose="020B0506030502030204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E060375-4E55-42D9-9C5F-F8C8FAA7ED0F}"/>
              </a:ext>
            </a:extLst>
          </p:cNvPr>
          <p:cNvSpPr txBox="1"/>
          <p:nvPr/>
        </p:nvSpPr>
        <p:spPr>
          <a:xfrm>
            <a:off x="6715071" y="2114811"/>
            <a:ext cx="4483016" cy="1477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HelveticaNeueLT Std Med Cn" panose="020B0506030502030204"/>
              </a:rPr>
              <a:t>Fortalecer el honor y la dignidad de la Ingeniería de sistemas y computación, ejerciéndola con integridad profesional, promoviendo las buenas prácticas y el respeto a los demás.</a:t>
            </a:r>
            <a:endParaRPr lang="es-CO" dirty="0">
              <a:latin typeface="HelveticaNeueLT Std Med Cn" panose="020B0506030502030204"/>
            </a:endParaRPr>
          </a:p>
        </p:txBody>
      </p:sp>
    </p:spTree>
    <p:extLst>
      <p:ext uri="{BB962C8B-B14F-4D97-AF65-F5344CB8AC3E}">
        <p14:creationId xmlns:p14="http://schemas.microsoft.com/office/powerpoint/2010/main" val="3560036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3">
            <a:extLst>
              <a:ext uri="{FF2B5EF4-FFF2-40B4-BE49-F238E27FC236}">
                <a16:creationId xmlns:a16="http://schemas.microsoft.com/office/drawing/2014/main" id="{6521FF46-36B9-4675-8DBE-2FF05473D86B}"/>
              </a:ext>
            </a:extLst>
          </p:cNvPr>
          <p:cNvSpPr txBox="1">
            <a:spLocks/>
          </p:cNvSpPr>
          <p:nvPr/>
        </p:nvSpPr>
        <p:spPr>
          <a:xfrm>
            <a:off x="3654419" y="101282"/>
            <a:ext cx="8135769" cy="690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400" b="1" i="1">
                <a:latin typeface="HelveticaNeueLT Std Med Cn" panose="020B0506030502030204"/>
              </a:rPr>
              <a:t>RELACIÓN ENTRE ÉTICA, MORAL Y                           MARCO LEGAL PARA INGENIEROS</a:t>
            </a:r>
            <a:endParaRPr lang="es-CO" sz="2400" b="1" i="1" dirty="0">
              <a:latin typeface="HelveticaNeueLT Std Med Cn" panose="020B0506030502030204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893B489-3101-4294-B155-49A11BCCEF39}"/>
              </a:ext>
            </a:extLst>
          </p:cNvPr>
          <p:cNvSpPr txBox="1"/>
          <p:nvPr/>
        </p:nvSpPr>
        <p:spPr>
          <a:xfrm>
            <a:off x="619279" y="1055982"/>
            <a:ext cx="6983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i="1" dirty="0">
                <a:latin typeface="HelveticaNeueLT Std Med Cn" panose="020B0506030502030204"/>
              </a:rPr>
              <a:t>4. </a:t>
            </a:r>
            <a:r>
              <a:rPr lang="es-MX" b="1" i="1" u="sng" dirty="0">
                <a:latin typeface="HelveticaNeueLT Std Med Cn" panose="020B0506030502030204"/>
              </a:rPr>
              <a:t>Principio de precisión</a:t>
            </a:r>
            <a:r>
              <a:rPr lang="es-MX" b="1" i="1" dirty="0">
                <a:latin typeface="HelveticaNeueLT Std Med Cn" panose="020B0506030502030204"/>
              </a:rPr>
              <a:t>:</a:t>
            </a:r>
            <a:endParaRPr lang="es-CO" b="1" i="1" dirty="0">
              <a:latin typeface="HelveticaNeueLT Std Med Cn" panose="020B0506030502030204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AB57111-6E30-44A4-B60D-DA85F0510513}"/>
              </a:ext>
            </a:extLst>
          </p:cNvPr>
          <p:cNvSpPr txBox="1"/>
          <p:nvPr/>
        </p:nvSpPr>
        <p:spPr>
          <a:xfrm>
            <a:off x="619279" y="1727374"/>
            <a:ext cx="3175481" cy="3139321"/>
          </a:xfrm>
          <a:prstGeom prst="rect">
            <a:avLst/>
          </a:prstGeom>
          <a:solidFill>
            <a:srgbClr val="D1BE89"/>
          </a:solidFill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HelveticaNeueLT Std Med Cn" panose="020B0506030502030204"/>
              </a:rPr>
              <a:t>Desarrollar nuestras actividades con precisión y rigurosidad, exclusivamente dentro de los umbrales de nuestra competencia, soportando nuestro desarrollo profesional en el mérito y calidad de nuestros servicios.</a:t>
            </a:r>
          </a:p>
          <a:p>
            <a:pPr algn="just"/>
            <a:endParaRPr lang="es-MX" dirty="0">
              <a:latin typeface="HelveticaNeueLT Std Med Cn" panose="020B0506030502030204"/>
            </a:endParaRPr>
          </a:p>
          <a:p>
            <a:pPr algn="just"/>
            <a:endParaRPr lang="es-MX" dirty="0">
              <a:latin typeface="HelveticaNeueLT Std Med Cn" panose="020B0506030502030204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C953226-A6DC-4076-B0EC-C64D7DFCAB22}"/>
              </a:ext>
            </a:extLst>
          </p:cNvPr>
          <p:cNvSpPr txBox="1"/>
          <p:nvPr/>
        </p:nvSpPr>
        <p:spPr>
          <a:xfrm>
            <a:off x="4692771" y="1727374"/>
            <a:ext cx="2492366" cy="2585323"/>
          </a:xfrm>
          <a:prstGeom prst="rect">
            <a:avLst/>
          </a:prstGeom>
          <a:solidFill>
            <a:srgbClr val="FFCC00"/>
          </a:solidFill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HelveticaNeueLT Std Med Cn" panose="020B0506030502030204"/>
              </a:rPr>
              <a:t>Nace como una orientación a la capacidad y habilidad de actuar con acertado conocimiento para el desarrollo de una actividad de diseño.</a:t>
            </a:r>
          </a:p>
          <a:p>
            <a:pPr algn="just"/>
            <a:endParaRPr lang="es-CO" dirty="0">
              <a:latin typeface="HelveticaNeueLT Std Med Cn" panose="020B0506030502030204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5EC0A19-5B1E-4DD4-A7BD-4F4C05F9FD83}"/>
              </a:ext>
            </a:extLst>
          </p:cNvPr>
          <p:cNvSpPr txBox="1"/>
          <p:nvPr/>
        </p:nvSpPr>
        <p:spPr>
          <a:xfrm>
            <a:off x="8022566" y="1727374"/>
            <a:ext cx="3310422" cy="1754326"/>
          </a:xfrm>
          <a:prstGeom prst="rect">
            <a:avLst/>
          </a:prstGeom>
          <a:solidFill>
            <a:srgbClr val="FFD966"/>
          </a:solidFill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HelveticaNeueLT Std Med Cn" panose="020B0506030502030204"/>
              </a:rPr>
              <a:t>Grado de aproximación y coincidencia que debe darse entre los resultados, producto de la eficacia y la eficiencia de un proceso frente a la medición de los resultados.</a:t>
            </a:r>
            <a:endParaRPr lang="es-CO" dirty="0">
              <a:latin typeface="HelveticaNeueLT Std Med Cn" panose="020B0506030502030204"/>
            </a:endParaRPr>
          </a:p>
        </p:txBody>
      </p:sp>
    </p:spTree>
    <p:extLst>
      <p:ext uri="{BB962C8B-B14F-4D97-AF65-F5344CB8AC3E}">
        <p14:creationId xmlns:p14="http://schemas.microsoft.com/office/powerpoint/2010/main" val="3936555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3">
            <a:extLst>
              <a:ext uri="{FF2B5EF4-FFF2-40B4-BE49-F238E27FC236}">
                <a16:creationId xmlns:a16="http://schemas.microsoft.com/office/drawing/2014/main" id="{6521FF46-36B9-4675-8DBE-2FF05473D86B}"/>
              </a:ext>
            </a:extLst>
          </p:cNvPr>
          <p:cNvSpPr txBox="1">
            <a:spLocks/>
          </p:cNvSpPr>
          <p:nvPr/>
        </p:nvSpPr>
        <p:spPr>
          <a:xfrm>
            <a:off x="3654419" y="101282"/>
            <a:ext cx="8135769" cy="690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400" b="1" i="1" dirty="0">
                <a:latin typeface="HelveticaNeueLT Std Med Cn" panose="020B0506030502030204"/>
              </a:rPr>
              <a:t>RELACIÓN ENTRE ÉTICA, MORAL Y                           MARCO LEGAL PARA INGENIEROS</a:t>
            </a:r>
            <a:endParaRPr lang="es-CO" sz="2400" b="1" i="1" dirty="0">
              <a:latin typeface="HelveticaNeueLT Std Med Cn" panose="020B0506030502030204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893B489-3101-4294-B155-49A11BCCEF39}"/>
              </a:ext>
            </a:extLst>
          </p:cNvPr>
          <p:cNvSpPr txBox="1"/>
          <p:nvPr/>
        </p:nvSpPr>
        <p:spPr>
          <a:xfrm>
            <a:off x="619279" y="1055982"/>
            <a:ext cx="6983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i="1" u="sng" dirty="0">
                <a:latin typeface="HelveticaNeueLT Std Med Cn" panose="020B0506030502030204"/>
              </a:rPr>
              <a:t>Otros principios</a:t>
            </a:r>
            <a:r>
              <a:rPr lang="es-MX" b="1" i="1" dirty="0">
                <a:latin typeface="HelveticaNeueLT Std Med Cn" panose="020B0506030502030204"/>
              </a:rPr>
              <a:t>:</a:t>
            </a:r>
            <a:endParaRPr lang="es-CO" b="1" i="1" dirty="0">
              <a:latin typeface="HelveticaNeueLT Std Med Cn" panose="020B0506030502030204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AB57111-6E30-44A4-B60D-DA85F0510513}"/>
              </a:ext>
            </a:extLst>
          </p:cNvPr>
          <p:cNvSpPr txBox="1"/>
          <p:nvPr/>
        </p:nvSpPr>
        <p:spPr>
          <a:xfrm>
            <a:off x="675322" y="1595520"/>
            <a:ext cx="10841355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s-ES" sz="1800" dirty="0">
                <a:effectLst/>
                <a:latin typeface="HelveticaNeueLT Std Med Cn" panose="020B0506030502030204"/>
                <a:ea typeface="Arial MT"/>
                <a:cs typeface="Arial MT"/>
              </a:rPr>
              <a:t>Reglas a seguir en la recolección, manejo, uso, tratamiento,</a:t>
            </a:r>
            <a:r>
              <a:rPr lang="es-ES" sz="1800" spc="5" dirty="0">
                <a:effectLst/>
                <a:latin typeface="HelveticaNeueLT Std Med Cn" panose="020B0506030502030204"/>
                <a:ea typeface="Arial MT"/>
                <a:cs typeface="Arial MT"/>
              </a:rPr>
              <a:t> </a:t>
            </a:r>
            <a:r>
              <a:rPr lang="es-ES" sz="1800" dirty="0">
                <a:effectLst/>
                <a:latin typeface="HelveticaNeueLT Std Med Cn" panose="020B0506030502030204"/>
                <a:ea typeface="Arial MT"/>
                <a:cs typeface="Arial MT"/>
              </a:rPr>
              <a:t>almacenamiento</a:t>
            </a:r>
            <a:r>
              <a:rPr lang="es-ES" sz="1800" spc="-10" dirty="0">
                <a:effectLst/>
                <a:latin typeface="HelveticaNeueLT Std Med Cn" panose="020B0506030502030204"/>
                <a:ea typeface="Arial MT"/>
                <a:cs typeface="Arial MT"/>
              </a:rPr>
              <a:t> </a:t>
            </a:r>
            <a:r>
              <a:rPr lang="es-ES" sz="1800" dirty="0">
                <a:effectLst/>
                <a:latin typeface="HelveticaNeueLT Std Med Cn" panose="020B0506030502030204"/>
                <a:ea typeface="Arial MT"/>
                <a:cs typeface="Arial MT"/>
              </a:rPr>
              <a:t>e intercambio,</a:t>
            </a:r>
            <a:r>
              <a:rPr lang="es-ES" sz="1800" spc="-5" dirty="0">
                <a:effectLst/>
                <a:latin typeface="HelveticaNeueLT Std Med Cn" panose="020B0506030502030204"/>
                <a:ea typeface="Arial MT"/>
                <a:cs typeface="Arial MT"/>
              </a:rPr>
              <a:t> </a:t>
            </a:r>
            <a:r>
              <a:rPr lang="es-ES" sz="1800" b="1" i="1" dirty="0">
                <a:effectLst/>
                <a:latin typeface="HelveticaNeueLT Std Med Cn" panose="020B0506030502030204"/>
                <a:ea typeface="Arial MT"/>
                <a:cs typeface="Arial MT"/>
              </a:rPr>
              <a:t>de</a:t>
            </a:r>
            <a:r>
              <a:rPr lang="es-ES" sz="1800" b="1" i="1" spc="-10" dirty="0">
                <a:effectLst/>
                <a:latin typeface="HelveticaNeueLT Std Med Cn" panose="020B0506030502030204"/>
                <a:ea typeface="Arial MT"/>
                <a:cs typeface="Arial MT"/>
              </a:rPr>
              <a:t> </a:t>
            </a:r>
            <a:r>
              <a:rPr lang="es-ES" sz="1800" b="1" i="1" dirty="0">
                <a:effectLst/>
                <a:latin typeface="HelveticaNeueLT Std Med Cn" panose="020B0506030502030204"/>
                <a:ea typeface="Arial MT"/>
                <a:cs typeface="Arial MT"/>
              </a:rPr>
              <a:t>datos</a:t>
            </a:r>
            <a:r>
              <a:rPr lang="es-ES" sz="1800" b="1" i="1" spc="-10" dirty="0">
                <a:effectLst/>
                <a:latin typeface="HelveticaNeueLT Std Med Cn" panose="020B0506030502030204"/>
                <a:ea typeface="Arial MT"/>
                <a:cs typeface="Arial MT"/>
              </a:rPr>
              <a:t> </a:t>
            </a:r>
            <a:r>
              <a:rPr lang="es-ES" sz="1800" b="1" i="1" dirty="0">
                <a:effectLst/>
                <a:latin typeface="HelveticaNeueLT Std Med Cn" panose="020B0506030502030204"/>
                <a:ea typeface="Arial MT"/>
                <a:cs typeface="Arial MT"/>
              </a:rPr>
              <a:t>personales:</a:t>
            </a:r>
            <a:endParaRPr lang="es-CO" b="1" i="1" dirty="0">
              <a:latin typeface="HelveticaNeueLT Std Med Cn" panose="020B0506030502030204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5EC0A19-5B1E-4DD4-A7BD-4F4C05F9FD83}"/>
              </a:ext>
            </a:extLst>
          </p:cNvPr>
          <p:cNvSpPr txBox="1"/>
          <p:nvPr/>
        </p:nvSpPr>
        <p:spPr>
          <a:xfrm>
            <a:off x="675323" y="2540275"/>
            <a:ext cx="5755958" cy="3365024"/>
          </a:xfrm>
          <a:prstGeom prst="rect">
            <a:avLst/>
          </a:prstGeom>
          <a:solidFill>
            <a:srgbClr val="FFD966"/>
          </a:solidFill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effectLst/>
                <a:latin typeface="HelveticaNeueLT Std Med Cn" panose="020B0506030502030204"/>
                <a:ea typeface="Arial MT"/>
                <a:cs typeface="Arial MT"/>
              </a:rPr>
              <a:t>Principio de legalidad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latin typeface="HelveticaNeueLT Std Med Cn" panose="020B0506030502030204"/>
                <a:ea typeface="Arial MT"/>
                <a:cs typeface="Arial MT"/>
              </a:rPr>
              <a:t>Principio de libertad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latin typeface="HelveticaNeueLT Std Med Cn" panose="020B0506030502030204"/>
                <a:ea typeface="Arial MT"/>
                <a:cs typeface="Arial MT"/>
              </a:rPr>
              <a:t>Principio de finalidad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dirty="0">
                <a:effectLst/>
                <a:latin typeface="HelveticaNeueLT Std Med Cn" panose="020B0506030502030204"/>
                <a:ea typeface="Arial MT"/>
                <a:cs typeface="Arial MT"/>
              </a:rPr>
              <a:t>Principio de veracidad o calidad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dirty="0">
                <a:latin typeface="HelveticaNeueLT Std Med Cn" panose="020B0506030502030204"/>
                <a:ea typeface="Arial MT"/>
                <a:cs typeface="Arial MT"/>
              </a:rPr>
              <a:t>Principio de transparencia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dirty="0">
                <a:effectLst/>
                <a:latin typeface="HelveticaNeueLT Std Med Cn" panose="020B0506030502030204"/>
                <a:ea typeface="Arial MT"/>
                <a:cs typeface="Arial MT"/>
              </a:rPr>
              <a:t>Principio de acceso y circulación restringida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dirty="0">
                <a:latin typeface="HelveticaNeueLT Std Med Cn" panose="020B0506030502030204"/>
                <a:ea typeface="Arial MT"/>
                <a:cs typeface="Arial MT"/>
              </a:rPr>
              <a:t>Principio de seguridad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dirty="0">
                <a:latin typeface="HelveticaNeueLT Std Med Cn" panose="020B0506030502030204"/>
                <a:ea typeface="Arial MT"/>
                <a:cs typeface="Arial MT"/>
              </a:rPr>
              <a:t>Principio  de confidencialidad</a:t>
            </a:r>
          </a:p>
        </p:txBody>
      </p:sp>
      <p:pic>
        <p:nvPicPr>
          <p:cNvPr id="7" name="image1.jpeg">
            <a:extLst>
              <a:ext uri="{FF2B5EF4-FFF2-40B4-BE49-F238E27FC236}">
                <a16:creationId xmlns:a16="http://schemas.microsoft.com/office/drawing/2014/main" id="{9167ABCA-D8F0-4559-A0D5-F73BD263F72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8363" y="3211033"/>
            <a:ext cx="3593804" cy="166931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F6DD87B-FDFD-43EF-ACEF-84F0A8184135}"/>
              </a:ext>
            </a:extLst>
          </p:cNvPr>
          <p:cNvSpPr txBox="1"/>
          <p:nvPr/>
        </p:nvSpPr>
        <p:spPr>
          <a:xfrm>
            <a:off x="7722301" y="4988560"/>
            <a:ext cx="34631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/>
              <a:t>https://acis.org.co/archivos/Doc/PBDA.pdf</a:t>
            </a:r>
          </a:p>
        </p:txBody>
      </p:sp>
    </p:spTree>
    <p:extLst>
      <p:ext uri="{BB962C8B-B14F-4D97-AF65-F5344CB8AC3E}">
        <p14:creationId xmlns:p14="http://schemas.microsoft.com/office/powerpoint/2010/main" val="42467722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57570</TotalTime>
  <Words>853</Words>
  <Application>Microsoft Office PowerPoint</Application>
  <PresentationFormat>Panorámica</PresentationFormat>
  <Paragraphs>76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HelveticaNeueLT Std Med Cn</vt:lpstr>
      <vt:lpstr>Roboto</vt:lpstr>
      <vt:lpstr>Tema de Office</vt:lpstr>
      <vt:lpstr>Presentación de PowerPoint</vt:lpstr>
      <vt:lpstr>RELACIÓN ENTRE ÉTICA, MORAL Y                           MARCO LEGAL   PARA INGENIEROS</vt:lpstr>
      <vt:lpstr>RELACIÓN ENTRE ÉTICA, MORAL Y                           MARCO LEGAL PARA INGENIEROS</vt:lpstr>
      <vt:lpstr>RELACIÓN ENTRE ÉTICA, MORAL Y                           MARCO LEGAL PARA INGENIEROS</vt:lpstr>
      <vt:lpstr>RELACIÓN ENTRE ÉTICA, MORAL Y                           MARCO LEGAL PARA INGENIEROS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Claudia Patricia González Quintero</cp:lastModifiedBy>
  <cp:revision>389</cp:revision>
  <dcterms:created xsi:type="dcterms:W3CDTF">2023-05-09T21:26:04Z</dcterms:created>
  <dcterms:modified xsi:type="dcterms:W3CDTF">2026-03-18T19:13:06Z</dcterms:modified>
</cp:coreProperties>
</file>