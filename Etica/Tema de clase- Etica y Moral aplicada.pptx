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337" r:id="rId3"/>
    <p:sldId id="330" r:id="rId4"/>
    <p:sldId id="324" r:id="rId5"/>
    <p:sldId id="325" r:id="rId6"/>
    <p:sldId id="338" r:id="rId7"/>
    <p:sldId id="339" r:id="rId8"/>
    <p:sldId id="334" r:id="rId9"/>
    <p:sldId id="323" r:id="rId10"/>
    <p:sldId id="258" r:id="rId1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D0D"/>
    <a:srgbClr val="FFFFFF"/>
    <a:srgbClr val="EBF4D6"/>
    <a:srgbClr val="CCE8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595" autoAdjust="0"/>
    <p:restoredTop sz="96327"/>
  </p:normalViewPr>
  <p:slideViewPr>
    <p:cSldViewPr snapToGrid="0">
      <p:cViewPr varScale="1">
        <p:scale>
          <a:sx n="72" d="100"/>
          <a:sy n="72" d="100"/>
        </p:scale>
        <p:origin x="840"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A4FFB0-4074-414F-8957-1959D8192627}" type="datetimeFigureOut">
              <a:rPr lang="es-419" smtClean="0"/>
              <a:t>13/4/2026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4907C6-DFD7-4857-B88D-DD08EA308EE1}" type="slidenum">
              <a:rPr lang="es-419" smtClean="0"/>
              <a:t>‹Nº›</a:t>
            </a:fld>
            <a:endParaRPr lang="es-419"/>
          </a:p>
        </p:txBody>
      </p:sp>
    </p:spTree>
    <p:extLst>
      <p:ext uri="{BB962C8B-B14F-4D97-AF65-F5344CB8AC3E}">
        <p14:creationId xmlns:p14="http://schemas.microsoft.com/office/powerpoint/2010/main" val="545703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DFB84C-F124-B067-CC02-02EFD86CD803}"/>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36C2CE21-B44F-99EC-3A84-DEB42BC5F7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FB13718B-24BB-3CE9-EA7E-96928CDCC3FB}"/>
              </a:ext>
            </a:extLst>
          </p:cNvPr>
          <p:cNvSpPr>
            <a:spLocks noGrp="1"/>
          </p:cNvSpPr>
          <p:nvPr>
            <p:ph type="dt" sz="half" idx="10"/>
          </p:nvPr>
        </p:nvSpPr>
        <p:spPr/>
        <p:txBody>
          <a:bodyPr/>
          <a:lstStyle/>
          <a:p>
            <a:fld id="{FCEE699F-06B2-6046-AE77-4163F561B680}" type="datetimeFigureOut">
              <a:rPr lang="es-CO" smtClean="0"/>
              <a:t>13/04/2026</a:t>
            </a:fld>
            <a:endParaRPr lang="es-CO"/>
          </a:p>
        </p:txBody>
      </p:sp>
      <p:sp>
        <p:nvSpPr>
          <p:cNvPr id="5" name="Marcador de pie de página 4">
            <a:extLst>
              <a:ext uri="{FF2B5EF4-FFF2-40B4-BE49-F238E27FC236}">
                <a16:creationId xmlns:a16="http://schemas.microsoft.com/office/drawing/2014/main" id="{47B50FB9-F2ED-4D22-01F0-3905BEFEC6F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0267F4F-E2C0-C82D-2185-A2CDE5BB76B3}"/>
              </a:ext>
            </a:extLst>
          </p:cNvPr>
          <p:cNvSpPr>
            <a:spLocks noGrp="1"/>
          </p:cNvSpPr>
          <p:nvPr>
            <p:ph type="sldNum" sz="quarter" idx="12"/>
          </p:nvPr>
        </p:nvSpPr>
        <p:spPr/>
        <p:txBody>
          <a:bodyPr/>
          <a:lstStyle/>
          <a:p>
            <a:fld id="{C5B5B1DE-5DA8-E14A-870A-1F70A3200BD5}" type="slidenum">
              <a:rPr lang="es-CO" smtClean="0"/>
              <a:t>‹Nº›</a:t>
            </a:fld>
            <a:endParaRPr lang="es-CO"/>
          </a:p>
        </p:txBody>
      </p:sp>
    </p:spTree>
    <p:extLst>
      <p:ext uri="{BB962C8B-B14F-4D97-AF65-F5344CB8AC3E}">
        <p14:creationId xmlns:p14="http://schemas.microsoft.com/office/powerpoint/2010/main" val="2502303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5E370-342B-D425-9718-7D029C377449}"/>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4443EAA4-DFFA-B9B3-6C3A-24792C197B28}"/>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A9AB4925-4037-296B-3AF0-B2FB68860F89}"/>
              </a:ext>
            </a:extLst>
          </p:cNvPr>
          <p:cNvSpPr>
            <a:spLocks noGrp="1"/>
          </p:cNvSpPr>
          <p:nvPr>
            <p:ph type="dt" sz="half" idx="10"/>
          </p:nvPr>
        </p:nvSpPr>
        <p:spPr/>
        <p:txBody>
          <a:bodyPr/>
          <a:lstStyle/>
          <a:p>
            <a:fld id="{FCEE699F-06B2-6046-AE77-4163F561B680}" type="datetimeFigureOut">
              <a:rPr lang="es-CO" smtClean="0"/>
              <a:t>13/04/2026</a:t>
            </a:fld>
            <a:endParaRPr lang="es-CO"/>
          </a:p>
        </p:txBody>
      </p:sp>
      <p:sp>
        <p:nvSpPr>
          <p:cNvPr id="5" name="Marcador de pie de página 4">
            <a:extLst>
              <a:ext uri="{FF2B5EF4-FFF2-40B4-BE49-F238E27FC236}">
                <a16:creationId xmlns:a16="http://schemas.microsoft.com/office/drawing/2014/main" id="{364080CF-9A9C-6299-6223-90051C1A823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637EFA0-3E58-DD13-4E04-0790A0CEDD65}"/>
              </a:ext>
            </a:extLst>
          </p:cNvPr>
          <p:cNvSpPr>
            <a:spLocks noGrp="1"/>
          </p:cNvSpPr>
          <p:nvPr>
            <p:ph type="sldNum" sz="quarter" idx="12"/>
          </p:nvPr>
        </p:nvSpPr>
        <p:spPr/>
        <p:txBody>
          <a:bodyPr/>
          <a:lstStyle/>
          <a:p>
            <a:fld id="{C5B5B1DE-5DA8-E14A-870A-1F70A3200BD5}" type="slidenum">
              <a:rPr lang="es-CO" smtClean="0"/>
              <a:t>‹Nº›</a:t>
            </a:fld>
            <a:endParaRPr lang="es-CO"/>
          </a:p>
        </p:txBody>
      </p:sp>
    </p:spTree>
    <p:extLst>
      <p:ext uri="{BB962C8B-B14F-4D97-AF65-F5344CB8AC3E}">
        <p14:creationId xmlns:p14="http://schemas.microsoft.com/office/powerpoint/2010/main" val="1096493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04BE2F-7A59-B82F-EA4A-B3630C57DC0C}"/>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7C87524A-78EB-707E-B49E-F3D16086F4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04C9BA44-2ED2-8FAB-197E-CC2D70FF559D}"/>
              </a:ext>
            </a:extLst>
          </p:cNvPr>
          <p:cNvSpPr>
            <a:spLocks noGrp="1"/>
          </p:cNvSpPr>
          <p:nvPr>
            <p:ph type="dt" sz="half" idx="10"/>
          </p:nvPr>
        </p:nvSpPr>
        <p:spPr/>
        <p:txBody>
          <a:bodyPr/>
          <a:lstStyle/>
          <a:p>
            <a:fld id="{FCEE699F-06B2-6046-AE77-4163F561B680}" type="datetimeFigureOut">
              <a:rPr lang="es-CO" smtClean="0"/>
              <a:t>13/04/2026</a:t>
            </a:fld>
            <a:endParaRPr lang="es-CO"/>
          </a:p>
        </p:txBody>
      </p:sp>
      <p:sp>
        <p:nvSpPr>
          <p:cNvPr id="5" name="Marcador de pie de página 4">
            <a:extLst>
              <a:ext uri="{FF2B5EF4-FFF2-40B4-BE49-F238E27FC236}">
                <a16:creationId xmlns:a16="http://schemas.microsoft.com/office/drawing/2014/main" id="{CDB9ED5D-7FF5-EA1C-5A54-584159F46B9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777471C-16C8-F8AB-7F09-EB3856C0C4D7}"/>
              </a:ext>
            </a:extLst>
          </p:cNvPr>
          <p:cNvSpPr>
            <a:spLocks noGrp="1"/>
          </p:cNvSpPr>
          <p:nvPr>
            <p:ph type="sldNum" sz="quarter" idx="12"/>
          </p:nvPr>
        </p:nvSpPr>
        <p:spPr/>
        <p:txBody>
          <a:bodyPr/>
          <a:lstStyle/>
          <a:p>
            <a:fld id="{C5B5B1DE-5DA8-E14A-870A-1F70A3200BD5}" type="slidenum">
              <a:rPr lang="es-CO" smtClean="0"/>
              <a:t>‹Nº›</a:t>
            </a:fld>
            <a:endParaRPr lang="es-CO"/>
          </a:p>
        </p:txBody>
      </p:sp>
    </p:spTree>
    <p:extLst>
      <p:ext uri="{BB962C8B-B14F-4D97-AF65-F5344CB8AC3E}">
        <p14:creationId xmlns:p14="http://schemas.microsoft.com/office/powerpoint/2010/main" val="139816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51D8B4-B799-FA45-8079-EE8E724D07BC}"/>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67D7FFE1-B336-B464-8273-71CA76F44371}"/>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9943BF28-AEB8-773B-D1AD-BB24B43E8401}"/>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8344A84A-27B8-4AA2-E047-9728419AB39B}"/>
              </a:ext>
            </a:extLst>
          </p:cNvPr>
          <p:cNvSpPr>
            <a:spLocks noGrp="1"/>
          </p:cNvSpPr>
          <p:nvPr>
            <p:ph type="dt" sz="half" idx="10"/>
          </p:nvPr>
        </p:nvSpPr>
        <p:spPr/>
        <p:txBody>
          <a:bodyPr/>
          <a:lstStyle/>
          <a:p>
            <a:fld id="{FCEE699F-06B2-6046-AE77-4163F561B680}" type="datetimeFigureOut">
              <a:rPr lang="es-CO" smtClean="0"/>
              <a:t>13/04/2026</a:t>
            </a:fld>
            <a:endParaRPr lang="es-CO"/>
          </a:p>
        </p:txBody>
      </p:sp>
      <p:sp>
        <p:nvSpPr>
          <p:cNvPr id="6" name="Marcador de pie de página 5">
            <a:extLst>
              <a:ext uri="{FF2B5EF4-FFF2-40B4-BE49-F238E27FC236}">
                <a16:creationId xmlns:a16="http://schemas.microsoft.com/office/drawing/2014/main" id="{54EBAEBA-4471-37F2-B23D-5D4D0E96F23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EA2232C-3B8C-EEA2-0944-D64927E9E013}"/>
              </a:ext>
            </a:extLst>
          </p:cNvPr>
          <p:cNvSpPr>
            <a:spLocks noGrp="1"/>
          </p:cNvSpPr>
          <p:nvPr>
            <p:ph type="sldNum" sz="quarter" idx="12"/>
          </p:nvPr>
        </p:nvSpPr>
        <p:spPr/>
        <p:txBody>
          <a:bodyPr/>
          <a:lstStyle/>
          <a:p>
            <a:fld id="{C5B5B1DE-5DA8-E14A-870A-1F70A3200BD5}" type="slidenum">
              <a:rPr lang="es-CO" smtClean="0"/>
              <a:t>‹Nº›</a:t>
            </a:fld>
            <a:endParaRPr lang="es-CO"/>
          </a:p>
        </p:txBody>
      </p:sp>
    </p:spTree>
    <p:extLst>
      <p:ext uri="{BB962C8B-B14F-4D97-AF65-F5344CB8AC3E}">
        <p14:creationId xmlns:p14="http://schemas.microsoft.com/office/powerpoint/2010/main" val="1273714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861121-753F-1E05-5469-D9DC82439645}"/>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81C158E0-0FF9-AF9A-9D96-E72328BF47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C1521AB8-34DA-C65D-5763-2019969F1F1B}"/>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C34788A5-C267-B255-2C00-72716E5B1B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43F8224F-0A93-9096-C6F3-3241F9B2CA66}"/>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78326969-A514-7C12-93A6-BEE7C67A84B0}"/>
              </a:ext>
            </a:extLst>
          </p:cNvPr>
          <p:cNvSpPr>
            <a:spLocks noGrp="1"/>
          </p:cNvSpPr>
          <p:nvPr>
            <p:ph type="dt" sz="half" idx="10"/>
          </p:nvPr>
        </p:nvSpPr>
        <p:spPr/>
        <p:txBody>
          <a:bodyPr/>
          <a:lstStyle/>
          <a:p>
            <a:fld id="{FCEE699F-06B2-6046-AE77-4163F561B680}" type="datetimeFigureOut">
              <a:rPr lang="es-CO" smtClean="0"/>
              <a:t>13/04/2026</a:t>
            </a:fld>
            <a:endParaRPr lang="es-CO"/>
          </a:p>
        </p:txBody>
      </p:sp>
      <p:sp>
        <p:nvSpPr>
          <p:cNvPr id="8" name="Marcador de pie de página 7">
            <a:extLst>
              <a:ext uri="{FF2B5EF4-FFF2-40B4-BE49-F238E27FC236}">
                <a16:creationId xmlns:a16="http://schemas.microsoft.com/office/drawing/2014/main" id="{974F0BB1-5A7C-C9D8-05DC-CE6D643C2502}"/>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5AD55EFA-88BE-5D96-7ABC-C20EE61D1AF5}"/>
              </a:ext>
            </a:extLst>
          </p:cNvPr>
          <p:cNvSpPr>
            <a:spLocks noGrp="1"/>
          </p:cNvSpPr>
          <p:nvPr>
            <p:ph type="sldNum" sz="quarter" idx="12"/>
          </p:nvPr>
        </p:nvSpPr>
        <p:spPr/>
        <p:txBody>
          <a:bodyPr/>
          <a:lstStyle/>
          <a:p>
            <a:fld id="{C5B5B1DE-5DA8-E14A-870A-1F70A3200BD5}" type="slidenum">
              <a:rPr lang="es-CO" smtClean="0"/>
              <a:t>‹Nº›</a:t>
            </a:fld>
            <a:endParaRPr lang="es-CO"/>
          </a:p>
        </p:txBody>
      </p:sp>
    </p:spTree>
    <p:extLst>
      <p:ext uri="{BB962C8B-B14F-4D97-AF65-F5344CB8AC3E}">
        <p14:creationId xmlns:p14="http://schemas.microsoft.com/office/powerpoint/2010/main" val="341777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62060A-A4C3-3792-2A24-B6CC534A646F}"/>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8A6A3AAE-EE2E-7409-5B98-0A4DE562F1EB}"/>
              </a:ext>
            </a:extLst>
          </p:cNvPr>
          <p:cNvSpPr>
            <a:spLocks noGrp="1"/>
          </p:cNvSpPr>
          <p:nvPr>
            <p:ph type="dt" sz="half" idx="10"/>
          </p:nvPr>
        </p:nvSpPr>
        <p:spPr/>
        <p:txBody>
          <a:bodyPr/>
          <a:lstStyle/>
          <a:p>
            <a:fld id="{FCEE699F-06B2-6046-AE77-4163F561B680}" type="datetimeFigureOut">
              <a:rPr lang="es-CO" smtClean="0"/>
              <a:t>13/04/2026</a:t>
            </a:fld>
            <a:endParaRPr lang="es-CO"/>
          </a:p>
        </p:txBody>
      </p:sp>
      <p:sp>
        <p:nvSpPr>
          <p:cNvPr id="4" name="Marcador de pie de página 3">
            <a:extLst>
              <a:ext uri="{FF2B5EF4-FFF2-40B4-BE49-F238E27FC236}">
                <a16:creationId xmlns:a16="http://schemas.microsoft.com/office/drawing/2014/main" id="{9562DCAA-4826-6F47-7235-75F8DC88216D}"/>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C89CA385-E77B-FBBB-3112-021DFCDA4A37}"/>
              </a:ext>
            </a:extLst>
          </p:cNvPr>
          <p:cNvSpPr>
            <a:spLocks noGrp="1"/>
          </p:cNvSpPr>
          <p:nvPr>
            <p:ph type="sldNum" sz="quarter" idx="12"/>
          </p:nvPr>
        </p:nvSpPr>
        <p:spPr/>
        <p:txBody>
          <a:bodyPr/>
          <a:lstStyle/>
          <a:p>
            <a:fld id="{C5B5B1DE-5DA8-E14A-870A-1F70A3200BD5}" type="slidenum">
              <a:rPr lang="es-CO" smtClean="0"/>
              <a:t>‹Nº›</a:t>
            </a:fld>
            <a:endParaRPr lang="es-CO"/>
          </a:p>
        </p:txBody>
      </p:sp>
    </p:spTree>
    <p:extLst>
      <p:ext uri="{BB962C8B-B14F-4D97-AF65-F5344CB8AC3E}">
        <p14:creationId xmlns:p14="http://schemas.microsoft.com/office/powerpoint/2010/main" val="4033980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28ADB9F-391F-C414-DFDD-5ACFE71EF1D0}"/>
              </a:ext>
            </a:extLst>
          </p:cNvPr>
          <p:cNvSpPr>
            <a:spLocks noGrp="1"/>
          </p:cNvSpPr>
          <p:nvPr>
            <p:ph type="dt" sz="half" idx="10"/>
          </p:nvPr>
        </p:nvSpPr>
        <p:spPr/>
        <p:txBody>
          <a:bodyPr/>
          <a:lstStyle/>
          <a:p>
            <a:fld id="{FCEE699F-06B2-6046-AE77-4163F561B680}" type="datetimeFigureOut">
              <a:rPr lang="es-CO" smtClean="0"/>
              <a:t>13/04/2026</a:t>
            </a:fld>
            <a:endParaRPr lang="es-CO"/>
          </a:p>
        </p:txBody>
      </p:sp>
      <p:sp>
        <p:nvSpPr>
          <p:cNvPr id="3" name="Marcador de pie de página 2">
            <a:extLst>
              <a:ext uri="{FF2B5EF4-FFF2-40B4-BE49-F238E27FC236}">
                <a16:creationId xmlns:a16="http://schemas.microsoft.com/office/drawing/2014/main" id="{CAE45D6C-8017-4B03-F284-5356AAFA82C4}"/>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CCD7E9C-7E7C-A295-4F7B-4633004DCC61}"/>
              </a:ext>
            </a:extLst>
          </p:cNvPr>
          <p:cNvSpPr>
            <a:spLocks noGrp="1"/>
          </p:cNvSpPr>
          <p:nvPr>
            <p:ph type="sldNum" sz="quarter" idx="12"/>
          </p:nvPr>
        </p:nvSpPr>
        <p:spPr/>
        <p:txBody>
          <a:bodyPr/>
          <a:lstStyle/>
          <a:p>
            <a:fld id="{C5B5B1DE-5DA8-E14A-870A-1F70A3200BD5}" type="slidenum">
              <a:rPr lang="es-CO" smtClean="0"/>
              <a:t>‹Nº›</a:t>
            </a:fld>
            <a:endParaRPr lang="es-CO"/>
          </a:p>
        </p:txBody>
      </p:sp>
    </p:spTree>
    <p:extLst>
      <p:ext uri="{BB962C8B-B14F-4D97-AF65-F5344CB8AC3E}">
        <p14:creationId xmlns:p14="http://schemas.microsoft.com/office/powerpoint/2010/main" val="1728080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1D7835-0DDB-ABAB-97DC-2A27B951E93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F93907EA-EC0B-B679-406A-7DFE029AEA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410BDF6E-AC88-F6BA-E303-00414C7B02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595FC5FC-1582-7519-E925-3D3B874F299D}"/>
              </a:ext>
            </a:extLst>
          </p:cNvPr>
          <p:cNvSpPr>
            <a:spLocks noGrp="1"/>
          </p:cNvSpPr>
          <p:nvPr>
            <p:ph type="dt" sz="half" idx="10"/>
          </p:nvPr>
        </p:nvSpPr>
        <p:spPr/>
        <p:txBody>
          <a:bodyPr/>
          <a:lstStyle/>
          <a:p>
            <a:fld id="{FCEE699F-06B2-6046-AE77-4163F561B680}" type="datetimeFigureOut">
              <a:rPr lang="es-CO" smtClean="0"/>
              <a:t>13/04/2026</a:t>
            </a:fld>
            <a:endParaRPr lang="es-CO"/>
          </a:p>
        </p:txBody>
      </p:sp>
      <p:sp>
        <p:nvSpPr>
          <p:cNvPr id="6" name="Marcador de pie de página 5">
            <a:extLst>
              <a:ext uri="{FF2B5EF4-FFF2-40B4-BE49-F238E27FC236}">
                <a16:creationId xmlns:a16="http://schemas.microsoft.com/office/drawing/2014/main" id="{1A675DBC-65D8-B7B8-6AD5-844C55EB0FC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744DD2C-457F-771E-2E34-5764681D4C29}"/>
              </a:ext>
            </a:extLst>
          </p:cNvPr>
          <p:cNvSpPr>
            <a:spLocks noGrp="1"/>
          </p:cNvSpPr>
          <p:nvPr>
            <p:ph type="sldNum" sz="quarter" idx="12"/>
          </p:nvPr>
        </p:nvSpPr>
        <p:spPr/>
        <p:txBody>
          <a:bodyPr/>
          <a:lstStyle/>
          <a:p>
            <a:fld id="{C5B5B1DE-5DA8-E14A-870A-1F70A3200BD5}" type="slidenum">
              <a:rPr lang="es-CO" smtClean="0"/>
              <a:t>‹Nº›</a:t>
            </a:fld>
            <a:endParaRPr lang="es-CO"/>
          </a:p>
        </p:txBody>
      </p:sp>
    </p:spTree>
    <p:extLst>
      <p:ext uri="{BB962C8B-B14F-4D97-AF65-F5344CB8AC3E}">
        <p14:creationId xmlns:p14="http://schemas.microsoft.com/office/powerpoint/2010/main" val="1749632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C554E1-B0B2-E83A-C8AE-3C402F93C3D3}"/>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293D8327-C23B-FBB9-74CF-D55D33C99F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7F65A0F5-632E-413E-BCE8-BC90FF3826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FF1B6013-1999-CEE9-7077-39A3FE09ECD5}"/>
              </a:ext>
            </a:extLst>
          </p:cNvPr>
          <p:cNvSpPr>
            <a:spLocks noGrp="1"/>
          </p:cNvSpPr>
          <p:nvPr>
            <p:ph type="dt" sz="half" idx="10"/>
          </p:nvPr>
        </p:nvSpPr>
        <p:spPr/>
        <p:txBody>
          <a:bodyPr/>
          <a:lstStyle/>
          <a:p>
            <a:fld id="{FCEE699F-06B2-6046-AE77-4163F561B680}" type="datetimeFigureOut">
              <a:rPr lang="es-CO" smtClean="0"/>
              <a:t>13/04/2026</a:t>
            </a:fld>
            <a:endParaRPr lang="es-CO"/>
          </a:p>
        </p:txBody>
      </p:sp>
      <p:sp>
        <p:nvSpPr>
          <p:cNvPr id="6" name="Marcador de pie de página 5">
            <a:extLst>
              <a:ext uri="{FF2B5EF4-FFF2-40B4-BE49-F238E27FC236}">
                <a16:creationId xmlns:a16="http://schemas.microsoft.com/office/drawing/2014/main" id="{17B39E48-2E95-4921-7F82-AA60A0C9D64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1E000C6-56E5-04E3-8075-28CF2AE5A4F9}"/>
              </a:ext>
            </a:extLst>
          </p:cNvPr>
          <p:cNvSpPr>
            <a:spLocks noGrp="1"/>
          </p:cNvSpPr>
          <p:nvPr>
            <p:ph type="sldNum" sz="quarter" idx="12"/>
          </p:nvPr>
        </p:nvSpPr>
        <p:spPr/>
        <p:txBody>
          <a:bodyPr/>
          <a:lstStyle/>
          <a:p>
            <a:fld id="{C5B5B1DE-5DA8-E14A-870A-1F70A3200BD5}" type="slidenum">
              <a:rPr lang="es-CO" smtClean="0"/>
              <a:t>‹Nº›</a:t>
            </a:fld>
            <a:endParaRPr lang="es-CO"/>
          </a:p>
        </p:txBody>
      </p:sp>
    </p:spTree>
    <p:extLst>
      <p:ext uri="{BB962C8B-B14F-4D97-AF65-F5344CB8AC3E}">
        <p14:creationId xmlns:p14="http://schemas.microsoft.com/office/powerpoint/2010/main" val="3356237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AC01CA-E316-4DD1-5A0E-38BC9D660D8B}"/>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DD1AB25F-AF11-FEE2-54B8-BB820F9E439F}"/>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113DA78E-0036-EF64-6561-40849C2567A7}"/>
              </a:ext>
            </a:extLst>
          </p:cNvPr>
          <p:cNvSpPr>
            <a:spLocks noGrp="1"/>
          </p:cNvSpPr>
          <p:nvPr>
            <p:ph type="dt" sz="half" idx="10"/>
          </p:nvPr>
        </p:nvSpPr>
        <p:spPr/>
        <p:txBody>
          <a:bodyPr/>
          <a:lstStyle/>
          <a:p>
            <a:fld id="{FCEE699F-06B2-6046-AE77-4163F561B680}" type="datetimeFigureOut">
              <a:rPr lang="es-CO" smtClean="0"/>
              <a:t>13/04/2026</a:t>
            </a:fld>
            <a:endParaRPr lang="es-CO"/>
          </a:p>
        </p:txBody>
      </p:sp>
      <p:sp>
        <p:nvSpPr>
          <p:cNvPr id="5" name="Marcador de pie de página 4">
            <a:extLst>
              <a:ext uri="{FF2B5EF4-FFF2-40B4-BE49-F238E27FC236}">
                <a16:creationId xmlns:a16="http://schemas.microsoft.com/office/drawing/2014/main" id="{0B6FDEFB-432E-7769-95C6-E883C07E3BE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5FA4402-3016-BB2F-D7FF-635F0268C945}"/>
              </a:ext>
            </a:extLst>
          </p:cNvPr>
          <p:cNvSpPr>
            <a:spLocks noGrp="1"/>
          </p:cNvSpPr>
          <p:nvPr>
            <p:ph type="sldNum" sz="quarter" idx="12"/>
          </p:nvPr>
        </p:nvSpPr>
        <p:spPr/>
        <p:txBody>
          <a:bodyPr/>
          <a:lstStyle/>
          <a:p>
            <a:fld id="{C5B5B1DE-5DA8-E14A-870A-1F70A3200BD5}" type="slidenum">
              <a:rPr lang="es-CO" smtClean="0"/>
              <a:t>‹Nº›</a:t>
            </a:fld>
            <a:endParaRPr lang="es-CO"/>
          </a:p>
        </p:txBody>
      </p:sp>
    </p:spTree>
    <p:extLst>
      <p:ext uri="{BB962C8B-B14F-4D97-AF65-F5344CB8AC3E}">
        <p14:creationId xmlns:p14="http://schemas.microsoft.com/office/powerpoint/2010/main" val="721312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AB7C609-EF1C-B251-C959-8A4D0A7649FA}"/>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0E83CD8D-C8F0-B03F-6181-03CE1B80660A}"/>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4138B562-E843-643C-1C19-7502D83714AD}"/>
              </a:ext>
            </a:extLst>
          </p:cNvPr>
          <p:cNvSpPr>
            <a:spLocks noGrp="1"/>
          </p:cNvSpPr>
          <p:nvPr>
            <p:ph type="dt" sz="half" idx="10"/>
          </p:nvPr>
        </p:nvSpPr>
        <p:spPr/>
        <p:txBody>
          <a:bodyPr/>
          <a:lstStyle/>
          <a:p>
            <a:fld id="{FCEE699F-06B2-6046-AE77-4163F561B680}" type="datetimeFigureOut">
              <a:rPr lang="es-CO" smtClean="0"/>
              <a:t>13/04/2026</a:t>
            </a:fld>
            <a:endParaRPr lang="es-CO"/>
          </a:p>
        </p:txBody>
      </p:sp>
      <p:sp>
        <p:nvSpPr>
          <p:cNvPr id="5" name="Marcador de pie de página 4">
            <a:extLst>
              <a:ext uri="{FF2B5EF4-FFF2-40B4-BE49-F238E27FC236}">
                <a16:creationId xmlns:a16="http://schemas.microsoft.com/office/drawing/2014/main" id="{56B05F38-78D0-F442-D4DA-D734C732C4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0895E85-C381-8CD4-C94D-7C80C8900E84}"/>
              </a:ext>
            </a:extLst>
          </p:cNvPr>
          <p:cNvSpPr>
            <a:spLocks noGrp="1"/>
          </p:cNvSpPr>
          <p:nvPr>
            <p:ph type="sldNum" sz="quarter" idx="12"/>
          </p:nvPr>
        </p:nvSpPr>
        <p:spPr/>
        <p:txBody>
          <a:bodyPr/>
          <a:lstStyle/>
          <a:p>
            <a:fld id="{C5B5B1DE-5DA8-E14A-870A-1F70A3200BD5}" type="slidenum">
              <a:rPr lang="es-CO" smtClean="0"/>
              <a:t>‹Nº›</a:t>
            </a:fld>
            <a:endParaRPr lang="es-CO"/>
          </a:p>
        </p:txBody>
      </p:sp>
    </p:spTree>
    <p:extLst>
      <p:ext uri="{BB962C8B-B14F-4D97-AF65-F5344CB8AC3E}">
        <p14:creationId xmlns:p14="http://schemas.microsoft.com/office/powerpoint/2010/main" val="2415535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C073353-CBAF-BB37-4E4E-A37A31AB7F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CABD6F64-C9D9-2FC0-DD1F-C08FE70370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9F84228A-7FCA-5544-99D1-A02F4F0DA7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EE699F-06B2-6046-AE77-4163F561B680}" type="datetimeFigureOut">
              <a:rPr lang="es-CO" smtClean="0"/>
              <a:t>13/04/2026</a:t>
            </a:fld>
            <a:endParaRPr lang="es-CO"/>
          </a:p>
        </p:txBody>
      </p:sp>
      <p:sp>
        <p:nvSpPr>
          <p:cNvPr id="5" name="Marcador de pie de página 4">
            <a:extLst>
              <a:ext uri="{FF2B5EF4-FFF2-40B4-BE49-F238E27FC236}">
                <a16:creationId xmlns:a16="http://schemas.microsoft.com/office/drawing/2014/main" id="{0EC1EFC6-029A-5272-B332-0CD5E86134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0C2BB21E-D42C-EE45-8B13-60297C8EFA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B5B1DE-5DA8-E14A-870A-1F70A3200BD5}" type="slidenum">
              <a:rPr lang="es-CO" smtClean="0"/>
              <a:t>‹Nº›</a:t>
            </a:fld>
            <a:endParaRPr lang="es-CO"/>
          </a:p>
        </p:txBody>
      </p:sp>
    </p:spTree>
    <p:extLst>
      <p:ext uri="{BB962C8B-B14F-4D97-AF65-F5344CB8AC3E}">
        <p14:creationId xmlns:p14="http://schemas.microsoft.com/office/powerpoint/2010/main" val="874566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microsoft.com/office/2007/relationships/hdphoto" Target="../media/hdphoto3.wdp"/><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video" Target="https://www.youtube.com/embed/YCcsFHTIOls" TargetMode="Externa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 de texto 6">
            <a:extLst>
              <a:ext uri="{FF2B5EF4-FFF2-40B4-BE49-F238E27FC236}">
                <a16:creationId xmlns:a16="http://schemas.microsoft.com/office/drawing/2014/main" id="{74CA7B29-A1D9-7BFF-FA59-DB4A231E7B85}"/>
              </a:ext>
            </a:extLst>
          </p:cNvPr>
          <p:cNvSpPr txBox="1"/>
          <p:nvPr/>
        </p:nvSpPr>
        <p:spPr>
          <a:xfrm>
            <a:off x="3544988" y="3816968"/>
            <a:ext cx="7375057" cy="459740"/>
          </a:xfrm>
          <a:prstGeom prst="rect">
            <a:avLst/>
          </a:prstGeom>
          <a:noFill/>
          <a:ln>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s-ES" sz="2400" dirty="0">
                <a:solidFill>
                  <a:srgbClr val="595959"/>
                </a:solidFill>
                <a:latin typeface="Roboto" panose="02000000000000000000" pitchFamily="2" charset="0"/>
                <a:ea typeface="Roboto" panose="02000000000000000000" pitchFamily="2" charset="0"/>
                <a:cs typeface="Roboto" panose="02000000000000000000" pitchFamily="2" charset="0"/>
              </a:rPr>
              <a:t>Facultad de Ingeniería de Sistemas y Computación</a:t>
            </a:r>
          </a:p>
          <a:p>
            <a:pPr>
              <a:spcAft>
                <a:spcPts val="0"/>
              </a:spcAft>
            </a:pPr>
            <a:endParaRPr lang="es-ES" sz="1600" dirty="0">
              <a:solidFill>
                <a:srgbClr val="595959"/>
              </a:solidFill>
              <a:latin typeface="Roboto" panose="02000000000000000000" pitchFamily="2" charset="0"/>
              <a:ea typeface="Roboto" panose="02000000000000000000" pitchFamily="2" charset="0"/>
              <a:cs typeface="Roboto" panose="02000000000000000000" pitchFamily="2" charset="0"/>
            </a:endParaRPr>
          </a:p>
          <a:p>
            <a:pPr>
              <a:spcAft>
                <a:spcPts val="0"/>
              </a:spcAft>
            </a:pPr>
            <a:endParaRPr lang="es-CO" sz="1600" dirty="0">
              <a:effectLst/>
              <a:latin typeface="Roboto" panose="02000000000000000000" pitchFamily="2" charset="0"/>
              <a:ea typeface="Roboto" panose="02000000000000000000" pitchFamily="2" charset="0"/>
              <a:cs typeface="Roboto" panose="02000000000000000000" pitchFamily="2" charset="0"/>
            </a:endParaRPr>
          </a:p>
        </p:txBody>
      </p:sp>
      <p:sp>
        <p:nvSpPr>
          <p:cNvPr id="3" name="Cuadro de texto 1">
            <a:extLst>
              <a:ext uri="{FF2B5EF4-FFF2-40B4-BE49-F238E27FC236}">
                <a16:creationId xmlns:a16="http://schemas.microsoft.com/office/drawing/2014/main" id="{33D3B48A-871C-DE3F-6125-BA08BF57BBAD}"/>
              </a:ext>
            </a:extLst>
          </p:cNvPr>
          <p:cNvSpPr txBox="1"/>
          <p:nvPr/>
        </p:nvSpPr>
        <p:spPr>
          <a:xfrm>
            <a:off x="3544989" y="3199130"/>
            <a:ext cx="6248400" cy="459740"/>
          </a:xfrm>
          <a:prstGeom prst="rect">
            <a:avLst/>
          </a:prstGeom>
          <a:noFill/>
          <a:ln>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r>
              <a:rPr lang="es-ES" sz="3200" b="1" dirty="0">
                <a:solidFill>
                  <a:srgbClr val="595959"/>
                </a:solidFill>
                <a:effectLst/>
                <a:latin typeface="Roboto" panose="02000000000000000000" pitchFamily="2" charset="0"/>
                <a:ea typeface="Roboto" panose="02000000000000000000" pitchFamily="2" charset="0"/>
                <a:cs typeface="Roboto" panose="02000000000000000000" pitchFamily="2" charset="0"/>
              </a:rPr>
              <a:t>ÉTICA PROFESIONAL</a:t>
            </a:r>
            <a:endParaRPr lang="es-CO" sz="3200" b="1" dirty="0">
              <a:effectLst/>
              <a:latin typeface="Roboto" panose="02000000000000000000" pitchFamily="2" charset="0"/>
              <a:ea typeface="Roboto" panose="02000000000000000000" pitchFamily="2" charset="0"/>
              <a:cs typeface="Roboto" panose="02000000000000000000" pitchFamily="2" charset="0"/>
            </a:endParaRPr>
          </a:p>
        </p:txBody>
      </p:sp>
      <p:sp>
        <p:nvSpPr>
          <p:cNvPr id="4" name="2 Subtítulo">
            <a:extLst>
              <a:ext uri="{FF2B5EF4-FFF2-40B4-BE49-F238E27FC236}">
                <a16:creationId xmlns:a16="http://schemas.microsoft.com/office/drawing/2014/main" id="{8369E046-A563-D820-F34F-6CAB2CAA209A}"/>
              </a:ext>
            </a:extLst>
          </p:cNvPr>
          <p:cNvSpPr>
            <a:spLocks noGrp="1"/>
          </p:cNvSpPr>
          <p:nvPr>
            <p:ph type="subTitle" idx="1"/>
          </p:nvPr>
        </p:nvSpPr>
        <p:spPr>
          <a:xfrm>
            <a:off x="5794131" y="5372100"/>
            <a:ext cx="4791807" cy="1485900"/>
          </a:xfrm>
        </p:spPr>
        <p:txBody>
          <a:bodyPr>
            <a:normAutofit/>
          </a:bodyPr>
          <a:lstStyle/>
          <a:p>
            <a:r>
              <a:rPr lang="es-CO" dirty="0">
                <a:latin typeface="Candara" panose="020E0502030303020204" pitchFamily="34" charset="0"/>
              </a:rPr>
              <a:t>Claudia Patricia González Quintero</a:t>
            </a:r>
          </a:p>
          <a:p>
            <a:endParaRPr lang="es-CO" dirty="0">
              <a:latin typeface="Candara" panose="020E0502030303020204" pitchFamily="34" charset="0"/>
            </a:endParaRPr>
          </a:p>
        </p:txBody>
      </p:sp>
    </p:spTree>
    <p:extLst>
      <p:ext uri="{BB962C8B-B14F-4D97-AF65-F5344CB8AC3E}">
        <p14:creationId xmlns:p14="http://schemas.microsoft.com/office/powerpoint/2010/main" val="1822680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8"/>
          <p:cNvSpPr/>
          <p:nvPr/>
        </p:nvSpPr>
        <p:spPr>
          <a:xfrm>
            <a:off x="2368338" y="1993466"/>
            <a:ext cx="7450576" cy="2926877"/>
          </a:xfrm>
          <a:custGeom>
            <a:avLst/>
            <a:gdLst/>
            <a:ahLst/>
            <a:cxnLst/>
            <a:rect l="l" t="t" r="r" b="b"/>
            <a:pathLst>
              <a:path w="5761981" h="3823860">
                <a:moveTo>
                  <a:pt x="0" y="0"/>
                </a:moveTo>
                <a:lnTo>
                  <a:pt x="5761980" y="0"/>
                </a:lnTo>
                <a:lnTo>
                  <a:pt x="5761980" y="3823860"/>
                </a:lnTo>
                <a:lnTo>
                  <a:pt x="0" y="3823860"/>
                </a:lnTo>
                <a:lnTo>
                  <a:pt x="0" y="0"/>
                </a:lnTo>
                <a:close/>
              </a:path>
            </a:pathLst>
          </a:custGeom>
          <a:blipFill>
            <a:blip r:embed="rId2">
              <a:extLst>
                <a:ext uri="{BEBA8EAE-BF5A-486C-A8C5-ECC9F3942E4B}">
                  <a14:imgProps xmlns:a14="http://schemas.microsoft.com/office/drawing/2010/main">
                    <a14:imgLayer r:embed="rId3">
                      <a14:imgEffect>
                        <a14:brightnessContrast bright="40000"/>
                      </a14:imgEffect>
                    </a14:imgLayer>
                  </a14:imgProps>
                </a:ext>
              </a:extLst>
            </a:blip>
            <a:stretch>
              <a:fillRect/>
            </a:stretch>
          </a:blipFill>
        </p:spPr>
      </p:sp>
      <p:sp>
        <p:nvSpPr>
          <p:cNvPr id="15" name="TextBox 13"/>
          <p:cNvSpPr txBox="1"/>
          <p:nvPr/>
        </p:nvSpPr>
        <p:spPr>
          <a:xfrm>
            <a:off x="2609846" y="3025362"/>
            <a:ext cx="6447067" cy="746808"/>
          </a:xfrm>
          <a:prstGeom prst="rect">
            <a:avLst/>
          </a:prstGeom>
        </p:spPr>
        <p:txBody>
          <a:bodyPr wrap="square" lIns="0" tIns="0" rIns="0" bIns="0" rtlCol="0" anchor="t">
            <a:spAutoFit/>
          </a:bodyPr>
          <a:lstStyle/>
          <a:p>
            <a:pPr algn="ctr">
              <a:lnSpc>
                <a:spcPts val="3041"/>
              </a:lnSpc>
              <a:spcBef>
                <a:spcPct val="0"/>
              </a:spcBef>
            </a:pPr>
            <a:r>
              <a:rPr lang="es-MX" sz="2172" b="1" dirty="0">
                <a:solidFill>
                  <a:schemeClr val="bg1"/>
                </a:solidFill>
                <a:latin typeface="Halley"/>
                <a:ea typeface="Halley"/>
                <a:cs typeface="Halley"/>
                <a:sym typeface="Halley"/>
              </a:rPr>
              <a:t>¿Qué hace que ciertas acciones humanas sean moralmente correctas y otras moralmente incorrectas?</a:t>
            </a:r>
          </a:p>
        </p:txBody>
      </p:sp>
      <p:sp>
        <p:nvSpPr>
          <p:cNvPr id="5" name="CuadroTexto 4">
            <a:extLst>
              <a:ext uri="{FF2B5EF4-FFF2-40B4-BE49-F238E27FC236}">
                <a16:creationId xmlns:a16="http://schemas.microsoft.com/office/drawing/2014/main" id="{71D1936F-8DB0-B6B7-1C1F-81124BD66433}"/>
              </a:ext>
            </a:extLst>
          </p:cNvPr>
          <p:cNvSpPr txBox="1"/>
          <p:nvPr/>
        </p:nvSpPr>
        <p:spPr>
          <a:xfrm>
            <a:off x="4492488" y="28308"/>
            <a:ext cx="7699512" cy="830997"/>
          </a:xfrm>
          <a:prstGeom prst="rect">
            <a:avLst/>
          </a:prstGeom>
          <a:noFill/>
        </p:spPr>
        <p:txBody>
          <a:bodyPr wrap="square">
            <a:spAutoFit/>
          </a:bodyPr>
          <a:lstStyle/>
          <a:p>
            <a:r>
              <a:rPr lang="es-CO" sz="4800" b="1" i="1" dirty="0">
                <a:solidFill>
                  <a:schemeClr val="tx1">
                    <a:lumMod val="75000"/>
                    <a:lumOff val="25000"/>
                  </a:schemeClr>
                </a:solidFill>
                <a:latin typeface="HelveticaNeueLT Std Med Cn" panose="020B0506030502030204" pitchFamily="34" charset="77"/>
              </a:rPr>
              <a:t>ÉTICA EN LA INGENIERÍA</a:t>
            </a:r>
          </a:p>
        </p:txBody>
      </p:sp>
    </p:spTree>
    <p:extLst>
      <p:ext uri="{BB962C8B-B14F-4D97-AF65-F5344CB8AC3E}">
        <p14:creationId xmlns:p14="http://schemas.microsoft.com/office/powerpoint/2010/main" val="482514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3"/>
          <p:cNvSpPr/>
          <p:nvPr/>
        </p:nvSpPr>
        <p:spPr>
          <a:xfrm>
            <a:off x="94035" y="1051857"/>
            <a:ext cx="5335071" cy="1756658"/>
          </a:xfrm>
          <a:custGeom>
            <a:avLst/>
            <a:gdLst/>
            <a:ahLst/>
            <a:cxnLst/>
            <a:rect l="l" t="t" r="r" b="b"/>
            <a:pathLst>
              <a:path w="6229343" h="4134018">
                <a:moveTo>
                  <a:pt x="0" y="0"/>
                </a:moveTo>
                <a:lnTo>
                  <a:pt x="6229343" y="0"/>
                </a:lnTo>
                <a:lnTo>
                  <a:pt x="6229343" y="4134018"/>
                </a:lnTo>
                <a:lnTo>
                  <a:pt x="0" y="4134018"/>
                </a:lnTo>
                <a:lnTo>
                  <a:pt x="0" y="0"/>
                </a:ln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p:spPr>
      </p:sp>
      <p:sp>
        <p:nvSpPr>
          <p:cNvPr id="15" name="TextBox 13"/>
          <p:cNvSpPr txBox="1"/>
          <p:nvPr/>
        </p:nvSpPr>
        <p:spPr>
          <a:xfrm>
            <a:off x="563319" y="1508253"/>
            <a:ext cx="4417205" cy="1166345"/>
          </a:xfrm>
          <a:prstGeom prst="rect">
            <a:avLst/>
          </a:prstGeom>
        </p:spPr>
        <p:txBody>
          <a:bodyPr lIns="0" tIns="0" rIns="0" bIns="0" rtlCol="0" anchor="t">
            <a:spAutoFit/>
          </a:bodyPr>
          <a:lstStyle/>
          <a:p>
            <a:pPr algn="ctr">
              <a:lnSpc>
                <a:spcPts val="3041"/>
              </a:lnSpc>
              <a:spcBef>
                <a:spcPct val="0"/>
              </a:spcBef>
            </a:pPr>
            <a:r>
              <a:rPr lang="es-MX" sz="3200" b="1" dirty="0">
                <a:solidFill>
                  <a:schemeClr val="bg1"/>
                </a:solidFill>
                <a:latin typeface="Halley"/>
                <a:ea typeface="Halley"/>
                <a:cs typeface="Halley"/>
                <a:sym typeface="Halley"/>
              </a:rPr>
              <a:t>Para responder esta pregunta existen cuatro (4) teorías:</a:t>
            </a:r>
          </a:p>
        </p:txBody>
      </p:sp>
      <p:sp>
        <p:nvSpPr>
          <p:cNvPr id="19" name="Freeform 8"/>
          <p:cNvSpPr/>
          <p:nvPr/>
        </p:nvSpPr>
        <p:spPr>
          <a:xfrm>
            <a:off x="5429106" y="2002970"/>
            <a:ext cx="6662057" cy="3679373"/>
          </a:xfrm>
          <a:custGeom>
            <a:avLst/>
            <a:gdLst/>
            <a:ahLst/>
            <a:cxnLst/>
            <a:rect l="l" t="t" r="r" b="b"/>
            <a:pathLst>
              <a:path w="5761981" h="3823860">
                <a:moveTo>
                  <a:pt x="0" y="0"/>
                </a:moveTo>
                <a:lnTo>
                  <a:pt x="5761980" y="0"/>
                </a:lnTo>
                <a:lnTo>
                  <a:pt x="5761980" y="3823860"/>
                </a:lnTo>
                <a:lnTo>
                  <a:pt x="0" y="3823860"/>
                </a:lnTo>
                <a:lnTo>
                  <a:pt x="0" y="0"/>
                </a:lnTo>
                <a:close/>
              </a:path>
            </a:pathLst>
          </a:custGeom>
          <a: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a:blipFill>
        </p:spPr>
      </p:sp>
      <p:sp>
        <p:nvSpPr>
          <p:cNvPr id="20" name="TextBox 13"/>
          <p:cNvSpPr txBox="1"/>
          <p:nvPr/>
        </p:nvSpPr>
        <p:spPr>
          <a:xfrm>
            <a:off x="6173880" y="2640620"/>
            <a:ext cx="5016633" cy="2693045"/>
          </a:xfrm>
          <a:prstGeom prst="rect">
            <a:avLst/>
          </a:prstGeom>
        </p:spPr>
        <p:txBody>
          <a:bodyPr wrap="square" lIns="0" tIns="0" rIns="0" bIns="0" rtlCol="0" anchor="t">
            <a:spAutoFit/>
          </a:bodyPr>
          <a:lstStyle/>
          <a:p>
            <a:pPr algn="ctr">
              <a:lnSpc>
                <a:spcPts val="3041"/>
              </a:lnSpc>
              <a:spcBef>
                <a:spcPct val="0"/>
              </a:spcBef>
            </a:pPr>
            <a:r>
              <a:rPr lang="es-MX" sz="3200" dirty="0">
                <a:solidFill>
                  <a:schemeClr val="bg1"/>
                </a:solidFill>
                <a:latin typeface="Halley"/>
                <a:ea typeface="Halley"/>
                <a:cs typeface="Halley"/>
                <a:sym typeface="Halley"/>
              </a:rPr>
              <a:t>1</a:t>
            </a:r>
            <a:r>
              <a:rPr lang="es-MX" sz="3200" b="1" dirty="0">
                <a:solidFill>
                  <a:schemeClr val="bg1"/>
                </a:solidFill>
                <a:latin typeface="Halley"/>
                <a:ea typeface="Halley"/>
                <a:cs typeface="Halley"/>
                <a:sym typeface="Halley"/>
              </a:rPr>
              <a:t>. La ética utilitarista</a:t>
            </a:r>
            <a:r>
              <a:rPr lang="es-MX" sz="2172" b="1" dirty="0">
                <a:solidFill>
                  <a:schemeClr val="bg1"/>
                </a:solidFill>
                <a:latin typeface="Halley"/>
                <a:ea typeface="Halley"/>
                <a:cs typeface="Halley"/>
                <a:sym typeface="Halley"/>
              </a:rPr>
              <a:t>: Según esta teoría el valor moral de las acciones se mide por sus consecuencias calificables por la utilidad producida, definida ésta como el balance de los resultados buenos sobre los malos: nuestras acciones deben producir siempre la mayor utilidad. </a:t>
            </a:r>
          </a:p>
        </p:txBody>
      </p:sp>
      <p:sp>
        <p:nvSpPr>
          <p:cNvPr id="9" name="CuadroTexto 8">
            <a:extLst>
              <a:ext uri="{FF2B5EF4-FFF2-40B4-BE49-F238E27FC236}">
                <a16:creationId xmlns:a16="http://schemas.microsoft.com/office/drawing/2014/main" id="{71D1936F-8DB0-B6B7-1C1F-81124BD66433}"/>
              </a:ext>
            </a:extLst>
          </p:cNvPr>
          <p:cNvSpPr txBox="1"/>
          <p:nvPr/>
        </p:nvSpPr>
        <p:spPr>
          <a:xfrm>
            <a:off x="4492488" y="28308"/>
            <a:ext cx="7699512" cy="830997"/>
          </a:xfrm>
          <a:prstGeom prst="rect">
            <a:avLst/>
          </a:prstGeom>
          <a:noFill/>
        </p:spPr>
        <p:txBody>
          <a:bodyPr wrap="square">
            <a:spAutoFit/>
          </a:bodyPr>
          <a:lstStyle/>
          <a:p>
            <a:r>
              <a:rPr lang="es-CO" sz="4800" b="1" i="1" dirty="0">
                <a:solidFill>
                  <a:schemeClr val="tx1">
                    <a:lumMod val="75000"/>
                    <a:lumOff val="25000"/>
                  </a:schemeClr>
                </a:solidFill>
                <a:latin typeface="HelveticaNeueLT Std Med Cn" panose="020B0506030502030204" pitchFamily="34" charset="77"/>
              </a:rPr>
              <a:t>ÉTICA EN LA INGENIERÍA</a:t>
            </a:r>
          </a:p>
        </p:txBody>
      </p:sp>
    </p:spTree>
    <p:extLst>
      <p:ext uri="{BB962C8B-B14F-4D97-AF65-F5344CB8AC3E}">
        <p14:creationId xmlns:p14="http://schemas.microsoft.com/office/powerpoint/2010/main" val="497244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6617559" y="1090403"/>
            <a:ext cx="5138694" cy="2343598"/>
          </a:xfrm>
          <a:custGeom>
            <a:avLst/>
            <a:gdLst/>
            <a:ahLst/>
            <a:cxnLst/>
            <a:rect l="l" t="t" r="r" b="b"/>
            <a:pathLst>
              <a:path w="6229343" h="4134018">
                <a:moveTo>
                  <a:pt x="0" y="0"/>
                </a:moveTo>
                <a:lnTo>
                  <a:pt x="6229343" y="0"/>
                </a:lnTo>
                <a:lnTo>
                  <a:pt x="6229343" y="4134018"/>
                </a:lnTo>
                <a:lnTo>
                  <a:pt x="0" y="4134018"/>
                </a:lnTo>
                <a:lnTo>
                  <a:pt x="0" y="0"/>
                </a:ln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p:spPr>
      </p:sp>
      <p:sp>
        <p:nvSpPr>
          <p:cNvPr id="14" name="Freeform 3"/>
          <p:cNvSpPr/>
          <p:nvPr/>
        </p:nvSpPr>
        <p:spPr>
          <a:xfrm>
            <a:off x="412583" y="974854"/>
            <a:ext cx="6240218" cy="2728953"/>
          </a:xfrm>
          <a:custGeom>
            <a:avLst/>
            <a:gdLst/>
            <a:ahLst/>
            <a:cxnLst/>
            <a:rect l="l" t="t" r="r" b="b"/>
            <a:pathLst>
              <a:path w="13952614" h="9259462">
                <a:moveTo>
                  <a:pt x="0" y="0"/>
                </a:moveTo>
                <a:lnTo>
                  <a:pt x="13952614" y="0"/>
                </a:lnTo>
                <a:lnTo>
                  <a:pt x="13952614" y="9259462"/>
                </a:lnTo>
                <a:lnTo>
                  <a:pt x="0" y="9259462"/>
                </a:lnTo>
                <a:lnTo>
                  <a:pt x="0" y="0"/>
                </a:lnTo>
                <a:close/>
              </a:path>
            </a:pathLst>
          </a:custGeom>
          <a:blipFill>
            <a:blip r:embed="rId4">
              <a:extLst>
                <a:ext uri="{BEBA8EAE-BF5A-486C-A8C5-ECC9F3942E4B}">
                  <a14:imgProps xmlns:a14="http://schemas.microsoft.com/office/drawing/2010/main">
                    <a14:imgLayer r:embed="rId5">
                      <a14:imgEffect>
                        <a14:brightnessContrast contrast="20000"/>
                      </a14:imgEffect>
                    </a14:imgLayer>
                  </a14:imgProps>
                </a:ext>
              </a:extLst>
            </a:blip>
            <a:stretch>
              <a:fillRect/>
            </a:stretch>
          </a:blipFill>
        </p:spPr>
      </p:sp>
      <p:sp>
        <p:nvSpPr>
          <p:cNvPr id="15" name="TextBox 13"/>
          <p:cNvSpPr txBox="1"/>
          <p:nvPr/>
        </p:nvSpPr>
        <p:spPr>
          <a:xfrm>
            <a:off x="724356" y="1543797"/>
            <a:ext cx="5532458" cy="1900970"/>
          </a:xfrm>
          <a:prstGeom prst="rect">
            <a:avLst/>
          </a:prstGeom>
        </p:spPr>
        <p:txBody>
          <a:bodyPr wrap="square" lIns="0" tIns="0" rIns="0" bIns="0" rtlCol="0" anchor="t">
            <a:spAutoFit/>
          </a:bodyPr>
          <a:lstStyle/>
          <a:p>
            <a:pPr algn="ctr">
              <a:lnSpc>
                <a:spcPts val="3041"/>
              </a:lnSpc>
              <a:spcBef>
                <a:spcPct val="0"/>
              </a:spcBef>
            </a:pPr>
            <a:r>
              <a:rPr lang="es-MX" sz="3200" b="1" dirty="0">
                <a:solidFill>
                  <a:schemeClr val="bg1"/>
                </a:solidFill>
                <a:latin typeface="Halley"/>
                <a:ea typeface="Halley"/>
                <a:cs typeface="Halley"/>
                <a:sym typeface="Halley"/>
              </a:rPr>
              <a:t>2. La ética del deber: </a:t>
            </a:r>
            <a:r>
              <a:rPr lang="es-MX" sz="2172" b="1" dirty="0">
                <a:solidFill>
                  <a:schemeClr val="bg1"/>
                </a:solidFill>
                <a:latin typeface="Halley"/>
                <a:ea typeface="Halley"/>
                <a:cs typeface="Halley"/>
                <a:sym typeface="Halley"/>
              </a:rPr>
              <a:t>Esta teoría sostiene que hay acciones que deben realizarse, aunque al hacerlo no siempre se produzca la mayor utilidad, por ejemplo: ser justo, ser honesto.</a:t>
            </a:r>
          </a:p>
        </p:txBody>
      </p:sp>
      <p:sp>
        <p:nvSpPr>
          <p:cNvPr id="11" name="TextBox 13"/>
          <p:cNvSpPr txBox="1"/>
          <p:nvPr/>
        </p:nvSpPr>
        <p:spPr>
          <a:xfrm>
            <a:off x="6978303" y="1509143"/>
            <a:ext cx="4417205" cy="1506118"/>
          </a:xfrm>
          <a:prstGeom prst="rect">
            <a:avLst/>
          </a:prstGeom>
        </p:spPr>
        <p:txBody>
          <a:bodyPr lIns="0" tIns="0" rIns="0" bIns="0" rtlCol="0" anchor="t">
            <a:spAutoFit/>
          </a:bodyPr>
          <a:lstStyle/>
          <a:p>
            <a:pPr algn="ctr">
              <a:lnSpc>
                <a:spcPts val="3041"/>
              </a:lnSpc>
              <a:spcBef>
                <a:spcPct val="0"/>
              </a:spcBef>
            </a:pPr>
            <a:r>
              <a:rPr lang="es-MX" sz="3200" b="1" dirty="0">
                <a:solidFill>
                  <a:schemeClr val="bg1"/>
                </a:solidFill>
                <a:latin typeface="Halley"/>
                <a:ea typeface="Halley"/>
                <a:cs typeface="Halley"/>
                <a:sym typeface="Halley"/>
              </a:rPr>
              <a:t>3. La ética de los derechos: </a:t>
            </a:r>
            <a:r>
              <a:rPr lang="es-MX" sz="2172" b="1" dirty="0">
                <a:solidFill>
                  <a:schemeClr val="bg1"/>
                </a:solidFill>
                <a:latin typeface="Halley"/>
                <a:ea typeface="Halley"/>
                <a:cs typeface="Halley"/>
                <a:sym typeface="Halley"/>
              </a:rPr>
              <a:t>Según esta teoría una acción es moralmente correcta si no viola los derechos de otras personas. </a:t>
            </a:r>
          </a:p>
        </p:txBody>
      </p:sp>
      <p:sp>
        <p:nvSpPr>
          <p:cNvPr id="8" name="CuadroTexto 7">
            <a:extLst>
              <a:ext uri="{FF2B5EF4-FFF2-40B4-BE49-F238E27FC236}">
                <a16:creationId xmlns:a16="http://schemas.microsoft.com/office/drawing/2014/main" id="{71D1936F-8DB0-B6B7-1C1F-81124BD66433}"/>
              </a:ext>
            </a:extLst>
          </p:cNvPr>
          <p:cNvSpPr txBox="1"/>
          <p:nvPr/>
        </p:nvSpPr>
        <p:spPr>
          <a:xfrm>
            <a:off x="4439478" y="28308"/>
            <a:ext cx="7752521" cy="830997"/>
          </a:xfrm>
          <a:prstGeom prst="rect">
            <a:avLst/>
          </a:prstGeom>
          <a:noFill/>
        </p:spPr>
        <p:txBody>
          <a:bodyPr wrap="square">
            <a:spAutoFit/>
          </a:bodyPr>
          <a:lstStyle/>
          <a:p>
            <a:r>
              <a:rPr lang="es-CO" sz="4800" b="1" i="1" dirty="0">
                <a:solidFill>
                  <a:schemeClr val="tx1">
                    <a:lumMod val="75000"/>
                    <a:lumOff val="25000"/>
                  </a:schemeClr>
                </a:solidFill>
                <a:latin typeface="HelveticaNeueLT Std Med Cn" panose="020B0506030502030204" pitchFamily="34" charset="77"/>
              </a:rPr>
              <a:t>ÉTICA EN LA INGENIERA</a:t>
            </a:r>
          </a:p>
        </p:txBody>
      </p:sp>
      <p:sp>
        <p:nvSpPr>
          <p:cNvPr id="9" name="Freeform 9"/>
          <p:cNvSpPr/>
          <p:nvPr/>
        </p:nvSpPr>
        <p:spPr>
          <a:xfrm>
            <a:off x="3182334" y="3819356"/>
            <a:ext cx="7115552" cy="2582199"/>
          </a:xfrm>
          <a:custGeom>
            <a:avLst/>
            <a:gdLst/>
            <a:ahLst/>
            <a:cxnLst/>
            <a:rect l="l" t="t" r="r" b="b"/>
            <a:pathLst>
              <a:path w="5761981" h="3823860">
                <a:moveTo>
                  <a:pt x="0" y="0"/>
                </a:moveTo>
                <a:lnTo>
                  <a:pt x="5761981" y="0"/>
                </a:lnTo>
                <a:lnTo>
                  <a:pt x="5761981" y="3823860"/>
                </a:lnTo>
                <a:lnTo>
                  <a:pt x="0" y="382386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3"/>
          <p:cNvSpPr txBox="1"/>
          <p:nvPr/>
        </p:nvSpPr>
        <p:spPr>
          <a:xfrm>
            <a:off x="3851329" y="4193082"/>
            <a:ext cx="5532458" cy="1516249"/>
          </a:xfrm>
          <a:prstGeom prst="rect">
            <a:avLst/>
          </a:prstGeom>
        </p:spPr>
        <p:txBody>
          <a:bodyPr wrap="square" lIns="0" tIns="0" rIns="0" bIns="0" rtlCol="0" anchor="t">
            <a:spAutoFit/>
          </a:bodyPr>
          <a:lstStyle/>
          <a:p>
            <a:pPr algn="ctr">
              <a:lnSpc>
                <a:spcPts val="3041"/>
              </a:lnSpc>
              <a:spcBef>
                <a:spcPct val="0"/>
              </a:spcBef>
            </a:pPr>
            <a:r>
              <a:rPr lang="es-MX" sz="3200" b="1" dirty="0">
                <a:solidFill>
                  <a:schemeClr val="bg1"/>
                </a:solidFill>
                <a:latin typeface="Halley"/>
                <a:ea typeface="Halley"/>
                <a:cs typeface="Halley"/>
                <a:sym typeface="Halley"/>
              </a:rPr>
              <a:t>4. La ética de la virtud: </a:t>
            </a:r>
            <a:r>
              <a:rPr lang="es-MX" sz="2172" b="1" dirty="0">
                <a:solidFill>
                  <a:schemeClr val="bg1"/>
                </a:solidFill>
                <a:latin typeface="Halley"/>
                <a:ea typeface="Halley"/>
                <a:cs typeface="Halley"/>
                <a:sym typeface="Halley"/>
              </a:rPr>
              <a:t>Esta teoría considera correcta una acción si sustenta rasgos buenos del carácter (virtudes), y la considera incorrecta si manifiesta rasgos malos.</a:t>
            </a:r>
          </a:p>
        </p:txBody>
      </p:sp>
    </p:spTree>
    <p:extLst>
      <p:ext uri="{BB962C8B-B14F-4D97-AF65-F5344CB8AC3E}">
        <p14:creationId xmlns:p14="http://schemas.microsoft.com/office/powerpoint/2010/main" val="821506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9"/>
          <p:cNvSpPr/>
          <p:nvPr/>
        </p:nvSpPr>
        <p:spPr>
          <a:xfrm>
            <a:off x="2918173" y="1277205"/>
            <a:ext cx="8250570" cy="4622852"/>
          </a:xfrm>
          <a:custGeom>
            <a:avLst/>
            <a:gdLst/>
            <a:ahLst/>
            <a:cxnLst/>
            <a:rect l="l" t="t" r="r" b="b"/>
            <a:pathLst>
              <a:path w="5761981" h="3823860">
                <a:moveTo>
                  <a:pt x="0" y="0"/>
                </a:moveTo>
                <a:lnTo>
                  <a:pt x="5761981" y="0"/>
                </a:lnTo>
                <a:lnTo>
                  <a:pt x="5761981" y="3823860"/>
                </a:lnTo>
                <a:lnTo>
                  <a:pt x="0" y="38238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TextBox 13"/>
          <p:cNvSpPr txBox="1"/>
          <p:nvPr/>
        </p:nvSpPr>
        <p:spPr>
          <a:xfrm>
            <a:off x="3803374" y="1868558"/>
            <a:ext cx="6228522" cy="3062826"/>
          </a:xfrm>
          <a:prstGeom prst="rect">
            <a:avLst/>
          </a:prstGeom>
        </p:spPr>
        <p:txBody>
          <a:bodyPr wrap="square" lIns="0" tIns="0" rIns="0" bIns="0" rtlCol="0" anchor="t">
            <a:spAutoFit/>
          </a:bodyPr>
          <a:lstStyle/>
          <a:p>
            <a:pPr algn="just">
              <a:lnSpc>
                <a:spcPts val="3041"/>
              </a:lnSpc>
              <a:spcBef>
                <a:spcPct val="0"/>
              </a:spcBef>
            </a:pPr>
            <a:r>
              <a:rPr lang="es-MX" sz="2400" b="1" dirty="0">
                <a:solidFill>
                  <a:schemeClr val="bg1"/>
                </a:solidFill>
                <a:latin typeface="Halley"/>
                <a:ea typeface="Halley"/>
                <a:cs typeface="Halley"/>
                <a:sym typeface="Halley"/>
              </a:rPr>
              <a:t>El ingeniero debe realizar su trabajo profesional dentro de un marco ético más allá del utilitarismo, considerado éste como el mayor rendimiento capitalista de la inversión. La ingeniería es una actividad puesta de manera honrada al servicio de la sociedad, y es así como la finalidad del trabajo profesional es el bien común. </a:t>
            </a:r>
          </a:p>
        </p:txBody>
      </p:sp>
      <p:sp>
        <p:nvSpPr>
          <p:cNvPr id="8" name="CuadroTexto 7">
            <a:extLst>
              <a:ext uri="{FF2B5EF4-FFF2-40B4-BE49-F238E27FC236}">
                <a16:creationId xmlns:a16="http://schemas.microsoft.com/office/drawing/2014/main" id="{71D1936F-8DB0-B6B7-1C1F-81124BD66433}"/>
              </a:ext>
            </a:extLst>
          </p:cNvPr>
          <p:cNvSpPr txBox="1"/>
          <p:nvPr/>
        </p:nvSpPr>
        <p:spPr>
          <a:xfrm>
            <a:off x="4399722" y="132522"/>
            <a:ext cx="7792278" cy="830997"/>
          </a:xfrm>
          <a:prstGeom prst="rect">
            <a:avLst/>
          </a:prstGeom>
          <a:noFill/>
        </p:spPr>
        <p:txBody>
          <a:bodyPr wrap="square">
            <a:spAutoFit/>
          </a:bodyPr>
          <a:lstStyle/>
          <a:p>
            <a:r>
              <a:rPr lang="es-CO" sz="4800" b="1" i="1" dirty="0">
                <a:solidFill>
                  <a:schemeClr val="tx1">
                    <a:lumMod val="75000"/>
                    <a:lumOff val="25000"/>
                  </a:schemeClr>
                </a:solidFill>
                <a:latin typeface="HelveticaNeueLT Std Med Cn" panose="020B0506030502030204" pitchFamily="34" charset="77"/>
              </a:rPr>
              <a:t>ÉTICA EN LA INGENIERÍA</a:t>
            </a:r>
          </a:p>
        </p:txBody>
      </p:sp>
    </p:spTree>
    <p:extLst>
      <p:ext uri="{BB962C8B-B14F-4D97-AF65-F5344CB8AC3E}">
        <p14:creationId xmlns:p14="http://schemas.microsoft.com/office/powerpoint/2010/main" val="2566710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1371600" y="1175657"/>
            <a:ext cx="9927771" cy="4855028"/>
          </a:xfrm>
          <a:custGeom>
            <a:avLst/>
            <a:gdLst/>
            <a:ahLst/>
            <a:cxnLst/>
            <a:rect l="l" t="t" r="r" b="b"/>
            <a:pathLst>
              <a:path w="6229343" h="4134018">
                <a:moveTo>
                  <a:pt x="0" y="0"/>
                </a:moveTo>
                <a:lnTo>
                  <a:pt x="6229343" y="0"/>
                </a:lnTo>
                <a:lnTo>
                  <a:pt x="6229343" y="4134018"/>
                </a:lnTo>
                <a:lnTo>
                  <a:pt x="0" y="4134018"/>
                </a:lnTo>
                <a:lnTo>
                  <a:pt x="0" y="0"/>
                </a:ln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p:spPr>
      </p:sp>
      <p:sp>
        <p:nvSpPr>
          <p:cNvPr id="18" name="TextBox 13"/>
          <p:cNvSpPr txBox="1"/>
          <p:nvPr/>
        </p:nvSpPr>
        <p:spPr>
          <a:xfrm>
            <a:off x="2432648" y="2064288"/>
            <a:ext cx="7805673" cy="3447547"/>
          </a:xfrm>
          <a:prstGeom prst="rect">
            <a:avLst/>
          </a:prstGeom>
        </p:spPr>
        <p:txBody>
          <a:bodyPr wrap="square" lIns="0" tIns="0" rIns="0" bIns="0" rtlCol="0" anchor="t">
            <a:spAutoFit/>
          </a:bodyPr>
          <a:lstStyle/>
          <a:p>
            <a:pPr algn="just">
              <a:lnSpc>
                <a:spcPts val="3041"/>
              </a:lnSpc>
              <a:spcBef>
                <a:spcPct val="0"/>
              </a:spcBef>
            </a:pPr>
            <a:r>
              <a:rPr lang="es-MX" sz="2172" dirty="0">
                <a:solidFill>
                  <a:srgbClr val="000000"/>
                </a:solidFill>
                <a:latin typeface="Halley"/>
                <a:ea typeface="Halley"/>
                <a:cs typeface="Halley"/>
                <a:sym typeface="Halley"/>
              </a:rPr>
              <a:t> </a:t>
            </a:r>
            <a:r>
              <a:rPr lang="es-MX" sz="2400" b="1" dirty="0">
                <a:solidFill>
                  <a:schemeClr val="bg1"/>
                </a:solidFill>
                <a:latin typeface="Halley"/>
                <a:ea typeface="Halley"/>
                <a:cs typeface="Halley"/>
                <a:sym typeface="Halley"/>
              </a:rPr>
              <a:t>Uno de los más perturbadores dilemas éticos del profesional en ingeniería es participar, de manera imparcial (intachable, irreprochable, impecable, virtuosa), en procesos sociales y económicos imprescindibles para la realización de obras grandes de infraestructura,</a:t>
            </a:r>
            <a:r>
              <a:rPr lang="es-ES" sz="2400" b="1" dirty="0">
                <a:solidFill>
                  <a:schemeClr val="bg1"/>
                </a:solidFill>
                <a:latin typeface="Halley"/>
                <a:ea typeface="Halley"/>
                <a:cs typeface="Halley"/>
                <a:sym typeface="Halley"/>
              </a:rPr>
              <a:t> robustos desarrollos de software y hardware</a:t>
            </a:r>
            <a:r>
              <a:rPr lang="es-MX" sz="2400" b="1" dirty="0">
                <a:solidFill>
                  <a:schemeClr val="bg1"/>
                </a:solidFill>
                <a:latin typeface="Halley"/>
                <a:ea typeface="Halley"/>
                <a:cs typeface="Halley"/>
                <a:sym typeface="Halley"/>
              </a:rPr>
              <a:t> o de proyecciones empresariales; dinámicas que implican la realización de </a:t>
            </a:r>
            <a:r>
              <a:rPr lang="es-MX" sz="2400" b="1" u="sng" dirty="0">
                <a:solidFill>
                  <a:schemeClr val="bg1"/>
                </a:solidFill>
                <a:latin typeface="Halley"/>
                <a:ea typeface="Halley"/>
                <a:cs typeface="Halley"/>
                <a:sym typeface="Halley"/>
              </a:rPr>
              <a:t>procesos licitatorios y contractuales, </a:t>
            </a:r>
            <a:r>
              <a:rPr lang="es-MX" sz="2400" b="1" dirty="0">
                <a:solidFill>
                  <a:schemeClr val="bg1"/>
                </a:solidFill>
                <a:latin typeface="Halley"/>
                <a:ea typeface="Halley"/>
                <a:cs typeface="Halley"/>
                <a:sym typeface="Halley"/>
              </a:rPr>
              <a:t>sobre los que gravita el demonio de la corrupción.</a:t>
            </a:r>
          </a:p>
        </p:txBody>
      </p:sp>
      <p:sp>
        <p:nvSpPr>
          <p:cNvPr id="8" name="CuadroTexto 7">
            <a:extLst>
              <a:ext uri="{FF2B5EF4-FFF2-40B4-BE49-F238E27FC236}">
                <a16:creationId xmlns:a16="http://schemas.microsoft.com/office/drawing/2014/main" id="{71D1936F-8DB0-B6B7-1C1F-81124BD66433}"/>
              </a:ext>
            </a:extLst>
          </p:cNvPr>
          <p:cNvSpPr txBox="1"/>
          <p:nvPr/>
        </p:nvSpPr>
        <p:spPr>
          <a:xfrm>
            <a:off x="4412974" y="28308"/>
            <a:ext cx="7779025" cy="830997"/>
          </a:xfrm>
          <a:prstGeom prst="rect">
            <a:avLst/>
          </a:prstGeom>
          <a:noFill/>
        </p:spPr>
        <p:txBody>
          <a:bodyPr wrap="square">
            <a:spAutoFit/>
          </a:bodyPr>
          <a:lstStyle/>
          <a:p>
            <a:r>
              <a:rPr lang="es-CO" sz="4800" b="1" i="1" dirty="0">
                <a:solidFill>
                  <a:schemeClr val="tx1">
                    <a:lumMod val="75000"/>
                    <a:lumOff val="25000"/>
                  </a:schemeClr>
                </a:solidFill>
                <a:latin typeface="HelveticaNeueLT Std Med Cn" panose="020B0506030502030204" pitchFamily="34" charset="77"/>
              </a:rPr>
              <a:t>ÉTICA EN LA INGENIERIA</a:t>
            </a:r>
          </a:p>
        </p:txBody>
      </p:sp>
    </p:spTree>
    <p:extLst>
      <p:ext uri="{BB962C8B-B14F-4D97-AF65-F5344CB8AC3E}">
        <p14:creationId xmlns:p14="http://schemas.microsoft.com/office/powerpoint/2010/main" val="4071602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3"/>
          <p:cNvSpPr/>
          <p:nvPr/>
        </p:nvSpPr>
        <p:spPr>
          <a:xfrm>
            <a:off x="377339" y="1090403"/>
            <a:ext cx="12163003" cy="4896740"/>
          </a:xfrm>
          <a:custGeom>
            <a:avLst/>
            <a:gdLst/>
            <a:ahLst/>
            <a:cxnLst/>
            <a:rect l="l" t="t" r="r" b="b"/>
            <a:pathLst>
              <a:path w="13952614" h="9259462">
                <a:moveTo>
                  <a:pt x="0" y="0"/>
                </a:moveTo>
                <a:lnTo>
                  <a:pt x="13952614" y="0"/>
                </a:lnTo>
                <a:lnTo>
                  <a:pt x="13952614" y="9259462"/>
                </a:lnTo>
                <a:lnTo>
                  <a:pt x="0" y="9259462"/>
                </a:lnTo>
                <a:lnTo>
                  <a:pt x="0" y="0"/>
                </a:lnTo>
                <a:close/>
              </a:path>
            </a:pathLst>
          </a:custGeom>
          <a: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a:blipFill>
        </p:spPr>
      </p:sp>
      <p:sp>
        <p:nvSpPr>
          <p:cNvPr id="18" name="TextBox 13"/>
          <p:cNvSpPr txBox="1"/>
          <p:nvPr/>
        </p:nvSpPr>
        <p:spPr>
          <a:xfrm>
            <a:off x="1849865" y="1729830"/>
            <a:ext cx="8883449" cy="3824573"/>
          </a:xfrm>
          <a:prstGeom prst="rect">
            <a:avLst/>
          </a:prstGeom>
        </p:spPr>
        <p:txBody>
          <a:bodyPr wrap="square" lIns="0" tIns="0" rIns="0" bIns="0" rtlCol="0" anchor="t">
            <a:spAutoFit/>
          </a:bodyPr>
          <a:lstStyle/>
          <a:p>
            <a:pPr algn="just">
              <a:lnSpc>
                <a:spcPts val="3041"/>
              </a:lnSpc>
              <a:spcBef>
                <a:spcPct val="0"/>
              </a:spcBef>
            </a:pPr>
            <a:r>
              <a:rPr lang="es-MX" sz="2172" b="1" dirty="0">
                <a:solidFill>
                  <a:schemeClr val="bg1"/>
                </a:solidFill>
                <a:latin typeface="Halley"/>
                <a:ea typeface="Halley"/>
                <a:cs typeface="Halley"/>
                <a:sym typeface="Halley"/>
              </a:rPr>
              <a:t>Otro gran dilema ético del ingeniero se relaciona con su vinculación a actividades relacionadas con tendencias tecnológicas del futuro cercano. </a:t>
            </a:r>
          </a:p>
          <a:p>
            <a:pPr algn="just">
              <a:lnSpc>
                <a:spcPts val="3041"/>
              </a:lnSpc>
              <a:spcBef>
                <a:spcPct val="0"/>
              </a:spcBef>
            </a:pPr>
            <a:r>
              <a:rPr lang="es-MX" sz="2172" b="1" dirty="0">
                <a:solidFill>
                  <a:schemeClr val="bg1"/>
                </a:solidFill>
                <a:latin typeface="Halley"/>
                <a:ea typeface="Halley"/>
                <a:cs typeface="Halley"/>
                <a:sym typeface="Halley"/>
              </a:rPr>
              <a:t>Una de ellas, </a:t>
            </a:r>
            <a:r>
              <a:rPr lang="es-MX" sz="2172" b="1" u="sng" dirty="0">
                <a:solidFill>
                  <a:schemeClr val="bg1"/>
                </a:solidFill>
                <a:latin typeface="Halley"/>
                <a:ea typeface="Halley"/>
                <a:cs typeface="Halley"/>
                <a:sym typeface="Halley"/>
              </a:rPr>
              <a:t>la inteligencia artificial</a:t>
            </a:r>
            <a:r>
              <a:rPr lang="es-MX" sz="2172" b="1" dirty="0">
                <a:solidFill>
                  <a:schemeClr val="bg1"/>
                </a:solidFill>
                <a:latin typeface="Halley"/>
                <a:ea typeface="Halley"/>
                <a:cs typeface="Halley"/>
                <a:sym typeface="Halley"/>
              </a:rPr>
              <a:t>, conjunto de sistemas que aprenden, se adaptan y prácticamente actúan de manera autónoma, sobre todo en la automatización de datos; con ello la humanidad asume el riesgo de un estado intermedio entre las personas y los sistemas computacionales, capaz de transformar la naturaleza y estructura del trabajo humano. </a:t>
            </a:r>
          </a:p>
          <a:p>
            <a:pPr algn="just">
              <a:lnSpc>
                <a:spcPts val="3041"/>
              </a:lnSpc>
              <a:spcBef>
                <a:spcPct val="0"/>
              </a:spcBef>
            </a:pPr>
            <a:r>
              <a:rPr lang="es-MX" sz="2172" b="1" dirty="0">
                <a:solidFill>
                  <a:schemeClr val="bg1"/>
                </a:solidFill>
                <a:latin typeface="Halley"/>
                <a:ea typeface="Halley"/>
                <a:cs typeface="Halley"/>
                <a:sym typeface="Halley"/>
              </a:rPr>
              <a:t>Son ya conocidos los prototipos de </a:t>
            </a:r>
            <a:r>
              <a:rPr lang="es-MX" sz="2172" b="1" u="sng" dirty="0">
                <a:solidFill>
                  <a:schemeClr val="bg1"/>
                </a:solidFill>
                <a:latin typeface="Halley"/>
                <a:ea typeface="Halley"/>
                <a:cs typeface="Halley"/>
                <a:sym typeface="Halley"/>
              </a:rPr>
              <a:t>los vehículos autónomos</a:t>
            </a:r>
            <a:r>
              <a:rPr lang="es-MX" sz="2172" b="1" dirty="0">
                <a:solidFill>
                  <a:schemeClr val="bg1"/>
                </a:solidFill>
                <a:latin typeface="Halley"/>
                <a:ea typeface="Halley"/>
                <a:cs typeface="Halley"/>
                <a:sym typeface="Halley"/>
              </a:rPr>
              <a:t>, utilizados ya en la agricultura y la minería; robots domésticos e industriales; y aviones no tripulados.</a:t>
            </a:r>
          </a:p>
        </p:txBody>
      </p:sp>
      <p:sp>
        <p:nvSpPr>
          <p:cNvPr id="8" name="CuadroTexto 7">
            <a:extLst>
              <a:ext uri="{FF2B5EF4-FFF2-40B4-BE49-F238E27FC236}">
                <a16:creationId xmlns:a16="http://schemas.microsoft.com/office/drawing/2014/main" id="{71D1936F-8DB0-B6B7-1C1F-81124BD66433}"/>
              </a:ext>
            </a:extLst>
          </p:cNvPr>
          <p:cNvSpPr txBox="1"/>
          <p:nvPr/>
        </p:nvSpPr>
        <p:spPr>
          <a:xfrm>
            <a:off x="4346714" y="0"/>
            <a:ext cx="7845286" cy="830997"/>
          </a:xfrm>
          <a:prstGeom prst="rect">
            <a:avLst/>
          </a:prstGeom>
          <a:noFill/>
        </p:spPr>
        <p:txBody>
          <a:bodyPr wrap="square">
            <a:spAutoFit/>
          </a:bodyPr>
          <a:lstStyle/>
          <a:p>
            <a:r>
              <a:rPr lang="es-CO" sz="4800" b="1" i="1" dirty="0">
                <a:solidFill>
                  <a:schemeClr val="tx1">
                    <a:lumMod val="75000"/>
                    <a:lumOff val="25000"/>
                  </a:schemeClr>
                </a:solidFill>
                <a:latin typeface="HelveticaNeueLT Std Med Cn" panose="020B0506030502030204" pitchFamily="34" charset="77"/>
              </a:rPr>
              <a:t>ÉTICA EN LA INGENIERÍA</a:t>
            </a:r>
          </a:p>
        </p:txBody>
      </p:sp>
    </p:spTree>
    <p:extLst>
      <p:ext uri="{BB962C8B-B14F-4D97-AF65-F5344CB8AC3E}">
        <p14:creationId xmlns:p14="http://schemas.microsoft.com/office/powerpoint/2010/main" val="3202647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60138" y="6118162"/>
            <a:ext cx="4791953" cy="369332"/>
          </a:xfrm>
          <a:prstGeom prst="rect">
            <a:avLst/>
          </a:prstGeom>
        </p:spPr>
        <p:txBody>
          <a:bodyPr wrap="none">
            <a:spAutoFit/>
          </a:bodyPr>
          <a:lstStyle/>
          <a:p>
            <a:r>
              <a:rPr lang="en-US" dirty="0"/>
              <a:t>https://www.youtube.com/watch?v=YCcsFHTIOls</a:t>
            </a:r>
          </a:p>
        </p:txBody>
      </p:sp>
      <p:pic>
        <p:nvPicPr>
          <p:cNvPr id="4" name="YCcsFHTIOls"/>
          <p:cNvPicPr>
            <a:picLocks noRot="1" noChangeAspect="1"/>
          </p:cNvPicPr>
          <p:nvPr>
            <a:videoFile r:link="rId1"/>
          </p:nvPr>
        </p:nvPicPr>
        <p:blipFill>
          <a:blip r:embed="rId3"/>
          <a:stretch>
            <a:fillRect/>
          </a:stretch>
        </p:blipFill>
        <p:spPr>
          <a:xfrm>
            <a:off x="1349829" y="1863969"/>
            <a:ext cx="3784879" cy="4094598"/>
          </a:xfrm>
          <a:prstGeom prst="rect">
            <a:avLst/>
          </a:prstGeom>
        </p:spPr>
      </p:pic>
      <p:sp>
        <p:nvSpPr>
          <p:cNvPr id="5" name="CuadroTexto 4">
            <a:extLst>
              <a:ext uri="{FF2B5EF4-FFF2-40B4-BE49-F238E27FC236}">
                <a16:creationId xmlns:a16="http://schemas.microsoft.com/office/drawing/2014/main" id="{71D1936F-8DB0-B6B7-1C1F-81124BD66433}"/>
              </a:ext>
            </a:extLst>
          </p:cNvPr>
          <p:cNvSpPr txBox="1"/>
          <p:nvPr/>
        </p:nvSpPr>
        <p:spPr>
          <a:xfrm>
            <a:off x="4452730" y="28308"/>
            <a:ext cx="7739269" cy="830997"/>
          </a:xfrm>
          <a:prstGeom prst="rect">
            <a:avLst/>
          </a:prstGeom>
          <a:noFill/>
        </p:spPr>
        <p:txBody>
          <a:bodyPr wrap="square">
            <a:spAutoFit/>
          </a:bodyPr>
          <a:lstStyle/>
          <a:p>
            <a:r>
              <a:rPr lang="es-CO" sz="4800" b="1" i="1" dirty="0">
                <a:solidFill>
                  <a:schemeClr val="tx1">
                    <a:lumMod val="75000"/>
                    <a:lumOff val="25000"/>
                  </a:schemeClr>
                </a:solidFill>
                <a:latin typeface="HelveticaNeueLT Std Med Cn" panose="020B0506030502030204" pitchFamily="34" charset="77"/>
              </a:rPr>
              <a:t>ÉTICA EN LA INGENIERÍA</a:t>
            </a:r>
          </a:p>
        </p:txBody>
      </p:sp>
      <p:pic>
        <p:nvPicPr>
          <p:cNvPr id="6" name="Imagen 5">
            <a:extLst>
              <a:ext uri="{FF2B5EF4-FFF2-40B4-BE49-F238E27FC236}">
                <a16:creationId xmlns:a16="http://schemas.microsoft.com/office/drawing/2014/main" id="{E045730F-F501-4005-AD43-377CCD935283}"/>
              </a:ext>
            </a:extLst>
          </p:cNvPr>
          <p:cNvPicPr>
            <a:picLocks noChangeAspect="1"/>
          </p:cNvPicPr>
          <p:nvPr/>
        </p:nvPicPr>
        <p:blipFill>
          <a:blip r:embed="rId4"/>
          <a:stretch>
            <a:fillRect/>
          </a:stretch>
        </p:blipFill>
        <p:spPr>
          <a:xfrm>
            <a:off x="6242537" y="2019103"/>
            <a:ext cx="3332285" cy="2819794"/>
          </a:xfrm>
          <a:prstGeom prst="rect">
            <a:avLst/>
          </a:prstGeom>
        </p:spPr>
      </p:pic>
    </p:spTree>
    <p:extLst>
      <p:ext uri="{BB962C8B-B14F-4D97-AF65-F5344CB8AC3E}">
        <p14:creationId xmlns:p14="http://schemas.microsoft.com/office/powerpoint/2010/main" val="625627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07A47B6-501B-5B4C-6F43-5D33D80A25A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34607" y1="39316" x2="34607" y2="39316"/>
                        <a14:foregroundMark x1="18764" y1="57550" x2="18764" y2="57550"/>
                        <a14:foregroundMark x1="22135" y1="41311" x2="22135" y2="41311"/>
                        <a14:foregroundMark x1="44382" y1="35328" x2="44382" y2="35328"/>
                        <a14:foregroundMark x1="55955" y1="33333" x2="55955" y2="33333"/>
                        <a14:foregroundMark x1="61124" y1="30769" x2="61124" y2="30769"/>
                        <a14:foregroundMark x1="68989" y1="27635" x2="68989" y2="27635"/>
                        <a14:foregroundMark x1="77303" y1="25071" x2="77303" y2="25071"/>
                        <a14:foregroundMark x1="82247" y1="29915" x2="82247" y2="29915"/>
                        <a14:foregroundMark x1="76404" y1="54986" x2="76404" y2="54986"/>
                      </a14:backgroundRemoval>
                    </a14:imgEffect>
                  </a14:imgLayer>
                </a14:imgProps>
              </a:ext>
            </a:extLst>
          </a:blip>
          <a:stretch>
            <a:fillRect/>
          </a:stretch>
        </p:blipFill>
        <p:spPr>
          <a:xfrm>
            <a:off x="1243418" y="1783488"/>
            <a:ext cx="9952231" cy="3924981"/>
          </a:xfrm>
          <a:prstGeom prst="rect">
            <a:avLst/>
          </a:prstGeom>
        </p:spPr>
      </p:pic>
    </p:spTree>
    <p:extLst>
      <p:ext uri="{BB962C8B-B14F-4D97-AF65-F5344CB8AC3E}">
        <p14:creationId xmlns:p14="http://schemas.microsoft.com/office/powerpoint/2010/main" val="57414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30272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2066</TotalTime>
  <Words>464</Words>
  <Application>Microsoft Office PowerPoint</Application>
  <PresentationFormat>Panorámica</PresentationFormat>
  <Paragraphs>22</Paragraphs>
  <Slides>10</Slides>
  <Notes>0</Notes>
  <HiddenSlides>0</HiddenSlides>
  <MMClips>1</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10</vt:i4>
      </vt:variant>
    </vt:vector>
  </HeadingPairs>
  <TitlesOfParts>
    <vt:vector size="18" baseType="lpstr">
      <vt:lpstr>Arial</vt:lpstr>
      <vt:lpstr>Calibri</vt:lpstr>
      <vt:lpstr>Calibri Light</vt:lpstr>
      <vt:lpstr>Candara</vt:lpstr>
      <vt:lpstr>Halley</vt:lpstr>
      <vt:lpstr>HelveticaNeueLT Std Med Cn</vt:lpstr>
      <vt:lpstr>Roboto</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Microsoft Office User</dc:creator>
  <cp:lastModifiedBy>user</cp:lastModifiedBy>
  <cp:revision>57</cp:revision>
  <dcterms:created xsi:type="dcterms:W3CDTF">2023-05-09T21:26:04Z</dcterms:created>
  <dcterms:modified xsi:type="dcterms:W3CDTF">2026-04-13T12:51:23Z</dcterms:modified>
</cp:coreProperties>
</file>