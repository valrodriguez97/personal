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2816000" cx="7776000"/>
  <p:notesSz cx="6858000" cy="9144000"/>
  <p:embeddedFontLst>
    <p:embeddedFont>
      <p:font typeface="Roboto"/>
      <p:regular r:id="rId30"/>
      <p:bold r:id="rId31"/>
      <p:italic r:id="rId32"/>
      <p:boldItalic r:id="rId33"/>
    </p:embeddedFont>
    <p:embeddedFont>
      <p:font typeface="Poppi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19">
          <p15:clr>
            <a:srgbClr val="747775"/>
          </p15:clr>
        </p15:guide>
        <p15:guide id="2" orient="horz" pos="1361">
          <p15:clr>
            <a:srgbClr val="747775"/>
          </p15:clr>
        </p15:guide>
        <p15:guide id="3" orient="horz" pos="773">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19" orient="horz"/>
        <p:guide pos="1361" orient="horz"/>
        <p:guide pos="77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Poppins-bold.fntdata"/><Relationship Id="rId12" Type="http://schemas.openxmlformats.org/officeDocument/2006/relationships/slide" Target="slides/slide7.xml"/><Relationship Id="rId34" Type="http://schemas.openxmlformats.org/officeDocument/2006/relationships/font" Target="fonts/Poppins-regular.fntdata"/><Relationship Id="rId15" Type="http://schemas.openxmlformats.org/officeDocument/2006/relationships/slide" Target="slides/slide10.xml"/><Relationship Id="rId37" Type="http://schemas.openxmlformats.org/officeDocument/2006/relationships/font" Target="fonts/Poppins-boldItalic.fntdata"/><Relationship Id="rId14" Type="http://schemas.openxmlformats.org/officeDocument/2006/relationships/slide" Target="slides/slide9.xml"/><Relationship Id="rId36" Type="http://schemas.openxmlformats.org/officeDocument/2006/relationships/font" Target="fonts/Poppins-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21" name="Google Shape;2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g3a710833073_0_29: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26" name="Google Shape;26;g3a71083307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3a710833073_0_46: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34" name="Google Shape;34;g3a71083307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3a710833073_0_54: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3a71083307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a66bcdf86_11_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a66bcdf86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710833073_0_95: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710833073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a64e93b51_1_22: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a64e93b51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a64e93b51_1_57: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a64e93b51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710833073_0_171: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710833073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fa66bcdf86_12_64: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fa66bcdf86_1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fa66bcdf86_12_175: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fa66bcdf86_12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a710833073_1_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a71083307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fa6b4cd994_7_4: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fa6b4cd994_7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h45f7aa18e4ffa929_1_1: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h45f7aa18e4ffa92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b11c1be6dc_0_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b11c1be6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91df263286_0_16: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91df26328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91df263286_0_26: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91df26328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f8cb9494f1_0_1: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f8cb9494f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bb2572a41_0_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fbb2572a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bb2572a41_0_9: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fbb2572a4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fbb2572a41_0_20: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fbb2572a4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fbb2572a41_0_29: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fbb2572a4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91df263286_0_36: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91df26328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a710833073_0_32:notes"/>
          <p:cNvSpPr/>
          <p:nvPr>
            <p:ph idx="2" type="sldImg"/>
          </p:nvPr>
        </p:nvSpPr>
        <p:spPr>
          <a:xfrm>
            <a:off x="2389066" y="685800"/>
            <a:ext cx="20805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a71083307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type="title">
  <p:cSld name="TITLE">
    <p:spTree>
      <p:nvGrpSpPr>
        <p:cNvPr id="7" name="Shape 7"/>
        <p:cNvGrpSpPr/>
        <p:nvPr/>
      </p:nvGrpSpPr>
      <p:grpSpPr>
        <a:xfrm>
          <a:off x="0" y="0"/>
          <a:ext cx="0" cy="0"/>
          <a:chOff x="0" y="0"/>
          <a:chExt cx="0" cy="0"/>
        </a:xfrm>
      </p:grpSpPr>
      <p:pic>
        <p:nvPicPr>
          <p:cNvPr id="8" name="Google Shape;8;p2"/>
          <p:cNvPicPr preferRelativeResize="0"/>
          <p:nvPr/>
        </p:nvPicPr>
        <p:blipFill>
          <a:blip r:embed="rId2">
            <a:alphaModFix/>
          </a:blip>
          <a:stretch>
            <a:fillRect/>
          </a:stretch>
        </p:blipFill>
        <p:spPr>
          <a:xfrm>
            <a:off x="0" y="4800"/>
            <a:ext cx="7776000" cy="12806410"/>
          </a:xfrm>
          <a:prstGeom prst="rect">
            <a:avLst/>
          </a:prstGeom>
          <a:noFill/>
          <a:ln>
            <a:noFill/>
          </a:ln>
        </p:spPr>
      </p:pic>
      <p:sp>
        <p:nvSpPr>
          <p:cNvPr id="9" name="Google Shape;9;p2"/>
          <p:cNvSpPr txBox="1"/>
          <p:nvPr>
            <p:ph idx="12" type="sldNum"/>
          </p:nvPr>
        </p:nvSpPr>
        <p:spPr>
          <a:xfrm>
            <a:off x="7204925" y="11619284"/>
            <a:ext cx="466500" cy="9807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a" type="secHead">
  <p:cSld name="SECTION_HEADER">
    <p:spTree>
      <p:nvGrpSpPr>
        <p:cNvPr id="10" name="Shape 10"/>
        <p:cNvGrpSpPr/>
        <p:nvPr/>
      </p:nvGrpSpPr>
      <p:grpSpPr>
        <a:xfrm>
          <a:off x="0" y="0"/>
          <a:ext cx="0" cy="0"/>
          <a:chOff x="0" y="0"/>
          <a:chExt cx="0" cy="0"/>
        </a:xfrm>
      </p:grpSpPr>
      <p:pic>
        <p:nvPicPr>
          <p:cNvPr id="11" name="Google Shape;11;p3"/>
          <p:cNvPicPr preferRelativeResize="0"/>
          <p:nvPr/>
        </p:nvPicPr>
        <p:blipFill rotWithShape="1">
          <a:blip r:embed="rId2">
            <a:alphaModFix/>
          </a:blip>
          <a:srcRect b="15240" l="0" r="0" t="0"/>
          <a:stretch/>
        </p:blipFill>
        <p:spPr>
          <a:xfrm>
            <a:off x="28638" y="11955350"/>
            <a:ext cx="7718726" cy="860650"/>
          </a:xfrm>
          <a:prstGeom prst="rect">
            <a:avLst/>
          </a:prstGeom>
          <a:noFill/>
          <a:ln>
            <a:noFill/>
          </a:ln>
        </p:spPr>
      </p:pic>
      <p:pic>
        <p:nvPicPr>
          <p:cNvPr id="12" name="Google Shape;12;p3"/>
          <p:cNvPicPr preferRelativeResize="0"/>
          <p:nvPr/>
        </p:nvPicPr>
        <p:blipFill rotWithShape="1">
          <a:blip r:embed="rId3">
            <a:alphaModFix/>
          </a:blip>
          <a:srcRect b="0" l="1901" r="79262" t="0"/>
          <a:stretch/>
        </p:blipFill>
        <p:spPr>
          <a:xfrm>
            <a:off x="1015200" y="142350"/>
            <a:ext cx="817500" cy="715500"/>
          </a:xfrm>
          <a:prstGeom prst="rect">
            <a:avLst/>
          </a:prstGeom>
          <a:noFill/>
          <a:ln>
            <a:noFill/>
          </a:ln>
        </p:spPr>
      </p:pic>
      <p:pic>
        <p:nvPicPr>
          <p:cNvPr id="13" name="Google Shape;13;p3"/>
          <p:cNvPicPr preferRelativeResize="0"/>
          <p:nvPr/>
        </p:nvPicPr>
        <p:blipFill>
          <a:blip r:embed="rId4">
            <a:alphaModFix/>
          </a:blip>
          <a:stretch>
            <a:fillRect/>
          </a:stretch>
        </p:blipFill>
        <p:spPr>
          <a:xfrm>
            <a:off x="5743325" y="253500"/>
            <a:ext cx="1017468" cy="493200"/>
          </a:xfrm>
          <a:prstGeom prst="rect">
            <a:avLst/>
          </a:prstGeom>
          <a:noFill/>
          <a:ln>
            <a:noFill/>
          </a:ln>
        </p:spPr>
      </p:pic>
      <p:sp>
        <p:nvSpPr>
          <p:cNvPr id="14" name="Google Shape;14;p3"/>
          <p:cNvSpPr txBox="1"/>
          <p:nvPr/>
        </p:nvSpPr>
        <p:spPr>
          <a:xfrm>
            <a:off x="2010263" y="136050"/>
            <a:ext cx="3558600" cy="728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s" sz="1200">
                <a:solidFill>
                  <a:srgbClr val="CC0000"/>
                </a:solidFill>
                <a:latin typeface="Poppins"/>
                <a:ea typeface="Poppins"/>
                <a:cs typeface="Poppins"/>
                <a:sym typeface="Poppins"/>
              </a:rPr>
              <a:t>LittleStyle</a:t>
            </a:r>
            <a:endParaRPr b="1" sz="1200">
              <a:solidFill>
                <a:srgbClr val="CC0000"/>
              </a:solidFill>
              <a:latin typeface="Poppins"/>
              <a:ea typeface="Poppins"/>
              <a:cs typeface="Poppins"/>
              <a:sym typeface="Poppins"/>
            </a:endParaRPr>
          </a:p>
          <a:p>
            <a:pPr indent="0" lvl="0" marL="0" rtl="0" algn="ctr">
              <a:lnSpc>
                <a:spcPct val="115000"/>
              </a:lnSpc>
              <a:spcBef>
                <a:spcPts val="0"/>
              </a:spcBef>
              <a:spcAft>
                <a:spcPts val="0"/>
              </a:spcAft>
              <a:buNone/>
            </a:pPr>
            <a:r>
              <a:rPr b="1" lang="es" sz="1000">
                <a:latin typeface="Poppins"/>
                <a:ea typeface="Poppins"/>
                <a:cs typeface="Poppins"/>
                <a:sym typeface="Poppins"/>
              </a:rPr>
              <a:t>Software Architecture Description – C4 Model</a:t>
            </a:r>
            <a:endParaRPr b="1" sz="1000">
              <a:latin typeface="Poppins"/>
              <a:ea typeface="Poppins"/>
              <a:cs typeface="Poppins"/>
              <a:sym typeface="Poppins"/>
            </a:endParaRPr>
          </a:p>
          <a:p>
            <a:pPr indent="0" lvl="0" marL="0" rtl="0" algn="ctr">
              <a:lnSpc>
                <a:spcPct val="115000"/>
              </a:lnSpc>
              <a:spcBef>
                <a:spcPts val="0"/>
              </a:spcBef>
              <a:spcAft>
                <a:spcPts val="0"/>
              </a:spcAft>
              <a:buNone/>
            </a:pPr>
            <a:r>
              <a:rPr i="1" lang="es" sz="1000">
                <a:latin typeface="Poppins"/>
                <a:ea typeface="Poppins"/>
                <a:cs typeface="Poppins"/>
                <a:sym typeface="Poppins"/>
              </a:rPr>
              <a:t>Curso: Ingeniería de software III</a:t>
            </a:r>
            <a:endParaRPr i="1" sz="1000">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p:cSld name="CUSTOM">
    <p:spTree>
      <p:nvGrpSpPr>
        <p:cNvPr id="15" name="Shape 1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 type="blank">
  <p:cSld name="BLANK">
    <p:spTree>
      <p:nvGrpSpPr>
        <p:cNvPr id="16" name="Shape 16"/>
        <p:cNvGrpSpPr/>
        <p:nvPr/>
      </p:nvGrpSpPr>
      <p:grpSpPr>
        <a:xfrm>
          <a:off x="0" y="0"/>
          <a:ext cx="0" cy="0"/>
          <a:chOff x="0" y="0"/>
          <a:chExt cx="0" cy="0"/>
        </a:xfrm>
      </p:grpSpPr>
      <p:pic>
        <p:nvPicPr>
          <p:cNvPr id="17" name="Google Shape;17;p5"/>
          <p:cNvPicPr preferRelativeResize="0"/>
          <p:nvPr/>
        </p:nvPicPr>
        <p:blipFill>
          <a:blip r:embed="rId2">
            <a:alphaModFix/>
          </a:blip>
          <a:stretch>
            <a:fillRect/>
          </a:stretch>
        </p:blipFill>
        <p:spPr>
          <a:xfrm>
            <a:off x="0" y="-800"/>
            <a:ext cx="7776000" cy="12817589"/>
          </a:xfrm>
          <a:prstGeom prst="rect">
            <a:avLst/>
          </a:prstGeom>
          <a:noFill/>
          <a:ln>
            <a:noFill/>
          </a:ln>
        </p:spPr>
      </p:pic>
      <p:sp>
        <p:nvSpPr>
          <p:cNvPr id="18" name="Google Shape;18;p5"/>
          <p:cNvSpPr txBox="1"/>
          <p:nvPr>
            <p:ph idx="12" type="sldNum"/>
          </p:nvPr>
        </p:nvSpPr>
        <p:spPr>
          <a:xfrm>
            <a:off x="7204925" y="11619284"/>
            <a:ext cx="466500" cy="9807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1015200" y="1015350"/>
            <a:ext cx="5745600" cy="1078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8.png"/><Relationship Id="rId13" Type="http://schemas.openxmlformats.org/officeDocument/2006/relationships/image" Target="../media/image10.png"/><Relationship Id="rId12"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6"/>
          <p:cNvSpPr txBox="1"/>
          <p:nvPr/>
        </p:nvSpPr>
        <p:spPr>
          <a:xfrm>
            <a:off x="1021200" y="6599811"/>
            <a:ext cx="4084800" cy="400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500">
                <a:solidFill>
                  <a:srgbClr val="CC0000"/>
                </a:solidFill>
                <a:latin typeface="Poppins"/>
                <a:ea typeface="Poppins"/>
                <a:cs typeface="Poppins"/>
                <a:sym typeface="Poppins"/>
              </a:rPr>
              <a:t>LittleStyle</a:t>
            </a:r>
            <a:endParaRPr b="1" sz="2500">
              <a:solidFill>
                <a:srgbClr val="CC0000"/>
              </a:solidFill>
              <a:latin typeface="Poppins"/>
              <a:ea typeface="Poppins"/>
              <a:cs typeface="Poppins"/>
              <a:sym typeface="Poppins"/>
            </a:endParaRPr>
          </a:p>
          <a:p>
            <a:pPr indent="0" lvl="0" marL="0" rtl="0" algn="l">
              <a:spcBef>
                <a:spcPts val="800"/>
              </a:spcBef>
              <a:spcAft>
                <a:spcPts val="0"/>
              </a:spcAft>
              <a:buNone/>
            </a:pPr>
            <a:r>
              <a:rPr b="1" lang="es" sz="2000">
                <a:solidFill>
                  <a:schemeClr val="dk1"/>
                </a:solidFill>
                <a:latin typeface="Poppins"/>
                <a:ea typeface="Poppins"/>
                <a:cs typeface="Poppins"/>
                <a:sym typeface="Poppins"/>
              </a:rPr>
              <a:t>Software Architecture Description – C4 Model</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rPr b="1" lang="es" sz="1700">
                <a:solidFill>
                  <a:schemeClr val="dk1"/>
                </a:solidFill>
                <a:latin typeface="Poppins"/>
                <a:ea typeface="Poppins"/>
                <a:cs typeface="Poppins"/>
                <a:sym typeface="Poppins"/>
              </a:rPr>
              <a:t>Autor:</a:t>
            </a:r>
            <a:endParaRPr b="1" sz="1700">
              <a:solidFill>
                <a:schemeClr val="dk1"/>
              </a:solidFill>
              <a:latin typeface="Poppins"/>
              <a:ea typeface="Poppins"/>
              <a:cs typeface="Poppins"/>
              <a:sym typeface="Poppins"/>
            </a:endParaRPr>
          </a:p>
          <a:p>
            <a:pPr indent="0" lvl="0" marL="0" rtl="0" algn="l">
              <a:spcBef>
                <a:spcPts val="0"/>
              </a:spcBef>
              <a:spcAft>
                <a:spcPts val="0"/>
              </a:spcAft>
              <a:buNone/>
            </a:pPr>
            <a:r>
              <a:rPr lang="es" sz="1700">
                <a:solidFill>
                  <a:schemeClr val="dk1"/>
                </a:solidFill>
                <a:latin typeface="Poppins"/>
                <a:ea typeface="Poppins"/>
                <a:cs typeface="Poppins"/>
                <a:sym typeface="Poppins"/>
              </a:rPr>
              <a:t>Valentina González Diaz </a:t>
            </a:r>
            <a:endParaRPr sz="1700">
              <a:solidFill>
                <a:schemeClr val="dk1"/>
              </a:solidFill>
              <a:latin typeface="Poppins"/>
              <a:ea typeface="Poppins"/>
              <a:cs typeface="Poppins"/>
              <a:sym typeface="Poppins"/>
            </a:endParaRPr>
          </a:p>
          <a:p>
            <a:pPr indent="0" lvl="0" marL="0" rtl="0" algn="l">
              <a:spcBef>
                <a:spcPts val="0"/>
              </a:spcBef>
              <a:spcAft>
                <a:spcPts val="0"/>
              </a:spcAft>
              <a:buNone/>
            </a:pPr>
            <a:r>
              <a:rPr lang="es" sz="1700">
                <a:solidFill>
                  <a:schemeClr val="dk1"/>
                </a:solidFill>
                <a:latin typeface="Poppins"/>
                <a:ea typeface="Poppins"/>
                <a:cs typeface="Poppins"/>
                <a:sym typeface="Poppins"/>
              </a:rPr>
              <a:t>Valentina Rodriguez Castro</a:t>
            </a:r>
            <a:endParaRPr sz="1700">
              <a:solidFill>
                <a:schemeClr val="dk1"/>
              </a:solidFill>
              <a:latin typeface="Poppins"/>
              <a:ea typeface="Poppins"/>
              <a:cs typeface="Poppins"/>
              <a:sym typeface="Poppins"/>
            </a:endParaRPr>
          </a:p>
          <a:p>
            <a:pPr indent="0" lvl="0" marL="0" rtl="0" algn="l">
              <a:spcBef>
                <a:spcPts val="0"/>
              </a:spcBef>
              <a:spcAft>
                <a:spcPts val="0"/>
              </a:spcAft>
              <a:buNone/>
            </a:pPr>
            <a:r>
              <a:rPr lang="es" sz="1700">
                <a:solidFill>
                  <a:schemeClr val="dk1"/>
                </a:solidFill>
                <a:latin typeface="Poppins"/>
                <a:ea typeface="Poppins"/>
                <a:cs typeface="Poppins"/>
                <a:sym typeface="Poppins"/>
              </a:rPr>
              <a:t>Oscar Tomas Aristizabal Velasquez</a:t>
            </a:r>
            <a:endParaRPr sz="17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t/>
            </a:r>
            <a:endParaRPr b="1" sz="2000">
              <a:solidFill>
                <a:schemeClr val="dk1"/>
              </a:solidFill>
              <a:latin typeface="Poppins"/>
              <a:ea typeface="Poppins"/>
              <a:cs typeface="Poppins"/>
              <a:sym typeface="Poppins"/>
            </a:endParaRPr>
          </a:p>
          <a:p>
            <a:pPr indent="0" lvl="0" marL="0" rtl="0" algn="l">
              <a:spcBef>
                <a:spcPts val="0"/>
              </a:spcBef>
              <a:spcAft>
                <a:spcPts val="0"/>
              </a:spcAft>
              <a:buNone/>
            </a:pPr>
            <a:r>
              <a:rPr lang="es" sz="1300">
                <a:solidFill>
                  <a:schemeClr val="dk1"/>
                </a:solidFill>
                <a:latin typeface="Poppins"/>
                <a:ea typeface="Poppins"/>
                <a:cs typeface="Poppins"/>
                <a:sym typeface="Poppins"/>
              </a:rPr>
              <a:t>Versión: 2.0</a:t>
            </a:r>
            <a:endParaRPr sz="1300">
              <a:solidFill>
                <a:schemeClr val="dk1"/>
              </a:solidFill>
              <a:latin typeface="Poppins"/>
              <a:ea typeface="Poppins"/>
              <a:cs typeface="Poppins"/>
              <a:sym typeface="Poppins"/>
            </a:endParaRPr>
          </a:p>
          <a:p>
            <a:pPr indent="0" lvl="0" marL="0" rtl="0" algn="l">
              <a:spcBef>
                <a:spcPts val="300"/>
              </a:spcBef>
              <a:spcAft>
                <a:spcPts val="0"/>
              </a:spcAft>
              <a:buNone/>
            </a:pPr>
            <a:r>
              <a:rPr lang="es" sz="1300">
                <a:solidFill>
                  <a:schemeClr val="dk1"/>
                </a:solidFill>
                <a:latin typeface="Poppins"/>
                <a:ea typeface="Poppins"/>
                <a:cs typeface="Poppins"/>
                <a:sym typeface="Poppins"/>
              </a:rPr>
              <a:t>Fecha: 18/10/26</a:t>
            </a:r>
            <a:endParaRPr>
              <a:solidFill>
                <a:schemeClr val="dk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7"/>
          <p:cNvSpPr txBox="1"/>
          <p:nvPr/>
        </p:nvSpPr>
        <p:spPr>
          <a:xfrm>
            <a:off x="1021200" y="1017250"/>
            <a:ext cx="5735700" cy="21345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1. RESUMEN ARQUITECTÓNICO</a:t>
            </a:r>
            <a:endParaRPr b="1">
              <a:solidFill>
                <a:schemeClr val="dk1"/>
              </a:solidFill>
              <a:latin typeface="Poppins"/>
              <a:ea typeface="Poppins"/>
              <a:cs typeface="Poppins"/>
              <a:sym typeface="Poppins"/>
            </a:endParaRPr>
          </a:p>
          <a:p>
            <a:pPr indent="0" lvl="0" marL="0" rtl="0" algn="just">
              <a:spcBef>
                <a:spcPts val="300"/>
              </a:spcBef>
              <a:spcAft>
                <a:spcPts val="0"/>
              </a:spcAft>
              <a:buNone/>
            </a:pPr>
            <a:r>
              <a:rPr b="1" lang="es" sz="1200">
                <a:solidFill>
                  <a:srgbClr val="CC0000"/>
                </a:solidFill>
                <a:latin typeface="Poppins"/>
                <a:ea typeface="Poppins"/>
                <a:cs typeface="Poppins"/>
                <a:sym typeface="Poppins"/>
              </a:rPr>
              <a:t>LittleStyle</a:t>
            </a:r>
            <a:r>
              <a:rPr lang="es" sz="1200">
                <a:solidFill>
                  <a:schemeClr val="dk1"/>
                </a:solidFill>
                <a:latin typeface="Poppins"/>
                <a:ea typeface="Poppins"/>
                <a:cs typeface="Poppins"/>
                <a:sym typeface="Poppins"/>
              </a:rPr>
              <a:t> es una plataforma digital de e-commerce para ropa infantil, cuyo propósito es centralizar y automatizar la gestión de perfiles infantiles, la recomendación personalizada de tallas, la compra de prendas y el control de inventario mediante canales web diferenciados por rol. El cliente (padre, madre o acudiente) gestiona perfiles infantiles, consulta el catálogo y realiza pedidos; el vendedor administra su catálogo e inventario; y el administrador supervisa la plataforma y gestiona usuarios. El sistema se integra con una pasarela de pago externa para procesar las transacciones. </a:t>
            </a:r>
            <a:endParaRPr sz="1200">
              <a:solidFill>
                <a:schemeClr val="dk1"/>
              </a:solidFill>
              <a:latin typeface="Poppins"/>
              <a:ea typeface="Poppins"/>
              <a:cs typeface="Poppins"/>
              <a:sym typeface="Poppins"/>
            </a:endParaRPr>
          </a:p>
        </p:txBody>
      </p:sp>
      <p:sp>
        <p:nvSpPr>
          <p:cNvPr id="29" name="Google Shape;29;p7"/>
          <p:cNvSpPr txBox="1"/>
          <p:nvPr/>
        </p:nvSpPr>
        <p:spPr>
          <a:xfrm>
            <a:off x="1020150" y="3232250"/>
            <a:ext cx="5735700" cy="1888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200">
                <a:solidFill>
                  <a:schemeClr val="dk1"/>
                </a:solidFill>
                <a:latin typeface="Poppins"/>
                <a:ea typeface="Poppins"/>
                <a:cs typeface="Poppins"/>
                <a:sym typeface="Poppins"/>
              </a:rPr>
              <a:t>1.1 Usuarios principales</a:t>
            </a:r>
            <a:endParaRPr b="1"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Cliente(</a:t>
            </a:r>
            <a:r>
              <a:rPr b="1" lang="es" sz="1200">
                <a:solidFill>
                  <a:schemeClr val="dk1"/>
                </a:solidFill>
                <a:latin typeface="Poppins"/>
                <a:ea typeface="Poppins"/>
                <a:cs typeface="Poppins"/>
                <a:sym typeface="Poppins"/>
              </a:rPr>
              <a:t>Padre,madre o acudiente):</a:t>
            </a:r>
            <a:r>
              <a:rPr lang="es" sz="1200">
                <a:solidFill>
                  <a:schemeClr val="dk1"/>
                </a:solidFill>
                <a:latin typeface="Poppins"/>
                <a:ea typeface="Poppins"/>
                <a:cs typeface="Poppins"/>
                <a:sym typeface="Poppins"/>
              </a:rPr>
              <a:t>gestiona perfiles infantiles, consulta el catálogo con recomendación de talla, administra el carrito y hace seguimiento a sus pedidos. </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Vendedor: </a:t>
            </a:r>
            <a:r>
              <a:rPr lang="es" sz="1200">
                <a:solidFill>
                  <a:schemeClr val="dk1"/>
                </a:solidFill>
                <a:latin typeface="Poppins"/>
                <a:ea typeface="Poppins"/>
                <a:cs typeface="Poppins"/>
                <a:sym typeface="Poppins"/>
              </a:rPr>
              <a:t>administra su catálogo de prendas, controla el stock, recibe alertas de reabastecimiento y consulta reportes de ventas.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Administrador: </a:t>
            </a:r>
            <a:r>
              <a:rPr lang="es" sz="1200">
                <a:solidFill>
                  <a:schemeClr val="dk1"/>
                </a:solidFill>
                <a:latin typeface="Poppins"/>
                <a:ea typeface="Poppins"/>
                <a:cs typeface="Poppins"/>
                <a:sym typeface="Poppins"/>
              </a:rPr>
              <a:t>gestiona cuentas de usuarios, supervisa el catálogo y consulta dashboards y reportes analíticos. </a:t>
            </a:r>
            <a:endParaRPr sz="1200">
              <a:solidFill>
                <a:schemeClr val="dk1"/>
              </a:solidFill>
              <a:latin typeface="Poppins"/>
              <a:ea typeface="Poppins"/>
              <a:cs typeface="Poppins"/>
              <a:sym typeface="Poppins"/>
            </a:endParaRPr>
          </a:p>
        </p:txBody>
      </p:sp>
      <p:sp>
        <p:nvSpPr>
          <p:cNvPr id="30" name="Google Shape;30;p7"/>
          <p:cNvSpPr txBox="1"/>
          <p:nvPr/>
        </p:nvSpPr>
        <p:spPr>
          <a:xfrm>
            <a:off x="1021200" y="5228650"/>
            <a:ext cx="5735700" cy="13290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1.2 Problema que resuelve</a:t>
            </a:r>
            <a:endParaRPr b="1" sz="1300">
              <a:solidFill>
                <a:schemeClr val="dk1"/>
              </a:solidFill>
              <a:latin typeface="Poppins"/>
              <a:ea typeface="Poppins"/>
              <a:cs typeface="Poppins"/>
              <a:sym typeface="Poppins"/>
            </a:endParaRPr>
          </a:p>
          <a:p>
            <a:pPr indent="0" lvl="0" marL="0" rtl="0" algn="just">
              <a:spcBef>
                <a:spcPts val="500"/>
              </a:spcBef>
              <a:spcAft>
                <a:spcPts val="500"/>
              </a:spcAft>
              <a:buNone/>
            </a:pPr>
            <a:r>
              <a:rPr lang="es" sz="1100">
                <a:solidFill>
                  <a:schemeClr val="dk1"/>
                </a:solidFill>
                <a:latin typeface="Poppins"/>
                <a:ea typeface="Poppins"/>
                <a:cs typeface="Poppins"/>
                <a:sym typeface="Poppins"/>
              </a:rPr>
              <a:t>LittleStyle resuelve la dificultad de los padres para elegir tallas y prendas adecuadas para sus hijos, dada la variabilidad del crecimiento infantil y posibles alergias textiles. Además, centraliza para los vendedores la administración de productos e inventario, e integra un pago seguro mediante un tercero, mejorando la experiencia del cliente y la eficiencia operativa. </a:t>
            </a:r>
            <a:endParaRPr sz="1100">
              <a:solidFill>
                <a:schemeClr val="dk1"/>
              </a:solidFill>
              <a:latin typeface="Poppins"/>
              <a:ea typeface="Poppins"/>
              <a:cs typeface="Poppins"/>
              <a:sym typeface="Poppins"/>
            </a:endParaRPr>
          </a:p>
        </p:txBody>
      </p:sp>
      <p:sp>
        <p:nvSpPr>
          <p:cNvPr id="31" name="Google Shape;31;p7"/>
          <p:cNvSpPr txBox="1"/>
          <p:nvPr/>
        </p:nvSpPr>
        <p:spPr>
          <a:xfrm>
            <a:off x="1020150" y="6802825"/>
            <a:ext cx="5735700" cy="42561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1.3 Alcance</a:t>
            </a:r>
            <a:endParaRPr b="1" sz="1300">
              <a:solidFill>
                <a:schemeClr val="dk1"/>
              </a:solidFill>
              <a:latin typeface="Poppins"/>
              <a:ea typeface="Poppins"/>
              <a:cs typeface="Poppins"/>
              <a:sym typeface="Poppins"/>
            </a:endParaRPr>
          </a:p>
          <a:p>
            <a:pPr indent="0" lvl="0" marL="0" rtl="0" algn="just">
              <a:spcBef>
                <a:spcPts val="500"/>
              </a:spcBef>
              <a:spcAft>
                <a:spcPts val="0"/>
              </a:spcAft>
              <a:buNone/>
            </a:pPr>
            <a:r>
              <a:rPr lang="es" sz="1200">
                <a:solidFill>
                  <a:schemeClr val="dk1"/>
                </a:solidFill>
                <a:latin typeface="Poppins"/>
                <a:ea typeface="Poppins"/>
                <a:cs typeface="Poppins"/>
                <a:sym typeface="Poppins"/>
              </a:rPr>
              <a:t>¿Qué incluye?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Registro y autenticación de clientes, vendedores y administradores.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de perfiles infantiles (medidas, alergias, preferencias).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Recomendación personalizada de tallas y prendas.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Consulta del catálogo con filtros avanzados.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del carrito de compras y pedidos.</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Seguimiento del estado del pedido.</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Integración con pasarela de pago externa.</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Administración de productos e inventario, con alertas de stock bajo.</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de usuarios, catálogo y generación de reportes/dashboards.</a:t>
            </a:r>
            <a:endParaRPr sz="1200">
              <a:solidFill>
                <a:schemeClr val="dk1"/>
              </a:solidFill>
              <a:latin typeface="Poppins"/>
              <a:ea typeface="Poppins"/>
              <a:cs typeface="Poppins"/>
              <a:sym typeface="Poppins"/>
            </a:endParaRPr>
          </a:p>
          <a:p>
            <a:pPr indent="0" lvl="0" marL="0" rtl="0" algn="just">
              <a:spcBef>
                <a:spcPts val="2000"/>
              </a:spcBef>
              <a:spcAft>
                <a:spcPts val="0"/>
              </a:spcAft>
              <a:buNone/>
            </a:pPr>
            <a:r>
              <a:rPr lang="es" sz="1200">
                <a:solidFill>
                  <a:schemeClr val="dk1"/>
                </a:solidFill>
                <a:latin typeface="Poppins"/>
                <a:ea typeface="Poppins"/>
                <a:cs typeface="Poppins"/>
                <a:sym typeface="Poppins"/>
              </a:rPr>
              <a:t>¿Qué </a:t>
            </a:r>
            <a:r>
              <a:rPr b="1" lang="es" sz="1200">
                <a:solidFill>
                  <a:schemeClr val="dk1"/>
                </a:solidFill>
                <a:latin typeface="Poppins"/>
                <a:ea typeface="Poppins"/>
                <a:cs typeface="Poppins"/>
                <a:sym typeface="Poppins"/>
              </a:rPr>
              <a:t>NO</a:t>
            </a:r>
            <a:r>
              <a:rPr lang="es" sz="1200">
                <a:solidFill>
                  <a:schemeClr val="dk1"/>
                </a:solidFill>
                <a:latin typeface="Poppins"/>
                <a:ea typeface="Poppins"/>
                <a:cs typeface="Poppins"/>
                <a:sym typeface="Poppins"/>
              </a:rPr>
              <a:t> incluye?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interna de manufactura o confección textil.</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Operación logística/transporte directo de paquetería externa (solo se actualizan estados y número de guía).</a:t>
            </a:r>
            <a:endParaRPr sz="1200">
              <a:solidFill>
                <a:schemeClr val="dk1"/>
              </a:solidFill>
              <a:latin typeface="Poppins"/>
              <a:ea typeface="Poppins"/>
              <a:cs typeface="Poppins"/>
              <a:sym typeface="Poppins"/>
            </a:endParaRPr>
          </a:p>
          <a:p>
            <a:pPr indent="0" lvl="0" marL="0" rtl="0" algn="just">
              <a:spcBef>
                <a:spcPts val="500"/>
              </a:spcBef>
              <a:spcAft>
                <a:spcPts val="500"/>
              </a:spcAft>
              <a:buNone/>
            </a:pPr>
            <a:r>
              <a:t/>
            </a:r>
            <a:endParaRPr sz="1200">
              <a:solidFill>
                <a:schemeClr val="dk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8"/>
          <p:cNvSpPr txBox="1"/>
          <p:nvPr/>
        </p:nvSpPr>
        <p:spPr>
          <a:xfrm>
            <a:off x="1020150" y="1017250"/>
            <a:ext cx="5735700" cy="105054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1.4 Procesos involucrados en el sistema LittleStyle</a:t>
            </a:r>
            <a:endParaRPr b="1" sz="1300">
              <a:solidFill>
                <a:schemeClr val="dk1"/>
              </a:solidFill>
              <a:latin typeface="Poppins"/>
              <a:ea typeface="Poppins"/>
              <a:cs typeface="Poppins"/>
              <a:sym typeface="Poppins"/>
            </a:endParaRPr>
          </a:p>
          <a:p>
            <a:pPr indent="-304800" lvl="0" marL="457200" rtl="0" algn="just">
              <a:spcBef>
                <a:spcPts val="10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Proceso de </a:t>
            </a:r>
            <a:r>
              <a:rPr b="1" lang="es" sz="1200">
                <a:solidFill>
                  <a:schemeClr val="dk1"/>
                </a:solidFill>
                <a:latin typeface="Poppins"/>
                <a:ea typeface="Poppins"/>
                <a:cs typeface="Poppins"/>
                <a:sym typeface="Poppins"/>
              </a:rPr>
              <a:t>gestión</a:t>
            </a:r>
            <a:r>
              <a:rPr b="1" lang="es" sz="1200">
                <a:solidFill>
                  <a:schemeClr val="dk1"/>
                </a:solidFill>
                <a:latin typeface="Poppins"/>
                <a:ea typeface="Poppins"/>
                <a:cs typeface="Poppins"/>
                <a:sym typeface="Poppins"/>
              </a:rPr>
              <a:t> del perfil infantil y </a:t>
            </a:r>
            <a:r>
              <a:rPr b="1" lang="es" sz="1200">
                <a:solidFill>
                  <a:schemeClr val="dk1"/>
                </a:solidFill>
                <a:latin typeface="Poppins"/>
                <a:ea typeface="Poppins"/>
                <a:cs typeface="Poppins"/>
                <a:sym typeface="Poppins"/>
              </a:rPr>
              <a:t>recomendación de tallas</a:t>
            </a:r>
            <a:endParaRPr b="1" sz="12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b="1" sz="1200">
              <a:solidFill>
                <a:schemeClr val="dk1"/>
              </a:solidFill>
              <a:latin typeface="Poppins"/>
              <a:ea typeface="Poppins"/>
              <a:cs typeface="Poppins"/>
              <a:sym typeface="Poppins"/>
            </a:endParaRPr>
          </a:p>
          <a:p>
            <a:pPr indent="0" lvl="0" marL="457200" rtl="0" algn="just">
              <a:spcBef>
                <a:spcPts val="300"/>
              </a:spcBef>
              <a:spcAft>
                <a:spcPts val="0"/>
              </a:spcAft>
              <a:buNone/>
            </a:pPr>
            <a:r>
              <a:rPr b="1" lang="es" sz="1200">
                <a:solidFill>
                  <a:schemeClr val="dk1"/>
                </a:solidFill>
                <a:latin typeface="Poppins"/>
                <a:ea typeface="Poppins"/>
                <a:cs typeface="Poppins"/>
                <a:sym typeface="Poppins"/>
              </a:rPr>
              <a:t>Objetivo: </a:t>
            </a:r>
            <a:r>
              <a:rPr lang="es" sz="1200">
                <a:solidFill>
                  <a:schemeClr val="dk1"/>
                </a:solidFill>
                <a:latin typeface="Poppins"/>
                <a:ea typeface="Poppins"/>
                <a:cs typeface="Poppins"/>
                <a:sym typeface="Poppins"/>
              </a:rPr>
              <a:t>permitir al cliente gestionar su cuenta, registrar y administrar perfiles infantiles (hasta 10 por cliente) para apoyar la recomendación de tallas y prendas.</a:t>
            </a:r>
            <a:endParaRPr b="1" sz="1200">
              <a:solidFill>
                <a:schemeClr val="dk1"/>
              </a:solidFill>
              <a:latin typeface="Poppins"/>
              <a:ea typeface="Poppins"/>
              <a:cs typeface="Poppins"/>
              <a:sym typeface="Poppins"/>
            </a:endParaRPr>
          </a:p>
          <a:p>
            <a:pPr indent="0" lvl="0" marL="457200" rtl="0" algn="just">
              <a:spcBef>
                <a:spcPts val="300"/>
              </a:spcBef>
              <a:spcAft>
                <a:spcPts val="0"/>
              </a:spcAft>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Registro y actualización de medidas, con validación e historial de crecimiento.</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Selección de alergias textiles y preferencias de estilo.</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Cifrado y almacenamiento seguro de los datos del menor.</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Cálculo del </a:t>
            </a:r>
            <a:r>
              <a:rPr lang="es" sz="1200">
                <a:solidFill>
                  <a:schemeClr val="dk1"/>
                </a:solidFill>
                <a:latin typeface="Poppins"/>
                <a:ea typeface="Poppins"/>
                <a:cs typeface="Poppins"/>
                <a:sym typeface="Poppins"/>
              </a:rPr>
              <a:t>porcentaje</a:t>
            </a:r>
            <a:r>
              <a:rPr lang="es" sz="1200">
                <a:solidFill>
                  <a:schemeClr val="dk1"/>
                </a:solidFill>
                <a:latin typeface="Poppins"/>
                <a:ea typeface="Poppins"/>
                <a:cs typeface="Poppins"/>
                <a:sym typeface="Poppins"/>
              </a:rPr>
              <a:t> de completitud del perfil.</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Edición y eliminación de la cuenta (con sus datos asociados).</a:t>
            </a:r>
            <a:endParaRPr sz="1200">
              <a:solidFill>
                <a:schemeClr val="dk1"/>
              </a:solidFill>
              <a:latin typeface="Poppins"/>
              <a:ea typeface="Poppins"/>
              <a:cs typeface="Poppins"/>
              <a:sym typeface="Poppins"/>
            </a:endParaRPr>
          </a:p>
          <a:p>
            <a:pPr indent="-304800" lvl="0" marL="457200" rtl="0" algn="just">
              <a:spcBef>
                <a:spcPts val="1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Proceso de gestión del </a:t>
            </a:r>
            <a:r>
              <a:rPr b="1" lang="es" sz="1200">
                <a:solidFill>
                  <a:schemeClr val="dk1"/>
                </a:solidFill>
                <a:latin typeface="Poppins"/>
                <a:ea typeface="Poppins"/>
                <a:cs typeface="Poppins"/>
                <a:sym typeface="Poppins"/>
              </a:rPr>
              <a:t>catálogo</a:t>
            </a:r>
            <a:r>
              <a:rPr b="1" lang="es" sz="1200">
                <a:solidFill>
                  <a:schemeClr val="dk1"/>
                </a:solidFill>
                <a:latin typeface="Poppins"/>
                <a:ea typeface="Poppins"/>
                <a:cs typeface="Poppins"/>
                <a:sym typeface="Poppins"/>
              </a:rPr>
              <a:t>,compras,pedidos e inventario</a:t>
            </a:r>
            <a:endParaRPr b="1" sz="12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b="1"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b="1" lang="es" sz="1200">
                <a:solidFill>
                  <a:schemeClr val="dk1"/>
                </a:solidFill>
                <a:latin typeface="Poppins"/>
                <a:ea typeface="Poppins"/>
                <a:cs typeface="Poppins"/>
                <a:sym typeface="Poppins"/>
              </a:rPr>
              <a:t>Objetivo:</a:t>
            </a:r>
            <a:r>
              <a:rPr lang="es" sz="1200">
                <a:solidFill>
                  <a:schemeClr val="dk1"/>
                </a:solidFill>
                <a:latin typeface="Poppins"/>
                <a:ea typeface="Poppins"/>
                <a:cs typeface="Poppins"/>
                <a:sym typeface="Poppins"/>
              </a:rPr>
              <a:t> permitir al vendedor administrar su catálogo, su inventario y el despacho de pedidos.</a:t>
            </a:r>
            <a:endParaRPr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Registro y actualización de prendas (fotos, precios, tallas y composición textil).</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Stock y nivel mínimo por talla, con alertas automáticas de stock bajo por correo.</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de despachos por vendedor: estados “en preparación” y “enviado”, con número de guía.</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t/>
            </a:r>
            <a:endParaRPr sz="1200">
              <a:solidFill>
                <a:schemeClr val="dk1"/>
              </a:solidFill>
              <a:latin typeface="Poppins"/>
              <a:ea typeface="Poppins"/>
              <a:cs typeface="Poppins"/>
              <a:sym typeface="Poppins"/>
            </a:endParaRPr>
          </a:p>
          <a:p>
            <a:pPr indent="0" lvl="0" marL="457200" rtl="0" algn="just">
              <a:spcBef>
                <a:spcPts val="0"/>
              </a:spcBef>
              <a:spcAft>
                <a:spcPts val="0"/>
              </a:spcAft>
              <a:buNone/>
            </a:pPr>
            <a:r>
              <a:rPr b="1" lang="es" sz="1200">
                <a:solidFill>
                  <a:schemeClr val="dk1"/>
                </a:solidFill>
                <a:latin typeface="Poppins"/>
                <a:ea typeface="Poppins"/>
                <a:cs typeface="Poppins"/>
                <a:sym typeface="Poppins"/>
              </a:rPr>
              <a:t>Objetivo:</a:t>
            </a:r>
            <a:r>
              <a:rPr lang="es" sz="1200">
                <a:solidFill>
                  <a:schemeClr val="dk1"/>
                </a:solidFill>
                <a:latin typeface="Poppins"/>
                <a:ea typeface="Poppins"/>
                <a:cs typeface="Poppins"/>
                <a:sym typeface="Poppins"/>
              </a:rPr>
              <a:t> permitir al cliente explorar, comprar y hacer seguimiento a su pedido.</a:t>
            </a:r>
            <a:endParaRPr sz="1200">
              <a:solidFill>
                <a:schemeClr val="dk1"/>
              </a:solidFill>
              <a:latin typeface="Poppins"/>
              <a:ea typeface="Poppins"/>
              <a:cs typeface="Poppins"/>
              <a:sym typeface="Poppins"/>
            </a:endParaRPr>
          </a:p>
          <a:p>
            <a:pPr indent="0" lvl="0" marL="457200" rtl="0" algn="just">
              <a:spcBef>
                <a:spcPts val="300"/>
              </a:spcBef>
              <a:spcAft>
                <a:spcPts val="0"/>
              </a:spcAft>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Búsqueda, filtrado y recomendación de talla.</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Carrito de compras y resumen del pedido (subtotal más costo de envío).</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Pago mediante la pasarela externa Wompi.</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Creación del pedido solo tras el pago aprobado, con descuento atómico del stock.</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Seguimiento del estado del pedido y notificación por correo con la guía.</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t/>
            </a:r>
            <a:endParaRPr sz="1200">
              <a:solidFill>
                <a:schemeClr val="dk1"/>
              </a:solidFill>
              <a:latin typeface="Poppins"/>
              <a:ea typeface="Poppins"/>
              <a:cs typeface="Poppins"/>
              <a:sym typeface="Poppins"/>
            </a:endParaRPr>
          </a:p>
          <a:p>
            <a:pPr indent="-304800" lvl="0" marL="457200" marR="0" rtl="0" algn="just">
              <a:lnSpc>
                <a:spcPct val="100000"/>
              </a:lnSpc>
              <a:spcBef>
                <a:spcPts val="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Proceso de gestión administrativa y  procesos internos</a:t>
            </a:r>
            <a:endParaRPr b="1" sz="1200">
              <a:solidFill>
                <a:schemeClr val="dk1"/>
              </a:solidFill>
              <a:latin typeface="Poppins"/>
              <a:ea typeface="Poppins"/>
              <a:cs typeface="Poppins"/>
              <a:sym typeface="Poppins"/>
            </a:endParaRPr>
          </a:p>
          <a:p>
            <a:pPr indent="0" lvl="0" marL="457200" marR="0" rtl="0" algn="just">
              <a:lnSpc>
                <a:spcPct val="100000"/>
              </a:lnSpc>
              <a:spcBef>
                <a:spcPts val="0"/>
              </a:spcBef>
              <a:spcAft>
                <a:spcPts val="0"/>
              </a:spcAft>
              <a:buNone/>
            </a:pPr>
            <a:r>
              <a:t/>
            </a:r>
            <a:endParaRPr b="1"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b="1" lang="es" sz="1200">
                <a:solidFill>
                  <a:schemeClr val="dk1"/>
                </a:solidFill>
                <a:latin typeface="Poppins"/>
                <a:ea typeface="Poppins"/>
                <a:cs typeface="Poppins"/>
                <a:sym typeface="Poppins"/>
              </a:rPr>
              <a:t>Objetivo:</a:t>
            </a:r>
            <a:r>
              <a:rPr lang="es" sz="1200">
                <a:solidFill>
                  <a:schemeClr val="dk1"/>
                </a:solidFill>
                <a:latin typeface="Poppins"/>
                <a:ea typeface="Poppins"/>
                <a:cs typeface="Poppins"/>
                <a:sym typeface="Poppins"/>
              </a:rPr>
              <a:t> garantizar la administración y moderación de cuentas y publicaciones. </a:t>
            </a:r>
            <a:endParaRPr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Gestión y moderación de cuentas (clientes y vendedores).</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Supervisión de publicaciones del catálogo.</a:t>
            </a:r>
            <a:endParaRPr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Cancelación de pedidos pagados.</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t/>
            </a:r>
            <a:endParaRPr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b="1" lang="es" sz="1200">
                <a:solidFill>
                  <a:schemeClr val="dk1"/>
                </a:solidFill>
                <a:latin typeface="Poppins"/>
                <a:ea typeface="Poppins"/>
                <a:cs typeface="Poppins"/>
                <a:sym typeface="Poppins"/>
              </a:rPr>
              <a:t>Objetivo:</a:t>
            </a:r>
            <a:r>
              <a:rPr lang="es" sz="1200">
                <a:solidFill>
                  <a:schemeClr val="dk1"/>
                </a:solidFill>
                <a:latin typeface="Poppins"/>
                <a:ea typeface="Poppins"/>
                <a:cs typeface="Poppins"/>
                <a:sym typeface="Poppins"/>
              </a:rPr>
              <a:t>  consolidar información para la toma de decisiones. </a:t>
            </a:r>
            <a:endParaRPr sz="1200">
              <a:solidFill>
                <a:schemeClr val="dk1"/>
              </a:solidFill>
              <a:latin typeface="Poppins"/>
              <a:ea typeface="Poppins"/>
              <a:cs typeface="Poppins"/>
              <a:sym typeface="Poppins"/>
            </a:endParaRPr>
          </a:p>
          <a:p>
            <a:pPr indent="0" lvl="0" marL="457200" rtl="0" algn="just">
              <a:spcBef>
                <a:spcPts val="300"/>
              </a:spcBef>
              <a:spcAft>
                <a:spcPts val="0"/>
              </a:spcAft>
              <a:buClr>
                <a:schemeClr val="dk1"/>
              </a:buClr>
              <a:buSzPts val="1100"/>
              <a:buFont typeface="Arial"/>
              <a:buNone/>
            </a:pPr>
            <a:r>
              <a:rPr i="1" lang="es" sz="1200">
                <a:solidFill>
                  <a:schemeClr val="dk1"/>
                </a:solidFill>
                <a:latin typeface="Poppins"/>
                <a:ea typeface="Poppins"/>
                <a:cs typeface="Poppins"/>
                <a:sym typeface="Poppins"/>
              </a:rPr>
              <a:t>Incluye:</a:t>
            </a:r>
            <a:endParaRPr i="1" sz="1200">
              <a:solidFill>
                <a:schemeClr val="dk1"/>
              </a:solidFill>
              <a:latin typeface="Poppins"/>
              <a:ea typeface="Poppins"/>
              <a:cs typeface="Poppins"/>
              <a:sym typeface="Poppins"/>
            </a:endParaRPr>
          </a:p>
          <a:p>
            <a:pPr indent="-304800" lvl="1" marL="914400" rtl="0" algn="just">
              <a:spcBef>
                <a:spcPts val="0"/>
              </a:spcBef>
              <a:spcAft>
                <a:spcPts val="0"/>
              </a:spcAft>
              <a:buClr>
                <a:schemeClr val="dk1"/>
              </a:buClr>
              <a:buSzPts val="1200"/>
              <a:buFont typeface="Poppins"/>
              <a:buChar char="○"/>
            </a:pPr>
            <a:r>
              <a:rPr lang="es" sz="1200">
                <a:solidFill>
                  <a:schemeClr val="dk1"/>
                </a:solidFill>
                <a:latin typeface="Poppins"/>
                <a:ea typeface="Poppins"/>
                <a:cs typeface="Poppins"/>
                <a:sym typeface="Poppins"/>
              </a:rPr>
              <a:t>Generación, visualización y exportación descargable de dashboards y reportes de ventas, inventario y demanda en formato PDF.</a:t>
            </a:r>
            <a:endParaRPr sz="1200">
              <a:solidFill>
                <a:schemeClr val="dk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9"/>
          <p:cNvSpPr txBox="1"/>
          <p:nvPr/>
        </p:nvSpPr>
        <p:spPr>
          <a:xfrm>
            <a:off x="1037400" y="2966950"/>
            <a:ext cx="5735700" cy="1074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2.1 D</a:t>
            </a:r>
            <a:r>
              <a:rPr b="1" lang="es" sz="1300">
                <a:solidFill>
                  <a:schemeClr val="dk1"/>
                </a:solidFill>
                <a:latin typeface="Poppins"/>
                <a:ea typeface="Poppins"/>
                <a:cs typeface="Poppins"/>
                <a:sym typeface="Poppins"/>
              </a:rPr>
              <a:t>iagrama de contexto (N1)</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sistema LittleStyle como “caja negra”, usuarios y sistemas externos.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Cliente (Padre,  madre o acudiente)</a:t>
            </a:r>
            <a:endParaRPr sz="1200">
              <a:solidFill>
                <a:schemeClr val="dk1"/>
              </a:solidFill>
              <a:latin typeface="Poppins"/>
              <a:ea typeface="Poppins"/>
              <a:cs typeface="Poppins"/>
              <a:sym typeface="Poppins"/>
            </a:endParaRPr>
          </a:p>
        </p:txBody>
      </p:sp>
      <p:sp>
        <p:nvSpPr>
          <p:cNvPr id="42" name="Google Shape;42;p9"/>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 name="Google Shape;43;p9"/>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 name="Google Shape;44;p9"/>
          <p:cNvSpPr/>
          <p:nvPr/>
        </p:nvSpPr>
        <p:spPr>
          <a:xfrm>
            <a:off x="1316999" y="4776900"/>
            <a:ext cx="1725000" cy="11334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2A7E07"/>
                </a:solidFill>
                <a:latin typeface="Poppins"/>
                <a:ea typeface="Poppins"/>
                <a:cs typeface="Poppins"/>
                <a:sym typeface="Poppins"/>
              </a:rPr>
              <a:t>Cliente </a:t>
            </a:r>
            <a:endParaRPr b="1" sz="1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600">
                <a:solidFill>
                  <a:srgbClr val="2A7E07"/>
                </a:solidFill>
                <a:latin typeface="Poppins"/>
                <a:ea typeface="Poppins"/>
                <a:cs typeface="Poppins"/>
                <a:sym typeface="Poppins"/>
              </a:rPr>
              <a:t>[Persona]</a:t>
            </a:r>
            <a:endParaRPr sz="6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Un usuario (padre, madre o acudiente) que registra perfiles infantiles, explora prendas, recibe recomendaciones de talla/alergias, realiza pedidos y hace seguimiento a sus compras.</a:t>
            </a:r>
            <a:endParaRPr>
              <a:solidFill>
                <a:srgbClr val="434343"/>
              </a:solidFill>
            </a:endParaRPr>
          </a:p>
        </p:txBody>
      </p:sp>
      <p:sp>
        <p:nvSpPr>
          <p:cNvPr id="45" name="Google Shape;45;p9"/>
          <p:cNvSpPr/>
          <p:nvPr/>
        </p:nvSpPr>
        <p:spPr>
          <a:xfrm>
            <a:off x="1873810" y="4242826"/>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 name="Google Shape;46;p9"/>
          <p:cNvSpPr/>
          <p:nvPr/>
        </p:nvSpPr>
        <p:spPr>
          <a:xfrm>
            <a:off x="1147210" y="7100526"/>
            <a:ext cx="2064600" cy="1133400"/>
          </a:xfrm>
          <a:prstGeom prst="roundRect">
            <a:avLst>
              <a:gd fmla="val 6867" name="adj"/>
            </a:avLst>
          </a:prstGeom>
          <a:noFill/>
          <a:ln cap="flat" cmpd="sng" w="28575">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LittleStyle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[Sistema de Software]</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5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Plataforma e-commerce web que permite la gestión de perfiles infantiles, recomendación de tallas, catálogo, carrito de compras y seguimiento de pedidos.</a:t>
            </a:r>
            <a:endParaRPr sz="700">
              <a:solidFill>
                <a:srgbClr val="434343"/>
              </a:solidFill>
            </a:endParaRPr>
          </a:p>
        </p:txBody>
      </p:sp>
      <p:sp>
        <p:nvSpPr>
          <p:cNvPr id="47" name="Google Shape;47;p9"/>
          <p:cNvSpPr/>
          <p:nvPr/>
        </p:nvSpPr>
        <p:spPr>
          <a:xfrm>
            <a:off x="4628705" y="6111501"/>
            <a:ext cx="2000100" cy="11334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 Gmail</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a:t>
            </a:r>
            <a:endParaRPr sz="7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434343"/>
                </a:solidFill>
                <a:latin typeface="Poppins"/>
                <a:ea typeface="Poppins"/>
                <a:cs typeface="Poppins"/>
                <a:sym typeface="Poppins"/>
              </a:rPr>
              <a:t>Servicio en la nube que gestiona el envío de confirmaciones de pedido, actualizaciones de estado y guía de transporte al cliente.</a:t>
            </a:r>
            <a:endParaRPr sz="700">
              <a:solidFill>
                <a:srgbClr val="434343"/>
              </a:solidFill>
              <a:latin typeface="Poppins"/>
              <a:ea typeface="Poppins"/>
              <a:cs typeface="Poppins"/>
              <a:sym typeface="Poppins"/>
            </a:endParaRPr>
          </a:p>
        </p:txBody>
      </p:sp>
      <p:sp>
        <p:nvSpPr>
          <p:cNvPr id="48" name="Google Shape;48;p9"/>
          <p:cNvSpPr/>
          <p:nvPr/>
        </p:nvSpPr>
        <p:spPr>
          <a:xfrm>
            <a:off x="4628705" y="8026549"/>
            <a:ext cx="2000100" cy="1133400"/>
          </a:xfrm>
          <a:prstGeom prst="roundRect">
            <a:avLst>
              <a:gd fmla="val 6867" name="adj"/>
            </a:avLst>
          </a:prstGeom>
          <a:noFill/>
          <a:ln cap="flat" cmpd="sng" w="28575">
            <a:solidFill>
              <a:srgbClr val="EE8F1D"/>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EE8F1D"/>
                </a:solidFill>
                <a:latin typeface="Poppins"/>
                <a:ea typeface="Poppins"/>
                <a:cs typeface="Poppins"/>
                <a:sym typeface="Poppins"/>
              </a:rPr>
              <a:t>Pasarela de Pagos Wompi</a:t>
            </a:r>
            <a:endParaRPr b="1" sz="1200">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EE8F1D"/>
                </a:solidFill>
                <a:latin typeface="Poppins"/>
                <a:ea typeface="Poppins"/>
                <a:cs typeface="Poppins"/>
                <a:sym typeface="Poppins"/>
              </a:rPr>
              <a:t>[Sistema de Software]</a:t>
            </a:r>
            <a:endParaRPr sz="700">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t/>
            </a:r>
            <a:endParaRPr sz="700">
              <a:solidFill>
                <a:srgbClr val="434343"/>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434343"/>
                </a:solidFill>
                <a:latin typeface="Poppins"/>
                <a:ea typeface="Poppins"/>
                <a:cs typeface="Poppins"/>
                <a:sym typeface="Poppins"/>
              </a:rPr>
              <a:t>Se encarga del procesamiento de pagos en línea y notifica el estado de la transacción a través de Webhooks.</a:t>
            </a:r>
            <a:endParaRPr b="1" sz="1200">
              <a:solidFill>
                <a:srgbClr val="156CBE"/>
              </a:solidFill>
              <a:latin typeface="Poppins"/>
              <a:ea typeface="Poppins"/>
              <a:cs typeface="Poppins"/>
              <a:sym typeface="Poppins"/>
            </a:endParaRPr>
          </a:p>
        </p:txBody>
      </p:sp>
      <p:cxnSp>
        <p:nvCxnSpPr>
          <p:cNvPr id="49" name="Google Shape;49;p9"/>
          <p:cNvCxnSpPr>
            <a:stCxn id="47" idx="0"/>
            <a:endCxn id="44" idx="3"/>
          </p:cNvCxnSpPr>
          <p:nvPr/>
        </p:nvCxnSpPr>
        <p:spPr>
          <a:xfrm flipH="1" rot="5400000">
            <a:off x="3951305" y="4434051"/>
            <a:ext cx="768000" cy="2586900"/>
          </a:xfrm>
          <a:prstGeom prst="bentConnector2">
            <a:avLst/>
          </a:prstGeom>
          <a:noFill/>
          <a:ln cap="flat" cmpd="sng" w="19050">
            <a:solidFill>
              <a:srgbClr val="434343"/>
            </a:solidFill>
            <a:prstDash val="dash"/>
            <a:round/>
            <a:headEnd len="med" w="med" type="none"/>
            <a:tailEnd len="med" w="med" type="triangle"/>
          </a:ln>
        </p:spPr>
      </p:cxnSp>
      <p:sp>
        <p:nvSpPr>
          <p:cNvPr id="50" name="Google Shape;50;p9"/>
          <p:cNvSpPr txBox="1"/>
          <p:nvPr/>
        </p:nvSpPr>
        <p:spPr>
          <a:xfrm>
            <a:off x="4218875" y="5111026"/>
            <a:ext cx="10092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correos de confirmación y guía de envío a</a:t>
            </a:r>
            <a:endParaRPr sz="1000">
              <a:highlight>
                <a:srgbClr val="FFFFFF"/>
              </a:highlight>
              <a:latin typeface="Poppins"/>
              <a:ea typeface="Poppins"/>
              <a:cs typeface="Poppins"/>
              <a:sym typeface="Poppins"/>
            </a:endParaRPr>
          </a:p>
        </p:txBody>
      </p:sp>
      <p:cxnSp>
        <p:nvCxnSpPr>
          <p:cNvPr id="51" name="Google Shape;51;p9"/>
          <p:cNvCxnSpPr>
            <a:stCxn id="44" idx="2"/>
            <a:endCxn id="46" idx="0"/>
          </p:cNvCxnSpPr>
          <p:nvPr/>
        </p:nvCxnSpPr>
        <p:spPr>
          <a:xfrm flipH="1" rot="-5400000">
            <a:off x="1584749" y="6505050"/>
            <a:ext cx="11901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52" name="Google Shape;52;p9"/>
          <p:cNvSpPr txBox="1"/>
          <p:nvPr/>
        </p:nvSpPr>
        <p:spPr>
          <a:xfrm>
            <a:off x="1417961" y="6225451"/>
            <a:ext cx="15237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pedidos, paga, gestiona perfiles infantiles y consulta estado.</a:t>
            </a:r>
            <a:endParaRPr sz="1000">
              <a:highlight>
                <a:srgbClr val="FFFFFF"/>
              </a:highlight>
              <a:latin typeface="Poppins"/>
              <a:ea typeface="Poppins"/>
              <a:cs typeface="Poppins"/>
              <a:sym typeface="Poppins"/>
            </a:endParaRPr>
          </a:p>
        </p:txBody>
      </p:sp>
      <p:cxnSp>
        <p:nvCxnSpPr>
          <p:cNvPr id="53" name="Google Shape;53;p9"/>
          <p:cNvCxnSpPr>
            <a:stCxn id="46" idx="3"/>
            <a:endCxn id="47" idx="1"/>
          </p:cNvCxnSpPr>
          <p:nvPr/>
        </p:nvCxnSpPr>
        <p:spPr>
          <a:xfrm flipH="1" rot="10800000">
            <a:off x="3211810" y="6678126"/>
            <a:ext cx="1416900" cy="989100"/>
          </a:xfrm>
          <a:prstGeom prst="bentConnector3">
            <a:avLst>
              <a:gd fmla="val 50000" name="adj1"/>
            </a:avLst>
          </a:prstGeom>
          <a:noFill/>
          <a:ln cap="flat" cmpd="sng" w="19050">
            <a:solidFill>
              <a:srgbClr val="434343"/>
            </a:solidFill>
            <a:prstDash val="dash"/>
            <a:round/>
            <a:headEnd len="med" w="med" type="none"/>
            <a:tailEnd len="med" w="med" type="triangle"/>
          </a:ln>
        </p:spPr>
      </p:cxnSp>
      <p:sp>
        <p:nvSpPr>
          <p:cNvPr id="54" name="Google Shape;54;p9"/>
          <p:cNvSpPr txBox="1"/>
          <p:nvPr/>
        </p:nvSpPr>
        <p:spPr>
          <a:xfrm>
            <a:off x="3384740" y="6931669"/>
            <a:ext cx="10695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notificaciones (correo)</a:t>
            </a:r>
            <a:endParaRPr sz="1000">
              <a:highlight>
                <a:srgbClr val="FFFFFF"/>
              </a:highlight>
              <a:latin typeface="Poppins"/>
              <a:ea typeface="Poppins"/>
              <a:cs typeface="Poppins"/>
              <a:sym typeface="Poppins"/>
            </a:endParaRPr>
          </a:p>
        </p:txBody>
      </p:sp>
      <p:cxnSp>
        <p:nvCxnSpPr>
          <p:cNvPr id="55" name="Google Shape;55;p9"/>
          <p:cNvCxnSpPr>
            <a:stCxn id="56" idx="3"/>
            <a:endCxn id="48" idx="1"/>
          </p:cNvCxnSpPr>
          <p:nvPr/>
        </p:nvCxnSpPr>
        <p:spPr>
          <a:xfrm>
            <a:off x="3211800" y="7956900"/>
            <a:ext cx="1416900" cy="636300"/>
          </a:xfrm>
          <a:prstGeom prst="bentConnector3">
            <a:avLst>
              <a:gd fmla="val 50000" name="adj1"/>
            </a:avLst>
          </a:prstGeom>
          <a:noFill/>
          <a:ln cap="flat" cmpd="sng" w="19050">
            <a:solidFill>
              <a:srgbClr val="434343"/>
            </a:solidFill>
            <a:prstDash val="dash"/>
            <a:round/>
            <a:headEnd len="med" w="med" type="none"/>
            <a:tailEnd len="med" w="med" type="triangle"/>
          </a:ln>
        </p:spPr>
      </p:cxnSp>
      <p:sp>
        <p:nvSpPr>
          <p:cNvPr id="56" name="Google Shape;56;p9"/>
          <p:cNvSpPr/>
          <p:nvPr/>
        </p:nvSpPr>
        <p:spPr>
          <a:xfrm>
            <a:off x="3136200" y="7679850"/>
            <a:ext cx="756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9"/>
          <p:cNvSpPr txBox="1"/>
          <p:nvPr/>
        </p:nvSpPr>
        <p:spPr>
          <a:xfrm>
            <a:off x="3415638" y="8032664"/>
            <a:ext cx="10092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Procesa pago / autoriza transacción</a:t>
            </a:r>
            <a:endParaRPr sz="1000">
              <a:highlight>
                <a:srgbClr val="FFFFFF"/>
              </a:highlight>
              <a:latin typeface="Poppins"/>
              <a:ea typeface="Poppins"/>
              <a:cs typeface="Poppins"/>
              <a:sym typeface="Poppins"/>
            </a:endParaRPr>
          </a:p>
        </p:txBody>
      </p:sp>
      <p:cxnSp>
        <p:nvCxnSpPr>
          <p:cNvPr id="58" name="Google Shape;58;p9"/>
          <p:cNvCxnSpPr>
            <a:stCxn id="48" idx="2"/>
            <a:endCxn id="46" idx="2"/>
          </p:cNvCxnSpPr>
          <p:nvPr/>
        </p:nvCxnSpPr>
        <p:spPr>
          <a:xfrm flipH="1" rot="5400000">
            <a:off x="3441155" y="6972349"/>
            <a:ext cx="926100" cy="3449100"/>
          </a:xfrm>
          <a:prstGeom prst="bentConnector3">
            <a:avLst>
              <a:gd fmla="val -25713" name="adj1"/>
            </a:avLst>
          </a:prstGeom>
          <a:noFill/>
          <a:ln cap="flat" cmpd="sng" w="19050">
            <a:solidFill>
              <a:srgbClr val="434343"/>
            </a:solidFill>
            <a:prstDash val="dash"/>
            <a:round/>
            <a:headEnd len="med" w="med" type="none"/>
            <a:tailEnd len="med" w="med" type="triangle"/>
          </a:ln>
        </p:spPr>
      </p:cxnSp>
      <p:sp>
        <p:nvSpPr>
          <p:cNvPr id="59" name="Google Shape;59;p9"/>
          <p:cNvSpPr txBox="1"/>
          <p:nvPr/>
        </p:nvSpPr>
        <p:spPr>
          <a:xfrm>
            <a:off x="3240375" y="9255150"/>
            <a:ext cx="892500" cy="2772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Confirmación del pago a</a:t>
            </a:r>
            <a:endParaRPr sz="1000">
              <a:highlight>
                <a:srgbClr val="FFFFFF"/>
              </a:highlight>
              <a:latin typeface="Poppins"/>
              <a:ea typeface="Poppins"/>
              <a:cs typeface="Poppins"/>
              <a:sym typeface="Poppins"/>
            </a:endParaRPr>
          </a:p>
        </p:txBody>
      </p:sp>
      <p:sp>
        <p:nvSpPr>
          <p:cNvPr id="60" name="Google Shape;60;p9"/>
          <p:cNvSpPr txBox="1"/>
          <p:nvPr/>
        </p:nvSpPr>
        <p:spPr>
          <a:xfrm>
            <a:off x="1021200" y="1017250"/>
            <a:ext cx="5735700" cy="19497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2</a:t>
            </a:r>
            <a:r>
              <a:rPr b="1" lang="es">
                <a:solidFill>
                  <a:schemeClr val="dk1"/>
                </a:solidFill>
                <a:latin typeface="Poppins"/>
                <a:ea typeface="Poppins"/>
                <a:cs typeface="Poppins"/>
                <a:sym typeface="Poppins"/>
              </a:rPr>
              <a:t>. C4MODEL</a:t>
            </a:r>
            <a:endParaRPr b="1">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El sistema </a:t>
            </a:r>
            <a:r>
              <a:rPr b="1" lang="es" sz="1200">
                <a:solidFill>
                  <a:srgbClr val="C42228"/>
                </a:solidFill>
                <a:latin typeface="Poppins"/>
                <a:ea typeface="Poppins"/>
                <a:cs typeface="Poppins"/>
                <a:sym typeface="Poppins"/>
              </a:rPr>
              <a:t>LittleStyle</a:t>
            </a:r>
            <a:r>
              <a:rPr lang="es" sz="1200">
                <a:solidFill>
                  <a:schemeClr val="dk1"/>
                </a:solidFill>
                <a:latin typeface="Poppins"/>
                <a:ea typeface="Poppins"/>
                <a:cs typeface="Poppins"/>
                <a:sym typeface="Poppins"/>
              </a:rPr>
              <a:t> contempla las interacciones de tres roles de usuario principales (Cliente, Vendedor y Administrador) y servicios externos integrados. El modelo C4 representa el alcance completo de la plataforma, detallando el frontend, backend, la base de datos y las integraciones externas. Cabe aclarar que las operaciones logísticas externas de paquetería y manufactura no forman parte del alcance directo del sistema, limitándose la plataforma al registro de guías de envío y actualización de estados del pedido.</a:t>
            </a:r>
            <a:endParaRPr sz="1200">
              <a:solidFill>
                <a:schemeClr val="dk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0"/>
          <p:cNvSpPr txBox="1"/>
          <p:nvPr/>
        </p:nvSpPr>
        <p:spPr>
          <a:xfrm>
            <a:off x="1020150" y="1007225"/>
            <a:ext cx="5735700" cy="1074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2.2 Diagrama de contexto (N2)</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sistema LitlleStyle como “caja negra”, usuarios y sistemas externos.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Vendedor</a:t>
            </a:r>
            <a:endParaRPr sz="1200">
              <a:solidFill>
                <a:schemeClr val="dk1"/>
              </a:solidFill>
              <a:latin typeface="Poppins"/>
              <a:ea typeface="Poppins"/>
              <a:cs typeface="Poppins"/>
              <a:sym typeface="Poppins"/>
            </a:endParaRPr>
          </a:p>
        </p:txBody>
      </p:sp>
      <p:sp>
        <p:nvSpPr>
          <p:cNvPr id="66" name="Google Shape;66;p10"/>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 name="Google Shape;67;p10"/>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8" name="Google Shape;68;p10"/>
          <p:cNvSpPr/>
          <p:nvPr/>
        </p:nvSpPr>
        <p:spPr>
          <a:xfrm>
            <a:off x="1316999" y="2785325"/>
            <a:ext cx="1725000" cy="11334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2A7E07"/>
                </a:solidFill>
                <a:latin typeface="Poppins"/>
                <a:ea typeface="Poppins"/>
                <a:cs typeface="Poppins"/>
                <a:sym typeface="Poppins"/>
              </a:rPr>
              <a:t>Vendedor</a:t>
            </a:r>
            <a:r>
              <a:rPr b="1" lang="es" sz="1200">
                <a:solidFill>
                  <a:srgbClr val="2A7E07"/>
                </a:solidFill>
                <a:latin typeface="Poppins"/>
                <a:ea typeface="Poppins"/>
                <a:cs typeface="Poppins"/>
                <a:sym typeface="Poppins"/>
              </a:rPr>
              <a:t> </a:t>
            </a:r>
            <a:endParaRPr b="1" sz="1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600">
                <a:solidFill>
                  <a:srgbClr val="2A7E07"/>
                </a:solidFill>
                <a:latin typeface="Poppins"/>
                <a:ea typeface="Poppins"/>
                <a:cs typeface="Poppins"/>
                <a:sym typeface="Poppins"/>
              </a:rPr>
              <a:t>[Persona]</a:t>
            </a:r>
            <a:endParaRPr sz="6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Worker de negocio encargado de administrar el catálogo de ropa infantil, gestionar el stock, definir alertas de inventario y consultar reportes. </a:t>
            </a:r>
            <a:endParaRPr>
              <a:solidFill>
                <a:srgbClr val="434343"/>
              </a:solidFill>
            </a:endParaRPr>
          </a:p>
        </p:txBody>
      </p:sp>
      <p:sp>
        <p:nvSpPr>
          <p:cNvPr id="69" name="Google Shape;69;p10"/>
          <p:cNvSpPr/>
          <p:nvPr/>
        </p:nvSpPr>
        <p:spPr>
          <a:xfrm>
            <a:off x="1873810" y="2251251"/>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0"/>
          <p:cNvSpPr/>
          <p:nvPr/>
        </p:nvSpPr>
        <p:spPr>
          <a:xfrm>
            <a:off x="1147210" y="5108951"/>
            <a:ext cx="2064600" cy="1133400"/>
          </a:xfrm>
          <a:prstGeom prst="roundRect">
            <a:avLst>
              <a:gd fmla="val 6867" name="adj"/>
            </a:avLst>
          </a:prstGeom>
          <a:noFill/>
          <a:ln cap="flat" cmpd="sng" w="28575">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LittleStyle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[Sistema de Software]</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5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Plataforma e-commerce web que provee panel de vendedor, gestión de stock, alertas automáticas y generación de métricas de venta.</a:t>
            </a:r>
            <a:endParaRPr sz="700">
              <a:solidFill>
                <a:srgbClr val="434343"/>
              </a:solidFill>
            </a:endParaRPr>
          </a:p>
        </p:txBody>
      </p:sp>
      <p:sp>
        <p:nvSpPr>
          <p:cNvPr id="71" name="Google Shape;71;p10"/>
          <p:cNvSpPr/>
          <p:nvPr/>
        </p:nvSpPr>
        <p:spPr>
          <a:xfrm>
            <a:off x="4628705" y="4119926"/>
            <a:ext cx="2000100" cy="11334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 Gmail</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a:t>
            </a:r>
            <a:endParaRPr sz="7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434343"/>
                </a:solidFill>
                <a:latin typeface="Poppins"/>
                <a:ea typeface="Poppins"/>
                <a:cs typeface="Poppins"/>
                <a:sym typeface="Poppins"/>
              </a:rPr>
              <a:t>Servicio en la nube que gestiona el envío de notificaciones de stock bajo/reabastecimiento y aviso de nuevos pedidos al vendedor.</a:t>
            </a:r>
            <a:endParaRPr sz="700">
              <a:solidFill>
                <a:srgbClr val="434343"/>
              </a:solidFill>
              <a:latin typeface="Poppins"/>
              <a:ea typeface="Poppins"/>
              <a:cs typeface="Poppins"/>
              <a:sym typeface="Poppins"/>
            </a:endParaRPr>
          </a:p>
        </p:txBody>
      </p:sp>
      <p:cxnSp>
        <p:nvCxnSpPr>
          <p:cNvPr id="72" name="Google Shape;72;p10"/>
          <p:cNvCxnSpPr>
            <a:stCxn id="71" idx="0"/>
            <a:endCxn id="68" idx="3"/>
          </p:cNvCxnSpPr>
          <p:nvPr/>
        </p:nvCxnSpPr>
        <p:spPr>
          <a:xfrm flipH="1" rot="5400000">
            <a:off x="3951305" y="2442476"/>
            <a:ext cx="768000" cy="2586900"/>
          </a:xfrm>
          <a:prstGeom prst="bentConnector2">
            <a:avLst/>
          </a:prstGeom>
          <a:noFill/>
          <a:ln cap="flat" cmpd="sng" w="19050">
            <a:solidFill>
              <a:srgbClr val="434343"/>
            </a:solidFill>
            <a:prstDash val="dash"/>
            <a:round/>
            <a:headEnd len="med" w="med" type="none"/>
            <a:tailEnd len="med" w="med" type="triangle"/>
          </a:ln>
        </p:spPr>
      </p:cxnSp>
      <p:sp>
        <p:nvSpPr>
          <p:cNvPr id="73" name="Google Shape;73;p10"/>
          <p:cNvSpPr txBox="1"/>
          <p:nvPr/>
        </p:nvSpPr>
        <p:spPr>
          <a:xfrm>
            <a:off x="4218875" y="3119451"/>
            <a:ext cx="10092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alertas de stock bajo y aviso de nuevos pedidos</a:t>
            </a:r>
            <a:endParaRPr sz="1000">
              <a:highlight>
                <a:srgbClr val="FFFFFF"/>
              </a:highlight>
              <a:latin typeface="Poppins"/>
              <a:ea typeface="Poppins"/>
              <a:cs typeface="Poppins"/>
              <a:sym typeface="Poppins"/>
            </a:endParaRPr>
          </a:p>
        </p:txBody>
      </p:sp>
      <p:cxnSp>
        <p:nvCxnSpPr>
          <p:cNvPr id="74" name="Google Shape;74;p10"/>
          <p:cNvCxnSpPr>
            <a:stCxn id="68" idx="2"/>
            <a:endCxn id="70" idx="0"/>
          </p:cNvCxnSpPr>
          <p:nvPr/>
        </p:nvCxnSpPr>
        <p:spPr>
          <a:xfrm flipH="1" rot="-5400000">
            <a:off x="1584749" y="4513475"/>
            <a:ext cx="11901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75" name="Google Shape;75;p10"/>
          <p:cNvSpPr txBox="1"/>
          <p:nvPr/>
        </p:nvSpPr>
        <p:spPr>
          <a:xfrm>
            <a:off x="1417961" y="4233876"/>
            <a:ext cx="15237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Publica prendas, actualiza inventario y consulta reportes</a:t>
            </a:r>
            <a:endParaRPr sz="1000">
              <a:highlight>
                <a:srgbClr val="FFFFFF"/>
              </a:highlight>
              <a:latin typeface="Poppins"/>
              <a:ea typeface="Poppins"/>
              <a:cs typeface="Poppins"/>
              <a:sym typeface="Poppins"/>
            </a:endParaRPr>
          </a:p>
        </p:txBody>
      </p:sp>
      <p:cxnSp>
        <p:nvCxnSpPr>
          <p:cNvPr id="76" name="Google Shape;76;p10"/>
          <p:cNvCxnSpPr>
            <a:stCxn id="70" idx="3"/>
            <a:endCxn id="71" idx="1"/>
          </p:cNvCxnSpPr>
          <p:nvPr/>
        </p:nvCxnSpPr>
        <p:spPr>
          <a:xfrm flipH="1" rot="10800000">
            <a:off x="3211810" y="4686551"/>
            <a:ext cx="1416900" cy="989100"/>
          </a:xfrm>
          <a:prstGeom prst="bentConnector3">
            <a:avLst>
              <a:gd fmla="val 50000" name="adj1"/>
            </a:avLst>
          </a:prstGeom>
          <a:noFill/>
          <a:ln cap="flat" cmpd="sng" w="19050">
            <a:solidFill>
              <a:srgbClr val="434343"/>
            </a:solidFill>
            <a:prstDash val="dash"/>
            <a:round/>
            <a:headEnd len="med" w="med" type="none"/>
            <a:tailEnd len="med" w="med" type="triangle"/>
          </a:ln>
        </p:spPr>
      </p:cxnSp>
      <p:sp>
        <p:nvSpPr>
          <p:cNvPr id="77" name="Google Shape;77;p10"/>
          <p:cNvSpPr txBox="1"/>
          <p:nvPr/>
        </p:nvSpPr>
        <p:spPr>
          <a:xfrm>
            <a:off x="3384740" y="4940094"/>
            <a:ext cx="10695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Solicita envío de alertas y notificaciones</a:t>
            </a:r>
            <a:endParaRPr sz="1000">
              <a:highlight>
                <a:srgbClr val="FFFFFF"/>
              </a:highlight>
              <a:latin typeface="Poppins"/>
              <a:ea typeface="Poppins"/>
              <a:cs typeface="Poppins"/>
              <a:sym typeface="Poppins"/>
            </a:endParaRPr>
          </a:p>
        </p:txBody>
      </p:sp>
      <p:sp>
        <p:nvSpPr>
          <p:cNvPr id="78" name="Google Shape;78;p10"/>
          <p:cNvSpPr/>
          <p:nvPr/>
        </p:nvSpPr>
        <p:spPr>
          <a:xfrm>
            <a:off x="3136200" y="5688275"/>
            <a:ext cx="756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0"/>
          <p:cNvSpPr txBox="1"/>
          <p:nvPr/>
        </p:nvSpPr>
        <p:spPr>
          <a:xfrm>
            <a:off x="1020150" y="6442975"/>
            <a:ext cx="5735700" cy="1074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2.3 Diagrama de contexto (N3)</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sistema LitlleStyle como “caja negra”, usuarios y sistemas externos.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Administrador</a:t>
            </a:r>
            <a:endParaRPr sz="1200">
              <a:solidFill>
                <a:schemeClr val="dk1"/>
              </a:solidFill>
              <a:latin typeface="Poppins"/>
              <a:ea typeface="Poppins"/>
              <a:cs typeface="Poppins"/>
              <a:sym typeface="Poppins"/>
            </a:endParaRPr>
          </a:p>
        </p:txBody>
      </p:sp>
      <p:sp>
        <p:nvSpPr>
          <p:cNvPr id="80" name="Google Shape;80;p10"/>
          <p:cNvSpPr/>
          <p:nvPr/>
        </p:nvSpPr>
        <p:spPr>
          <a:xfrm>
            <a:off x="1316999" y="8157087"/>
            <a:ext cx="1725000" cy="11334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2A7E07"/>
                </a:solidFill>
                <a:latin typeface="Poppins"/>
                <a:ea typeface="Poppins"/>
                <a:cs typeface="Poppins"/>
                <a:sym typeface="Poppins"/>
              </a:rPr>
              <a:t>Administrador</a:t>
            </a:r>
            <a:r>
              <a:rPr b="1" lang="es" sz="1200">
                <a:solidFill>
                  <a:srgbClr val="2A7E07"/>
                </a:solidFill>
                <a:latin typeface="Poppins"/>
                <a:ea typeface="Poppins"/>
                <a:cs typeface="Poppins"/>
                <a:sym typeface="Poppins"/>
              </a:rPr>
              <a:t> </a:t>
            </a:r>
            <a:endParaRPr b="1" sz="1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600">
                <a:solidFill>
                  <a:srgbClr val="2A7E07"/>
                </a:solidFill>
                <a:latin typeface="Poppins"/>
                <a:ea typeface="Poppins"/>
                <a:cs typeface="Poppins"/>
                <a:sym typeface="Poppins"/>
              </a:rPr>
              <a:t>[Persona]</a:t>
            </a:r>
            <a:endParaRPr sz="6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200">
              <a:solidFill>
                <a:srgbClr val="2A7E07"/>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Personal interno encargado de moderar usuarios y publicaciones, gestionar categorías generales y supervisar métricas globales del sistema.</a:t>
            </a:r>
            <a:endParaRPr>
              <a:solidFill>
                <a:srgbClr val="434343"/>
              </a:solidFill>
            </a:endParaRPr>
          </a:p>
        </p:txBody>
      </p:sp>
      <p:sp>
        <p:nvSpPr>
          <p:cNvPr id="81" name="Google Shape;81;p10"/>
          <p:cNvSpPr/>
          <p:nvPr/>
        </p:nvSpPr>
        <p:spPr>
          <a:xfrm>
            <a:off x="1873810" y="7623013"/>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0"/>
          <p:cNvSpPr/>
          <p:nvPr/>
        </p:nvSpPr>
        <p:spPr>
          <a:xfrm>
            <a:off x="1147210" y="10480713"/>
            <a:ext cx="2064600" cy="1133400"/>
          </a:xfrm>
          <a:prstGeom prst="roundRect">
            <a:avLst>
              <a:gd fmla="val 6867" name="adj"/>
            </a:avLst>
          </a:prstGeom>
          <a:noFill/>
          <a:ln cap="flat" cmpd="sng" w="28575">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LittleStyle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[Sistema de Software]</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t/>
            </a:r>
            <a:endParaRPr sz="500">
              <a:solidFill>
                <a:srgbClr val="156CBE"/>
              </a:solidFill>
              <a:latin typeface="Poppins"/>
              <a:ea typeface="Poppins"/>
              <a:cs typeface="Poppins"/>
              <a:sym typeface="Poppins"/>
            </a:endParaRPr>
          </a:p>
          <a:p>
            <a:pPr indent="0" lvl="0" marL="0" rtl="0" algn="ctr">
              <a:lnSpc>
                <a:spcPct val="90000"/>
              </a:lnSpc>
              <a:spcBef>
                <a:spcPts val="0"/>
              </a:spcBef>
              <a:spcAft>
                <a:spcPts val="0"/>
              </a:spcAft>
              <a:buClr>
                <a:schemeClr val="dk1"/>
              </a:buClr>
              <a:buSzPts val="1100"/>
              <a:buFont typeface="Arial"/>
              <a:buNone/>
            </a:pPr>
            <a:r>
              <a:rPr lang="es" sz="700">
                <a:solidFill>
                  <a:srgbClr val="434343"/>
                </a:solidFill>
                <a:latin typeface="Poppins"/>
                <a:ea typeface="Poppins"/>
                <a:cs typeface="Poppins"/>
                <a:sym typeface="Poppins"/>
              </a:rPr>
              <a:t>Plataforma e-commerce web que provee panel de administración centralizado, control de accesos y analítica global de la operación.</a:t>
            </a:r>
            <a:endParaRPr sz="700">
              <a:solidFill>
                <a:srgbClr val="434343"/>
              </a:solidFill>
            </a:endParaRPr>
          </a:p>
        </p:txBody>
      </p:sp>
      <p:sp>
        <p:nvSpPr>
          <p:cNvPr id="83" name="Google Shape;83;p10"/>
          <p:cNvSpPr/>
          <p:nvPr/>
        </p:nvSpPr>
        <p:spPr>
          <a:xfrm>
            <a:off x="4628705" y="9491688"/>
            <a:ext cx="2000100" cy="11334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 Gmail</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a:t>
            </a:r>
            <a:endParaRPr sz="7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t/>
            </a:r>
            <a:endParaRPr sz="700">
              <a:solidFill>
                <a:srgbClr val="156CBE"/>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434343"/>
                </a:solidFill>
                <a:latin typeface="Poppins"/>
                <a:ea typeface="Poppins"/>
                <a:cs typeface="Poppins"/>
                <a:sym typeface="Poppins"/>
              </a:rPr>
              <a:t>Servicio en la nube que gestiona el envío de avisos de moderación de cuentas y notificaciones administrativas del sistema.</a:t>
            </a:r>
            <a:endParaRPr sz="700">
              <a:solidFill>
                <a:srgbClr val="434343"/>
              </a:solidFill>
              <a:latin typeface="Poppins"/>
              <a:ea typeface="Poppins"/>
              <a:cs typeface="Poppins"/>
              <a:sym typeface="Poppins"/>
            </a:endParaRPr>
          </a:p>
        </p:txBody>
      </p:sp>
      <p:cxnSp>
        <p:nvCxnSpPr>
          <p:cNvPr id="84" name="Google Shape;84;p10"/>
          <p:cNvCxnSpPr>
            <a:stCxn id="83" idx="0"/>
            <a:endCxn id="80" idx="3"/>
          </p:cNvCxnSpPr>
          <p:nvPr/>
        </p:nvCxnSpPr>
        <p:spPr>
          <a:xfrm flipH="1" rot="5400000">
            <a:off x="3951305" y="7814238"/>
            <a:ext cx="768000" cy="2586900"/>
          </a:xfrm>
          <a:prstGeom prst="bentConnector2">
            <a:avLst/>
          </a:prstGeom>
          <a:noFill/>
          <a:ln cap="flat" cmpd="sng" w="19050">
            <a:solidFill>
              <a:srgbClr val="434343"/>
            </a:solidFill>
            <a:prstDash val="dash"/>
            <a:round/>
            <a:headEnd len="med" w="med" type="none"/>
            <a:tailEnd len="med" w="med" type="triangle"/>
          </a:ln>
        </p:spPr>
      </p:cxnSp>
      <p:sp>
        <p:nvSpPr>
          <p:cNvPr id="85" name="Google Shape;85;p10"/>
          <p:cNvSpPr txBox="1"/>
          <p:nvPr/>
        </p:nvSpPr>
        <p:spPr>
          <a:xfrm>
            <a:off x="4218875" y="8491213"/>
            <a:ext cx="10092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reportes de sistema y alertas administrativas</a:t>
            </a:r>
            <a:endParaRPr sz="1000">
              <a:highlight>
                <a:srgbClr val="FFFFFF"/>
              </a:highlight>
              <a:latin typeface="Poppins"/>
              <a:ea typeface="Poppins"/>
              <a:cs typeface="Poppins"/>
              <a:sym typeface="Poppins"/>
            </a:endParaRPr>
          </a:p>
        </p:txBody>
      </p:sp>
      <p:cxnSp>
        <p:nvCxnSpPr>
          <p:cNvPr id="86" name="Google Shape;86;p10"/>
          <p:cNvCxnSpPr>
            <a:stCxn id="80" idx="2"/>
            <a:endCxn id="82" idx="0"/>
          </p:cNvCxnSpPr>
          <p:nvPr/>
        </p:nvCxnSpPr>
        <p:spPr>
          <a:xfrm flipH="1" rot="-5400000">
            <a:off x="1584749" y="9885237"/>
            <a:ext cx="11901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87" name="Google Shape;87;p10"/>
          <p:cNvSpPr txBox="1"/>
          <p:nvPr/>
        </p:nvSpPr>
        <p:spPr>
          <a:xfrm>
            <a:off x="1417961" y="9605638"/>
            <a:ext cx="1523700" cy="4155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Gestiona cuentas, modera catálogo y analiza dashboards</a:t>
            </a:r>
            <a:endParaRPr sz="1000">
              <a:highlight>
                <a:srgbClr val="FFFFFF"/>
              </a:highlight>
              <a:latin typeface="Poppins"/>
              <a:ea typeface="Poppins"/>
              <a:cs typeface="Poppins"/>
              <a:sym typeface="Poppins"/>
            </a:endParaRPr>
          </a:p>
        </p:txBody>
      </p:sp>
      <p:cxnSp>
        <p:nvCxnSpPr>
          <p:cNvPr id="88" name="Google Shape;88;p10"/>
          <p:cNvCxnSpPr>
            <a:stCxn id="82" idx="3"/>
            <a:endCxn id="83" idx="1"/>
          </p:cNvCxnSpPr>
          <p:nvPr/>
        </p:nvCxnSpPr>
        <p:spPr>
          <a:xfrm flipH="1" rot="10800000">
            <a:off x="3211810" y="10058313"/>
            <a:ext cx="1416900" cy="989100"/>
          </a:xfrm>
          <a:prstGeom prst="bentConnector3">
            <a:avLst>
              <a:gd fmla="val 50000" name="adj1"/>
            </a:avLst>
          </a:prstGeom>
          <a:noFill/>
          <a:ln cap="flat" cmpd="sng" w="19050">
            <a:solidFill>
              <a:srgbClr val="434343"/>
            </a:solidFill>
            <a:prstDash val="dash"/>
            <a:round/>
            <a:headEnd len="med" w="med" type="none"/>
            <a:tailEnd len="med" w="med" type="triangle"/>
          </a:ln>
        </p:spPr>
      </p:cxnSp>
      <p:sp>
        <p:nvSpPr>
          <p:cNvPr id="89" name="Google Shape;89;p10"/>
          <p:cNvSpPr txBox="1"/>
          <p:nvPr/>
        </p:nvSpPr>
        <p:spPr>
          <a:xfrm>
            <a:off x="3384740" y="10311856"/>
            <a:ext cx="10695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Solicita envío de avisos de moderación y reportes</a:t>
            </a:r>
            <a:endParaRPr sz="1000">
              <a:highlight>
                <a:srgbClr val="FFFFFF"/>
              </a:highlight>
              <a:latin typeface="Poppins"/>
              <a:ea typeface="Poppins"/>
              <a:cs typeface="Poppins"/>
              <a:sym typeface="Poppins"/>
            </a:endParaRPr>
          </a:p>
        </p:txBody>
      </p:sp>
      <p:sp>
        <p:nvSpPr>
          <p:cNvPr id="90" name="Google Shape;90;p10"/>
          <p:cNvSpPr/>
          <p:nvPr/>
        </p:nvSpPr>
        <p:spPr>
          <a:xfrm>
            <a:off x="3136200" y="11060038"/>
            <a:ext cx="75600" cy="5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1"/>
          <p:cNvSpPr txBox="1"/>
          <p:nvPr/>
        </p:nvSpPr>
        <p:spPr>
          <a:xfrm>
            <a:off x="1021200" y="1017250"/>
            <a:ext cx="5735700" cy="12981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2.4 Diagrama de contenedores (N1)</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“qué partes ejecutables” tiene el sistema LittleStyle (web, API, BD, app móvil, colas, etc.).</a:t>
            </a:r>
            <a:endParaRPr sz="1200">
              <a:solidFill>
                <a:schemeClr val="dk1"/>
              </a:solidFill>
              <a:latin typeface="Poppins"/>
              <a:ea typeface="Poppins"/>
              <a:cs typeface="Poppins"/>
              <a:sym typeface="Poppins"/>
            </a:endParaRPr>
          </a:p>
          <a:p>
            <a:pPr indent="0" lvl="0" marL="0" rtl="0" algn="just">
              <a:spcBef>
                <a:spcPts val="300"/>
              </a:spcBef>
              <a:spcAft>
                <a:spcPts val="0"/>
              </a:spcAft>
              <a:buNone/>
            </a:pPr>
            <a:r>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Cliente(Padre,madre o acudiente)</a:t>
            </a:r>
            <a:endParaRPr sz="1200">
              <a:solidFill>
                <a:schemeClr val="dk1"/>
              </a:solidFill>
              <a:latin typeface="Poppins"/>
              <a:ea typeface="Poppins"/>
              <a:cs typeface="Poppins"/>
              <a:sym typeface="Poppins"/>
            </a:endParaRPr>
          </a:p>
        </p:txBody>
      </p:sp>
      <p:sp>
        <p:nvSpPr>
          <p:cNvPr id="96" name="Google Shape;96;p11"/>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7" name="Google Shape;97;p11"/>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8" name="Google Shape;98;p11"/>
          <p:cNvSpPr/>
          <p:nvPr/>
        </p:nvSpPr>
        <p:spPr>
          <a:xfrm>
            <a:off x="2370263" y="2812613"/>
            <a:ext cx="1121100" cy="6120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None/>
            </a:pPr>
            <a:r>
              <a:rPr b="1" lang="es" sz="1200">
                <a:solidFill>
                  <a:srgbClr val="2A7E07"/>
                </a:solidFill>
                <a:latin typeface="Poppins"/>
                <a:ea typeface="Poppins"/>
                <a:cs typeface="Poppins"/>
                <a:sym typeface="Poppins"/>
              </a:rPr>
              <a:t>Cliente</a:t>
            </a:r>
            <a:endParaRPr>
              <a:solidFill>
                <a:srgbClr val="434343"/>
              </a:solidFill>
            </a:endParaRPr>
          </a:p>
        </p:txBody>
      </p:sp>
      <p:sp>
        <p:nvSpPr>
          <p:cNvPr id="99" name="Google Shape;99;p11"/>
          <p:cNvSpPr/>
          <p:nvPr/>
        </p:nvSpPr>
        <p:spPr>
          <a:xfrm>
            <a:off x="2625200" y="2315351"/>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1"/>
          <p:cNvSpPr/>
          <p:nvPr/>
        </p:nvSpPr>
        <p:spPr>
          <a:xfrm>
            <a:off x="5527088" y="3604188"/>
            <a:ext cx="1220400" cy="7446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 Gmail]</a:t>
            </a:r>
            <a:endParaRPr sz="700">
              <a:solidFill>
                <a:srgbClr val="434343"/>
              </a:solidFill>
              <a:latin typeface="Poppins"/>
              <a:ea typeface="Poppins"/>
              <a:cs typeface="Poppins"/>
              <a:sym typeface="Poppins"/>
            </a:endParaRPr>
          </a:p>
        </p:txBody>
      </p:sp>
      <p:sp>
        <p:nvSpPr>
          <p:cNvPr id="101" name="Google Shape;101;p11"/>
          <p:cNvSpPr/>
          <p:nvPr/>
        </p:nvSpPr>
        <p:spPr>
          <a:xfrm>
            <a:off x="4925913" y="5544557"/>
            <a:ext cx="1220400" cy="744600"/>
          </a:xfrm>
          <a:prstGeom prst="roundRect">
            <a:avLst>
              <a:gd fmla="val 6867" name="adj"/>
            </a:avLst>
          </a:prstGeom>
          <a:noFill/>
          <a:ln cap="flat" cmpd="sng" w="28575">
            <a:solidFill>
              <a:srgbClr val="EE8F1D"/>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EE8F1D"/>
                </a:solidFill>
                <a:latin typeface="Poppins"/>
                <a:ea typeface="Poppins"/>
                <a:cs typeface="Poppins"/>
                <a:sym typeface="Poppins"/>
              </a:rPr>
              <a:t>Pasarela de Pagos</a:t>
            </a:r>
            <a:endParaRPr b="1" sz="1200">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EE8F1D"/>
                </a:solidFill>
                <a:latin typeface="Poppins"/>
                <a:ea typeface="Poppins"/>
                <a:cs typeface="Poppins"/>
                <a:sym typeface="Poppins"/>
              </a:rPr>
              <a:t>[Sistema de Software:Wompi]</a:t>
            </a:r>
            <a:endParaRPr b="1" sz="1200">
              <a:solidFill>
                <a:srgbClr val="156CBE"/>
              </a:solidFill>
              <a:latin typeface="Poppins"/>
              <a:ea typeface="Poppins"/>
              <a:cs typeface="Poppins"/>
              <a:sym typeface="Poppins"/>
            </a:endParaRPr>
          </a:p>
        </p:txBody>
      </p:sp>
      <p:sp>
        <p:nvSpPr>
          <p:cNvPr id="102" name="Google Shape;102;p11"/>
          <p:cNvSpPr/>
          <p:nvPr/>
        </p:nvSpPr>
        <p:spPr>
          <a:xfrm>
            <a:off x="1021200" y="4375475"/>
            <a:ext cx="3410100" cy="5523300"/>
          </a:xfrm>
          <a:prstGeom prst="roundRect">
            <a:avLst>
              <a:gd fmla="val 3417" name="adj"/>
            </a:avLst>
          </a:prstGeom>
          <a:noFill/>
          <a:ln cap="flat" cmpd="sng" w="28575">
            <a:solidFill>
              <a:srgbClr val="1B6FC0"/>
            </a:solidFill>
            <a:prstDash val="solid"/>
            <a:round/>
            <a:headEnd len="sm" w="sm" type="none"/>
            <a:tailEnd len="sm" w="sm" type="none"/>
          </a:ln>
        </p:spPr>
        <p:txBody>
          <a:bodyPr anchorCtr="0" anchor="b" bIns="72000" lIns="72000" spcFirstLastPara="1" rIns="36000" wrap="square" tIns="36000">
            <a:noAutofit/>
          </a:bodyPr>
          <a:lstStyle/>
          <a:p>
            <a:pPr indent="0" lvl="0" marL="0" rtl="0" algn="l">
              <a:lnSpc>
                <a:spcPct val="90000"/>
              </a:lnSpc>
              <a:spcBef>
                <a:spcPts val="0"/>
              </a:spcBef>
              <a:spcAft>
                <a:spcPts val="0"/>
              </a:spcAft>
              <a:buNone/>
            </a:pPr>
            <a:r>
              <a:rPr b="1" lang="es" sz="1000">
                <a:solidFill>
                  <a:srgbClr val="156CBE"/>
                </a:solidFill>
                <a:latin typeface="Poppins"/>
                <a:ea typeface="Poppins"/>
                <a:cs typeface="Poppins"/>
                <a:sym typeface="Poppins"/>
              </a:rPr>
              <a:t>Sistema de Comercio Electrónico LittleStyle </a:t>
            </a:r>
            <a:endParaRPr sz="1000">
              <a:solidFill>
                <a:srgbClr val="434343"/>
              </a:solidFill>
            </a:endParaRPr>
          </a:p>
        </p:txBody>
      </p:sp>
      <p:grpSp>
        <p:nvGrpSpPr>
          <p:cNvPr id="103" name="Google Shape;103;p11"/>
          <p:cNvGrpSpPr/>
          <p:nvPr/>
        </p:nvGrpSpPr>
        <p:grpSpPr>
          <a:xfrm>
            <a:off x="2396063" y="4690138"/>
            <a:ext cx="1069500" cy="651750"/>
            <a:chOff x="1301400" y="5354400"/>
            <a:chExt cx="1069500" cy="651750"/>
          </a:xfrm>
        </p:grpSpPr>
        <p:sp>
          <p:nvSpPr>
            <p:cNvPr id="104" name="Google Shape;104;p11"/>
            <p:cNvSpPr/>
            <p:nvPr/>
          </p:nvSpPr>
          <p:spPr>
            <a:xfrm>
              <a:off x="1301400" y="5408250"/>
              <a:ext cx="1069500" cy="5979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156CBE"/>
                  </a:solidFill>
                  <a:latin typeface="Poppins"/>
                  <a:ea typeface="Poppins"/>
                  <a:cs typeface="Poppins"/>
                  <a:sym typeface="Poppins"/>
                </a:rPr>
                <a:t>Web App</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a:t>
              </a:r>
              <a:r>
                <a:rPr lang="es" sz="700">
                  <a:solidFill>
                    <a:srgbClr val="156CBE"/>
                  </a:solidFill>
                  <a:latin typeface="Poppins"/>
                  <a:ea typeface="Poppins"/>
                  <a:cs typeface="Poppins"/>
                  <a:sym typeface="Poppins"/>
                </a:rPr>
                <a:t>Angular SPA</a:t>
              </a:r>
              <a:r>
                <a:rPr lang="es" sz="700">
                  <a:solidFill>
                    <a:srgbClr val="156CBE"/>
                  </a:solidFill>
                  <a:latin typeface="Poppins"/>
                  <a:ea typeface="Poppins"/>
                  <a:cs typeface="Poppins"/>
                  <a:sym typeface="Poppins"/>
                </a:rPr>
                <a:t>]</a:t>
              </a:r>
              <a:endParaRPr sz="700">
                <a:solidFill>
                  <a:srgbClr val="434343"/>
                </a:solidFill>
              </a:endParaRPr>
            </a:p>
          </p:txBody>
        </p:sp>
        <p:sp>
          <p:nvSpPr>
            <p:cNvPr id="105" name="Google Shape;105;p11"/>
            <p:cNvSpPr/>
            <p:nvPr/>
          </p:nvSpPr>
          <p:spPr>
            <a:xfrm>
              <a:off x="1301400" y="5354400"/>
              <a:ext cx="1069500" cy="88500"/>
            </a:xfrm>
            <a:prstGeom prst="roundRect">
              <a:avLst>
                <a:gd fmla="val 27950" name="adj"/>
              </a:avLst>
            </a:prstGeom>
            <a:solidFill>
              <a:srgbClr val="1B6FC0"/>
            </a:solid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l">
                <a:lnSpc>
                  <a:spcPct val="90000"/>
                </a:lnSpc>
                <a:spcBef>
                  <a:spcPts val="200"/>
                </a:spcBef>
                <a:spcAft>
                  <a:spcPts val="0"/>
                </a:spcAft>
                <a:buNone/>
              </a:pPr>
              <a:r>
                <a:t/>
              </a:r>
              <a:endParaRPr sz="700">
                <a:solidFill>
                  <a:srgbClr val="434343"/>
                </a:solidFill>
              </a:endParaRPr>
            </a:p>
          </p:txBody>
        </p:sp>
        <p:sp>
          <p:nvSpPr>
            <p:cNvPr id="106" name="Google Shape;106;p11"/>
            <p:cNvSpPr/>
            <p:nvPr/>
          </p:nvSpPr>
          <p:spPr>
            <a:xfrm>
              <a:off x="133827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1"/>
            <p:cNvSpPr/>
            <p:nvPr/>
          </p:nvSpPr>
          <p:spPr>
            <a:xfrm>
              <a:off x="1413100"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1"/>
            <p:cNvSpPr/>
            <p:nvPr/>
          </p:nvSpPr>
          <p:spPr>
            <a:xfrm>
              <a:off x="148792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1"/>
            <p:cNvSpPr/>
            <p:nvPr/>
          </p:nvSpPr>
          <p:spPr>
            <a:xfrm>
              <a:off x="1616975" y="5371650"/>
              <a:ext cx="722400" cy="54000"/>
            </a:xfrm>
            <a:prstGeom prst="roundRect">
              <a:avLst>
                <a:gd fmla="val 50000"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10" name="Google Shape;110;p11"/>
          <p:cNvGrpSpPr/>
          <p:nvPr/>
        </p:nvGrpSpPr>
        <p:grpSpPr>
          <a:xfrm>
            <a:off x="2396438" y="6491739"/>
            <a:ext cx="1069500" cy="679800"/>
            <a:chOff x="1389800" y="5461500"/>
            <a:chExt cx="1069500" cy="679800"/>
          </a:xfrm>
        </p:grpSpPr>
        <p:sp>
          <p:nvSpPr>
            <p:cNvPr id="111" name="Google Shape;111;p11"/>
            <p:cNvSpPr/>
            <p:nvPr/>
          </p:nvSpPr>
          <p:spPr>
            <a:xfrm>
              <a:off x="1389800" y="5461500"/>
              <a:ext cx="1069500" cy="6798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Backend</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a:t>
              </a:r>
              <a:r>
                <a:rPr lang="es" sz="700">
                  <a:solidFill>
                    <a:srgbClr val="156CBE"/>
                  </a:solidFill>
                  <a:latin typeface="Poppins"/>
                  <a:ea typeface="Poppins"/>
                  <a:cs typeface="Poppins"/>
                  <a:sym typeface="Poppins"/>
                </a:rPr>
                <a:t>Java (Spring Boot)</a:t>
              </a:r>
              <a:r>
                <a:rPr lang="es" sz="700">
                  <a:solidFill>
                    <a:srgbClr val="156CBE"/>
                  </a:solidFill>
                  <a:latin typeface="Poppins"/>
                  <a:ea typeface="Poppins"/>
                  <a:cs typeface="Poppins"/>
                  <a:sym typeface="Poppins"/>
                </a:rPr>
                <a:t>]</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[Monolito modular]</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[Maven + JWT]</a:t>
              </a:r>
              <a:endParaRPr sz="700">
                <a:solidFill>
                  <a:srgbClr val="156CBE"/>
                </a:solidFill>
                <a:latin typeface="Poppins"/>
                <a:ea typeface="Poppins"/>
                <a:cs typeface="Poppins"/>
                <a:sym typeface="Poppins"/>
              </a:endParaRPr>
            </a:p>
          </p:txBody>
        </p:sp>
        <p:sp>
          <p:nvSpPr>
            <p:cNvPr id="112" name="Google Shape;112;p11"/>
            <p:cNvSpPr txBox="1"/>
            <p:nvPr/>
          </p:nvSpPr>
          <p:spPr>
            <a:xfrm>
              <a:off x="1413974" y="5486400"/>
              <a:ext cx="192300" cy="110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b="1" lang="es" sz="800">
                  <a:solidFill>
                    <a:srgbClr val="156CBE"/>
                  </a:solidFill>
                </a:rPr>
                <a:t>&gt;_</a:t>
              </a:r>
              <a:endParaRPr sz="1000"/>
            </a:p>
          </p:txBody>
        </p:sp>
      </p:grpSp>
      <p:sp>
        <p:nvSpPr>
          <p:cNvPr id="113" name="Google Shape;113;p11"/>
          <p:cNvSpPr/>
          <p:nvPr/>
        </p:nvSpPr>
        <p:spPr>
          <a:xfrm>
            <a:off x="1175401" y="8733375"/>
            <a:ext cx="1009200" cy="6516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Database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MySql]</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[AWS]</a:t>
            </a:r>
            <a:endParaRPr sz="700">
              <a:solidFill>
                <a:srgbClr val="156CBE"/>
              </a:solidFill>
              <a:latin typeface="Poppins"/>
              <a:ea typeface="Poppins"/>
              <a:cs typeface="Poppins"/>
              <a:sym typeface="Poppins"/>
            </a:endParaRPr>
          </a:p>
        </p:txBody>
      </p:sp>
      <p:cxnSp>
        <p:nvCxnSpPr>
          <p:cNvPr id="114" name="Google Shape;114;p11"/>
          <p:cNvCxnSpPr>
            <a:stCxn id="98" idx="2"/>
            <a:endCxn id="105" idx="0"/>
          </p:cNvCxnSpPr>
          <p:nvPr/>
        </p:nvCxnSpPr>
        <p:spPr>
          <a:xfrm flipH="1" rot="-5400000">
            <a:off x="2298413" y="4057013"/>
            <a:ext cx="12654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115" name="Google Shape;115;p11"/>
          <p:cNvSpPr txBox="1"/>
          <p:nvPr/>
        </p:nvSpPr>
        <p:spPr>
          <a:xfrm>
            <a:off x="2041026" y="3543023"/>
            <a:ext cx="1872600" cy="612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Explora productos,gestiona perfiles infantiles, agrega productos y realiza pedidos.</a:t>
            </a:r>
            <a:endParaRPr sz="1000">
              <a:highlight>
                <a:srgbClr val="FFFFFF"/>
              </a:highlight>
              <a:latin typeface="Poppins"/>
              <a:ea typeface="Poppins"/>
              <a:cs typeface="Poppins"/>
              <a:sym typeface="Poppins"/>
            </a:endParaRPr>
          </a:p>
        </p:txBody>
      </p:sp>
      <p:cxnSp>
        <p:nvCxnSpPr>
          <p:cNvPr id="116" name="Google Shape;116;p11"/>
          <p:cNvCxnSpPr>
            <a:stCxn id="100" idx="0"/>
            <a:endCxn id="98" idx="3"/>
          </p:cNvCxnSpPr>
          <p:nvPr/>
        </p:nvCxnSpPr>
        <p:spPr>
          <a:xfrm flipH="1" rot="5400000">
            <a:off x="4571438" y="2038338"/>
            <a:ext cx="485700" cy="2646000"/>
          </a:xfrm>
          <a:prstGeom prst="bentConnector2">
            <a:avLst/>
          </a:prstGeom>
          <a:noFill/>
          <a:ln cap="flat" cmpd="sng" w="19050">
            <a:solidFill>
              <a:srgbClr val="434343"/>
            </a:solidFill>
            <a:prstDash val="dash"/>
            <a:round/>
            <a:headEnd len="med" w="med" type="none"/>
            <a:tailEnd len="med" w="med" type="triangle"/>
          </a:ln>
        </p:spPr>
      </p:cxnSp>
      <p:sp>
        <p:nvSpPr>
          <p:cNvPr id="117" name="Google Shape;117;p11"/>
          <p:cNvSpPr txBox="1"/>
          <p:nvPr/>
        </p:nvSpPr>
        <p:spPr>
          <a:xfrm>
            <a:off x="4200862" y="2841563"/>
            <a:ext cx="1009200" cy="6927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correos electrónicos y mensajes de confirmaciones.</a:t>
            </a:r>
            <a:endParaRPr sz="1000">
              <a:highlight>
                <a:srgbClr val="FFFFFF"/>
              </a:highlight>
              <a:latin typeface="Poppins"/>
              <a:ea typeface="Poppins"/>
              <a:cs typeface="Poppins"/>
              <a:sym typeface="Poppins"/>
            </a:endParaRPr>
          </a:p>
        </p:txBody>
      </p:sp>
      <p:cxnSp>
        <p:nvCxnSpPr>
          <p:cNvPr id="118" name="Google Shape;118;p11"/>
          <p:cNvCxnSpPr>
            <a:stCxn id="104" idx="2"/>
            <a:endCxn id="111" idx="0"/>
          </p:cNvCxnSpPr>
          <p:nvPr/>
        </p:nvCxnSpPr>
        <p:spPr>
          <a:xfrm flipH="1" rot="-5400000">
            <a:off x="2356163" y="5916538"/>
            <a:ext cx="1149900" cy="600"/>
          </a:xfrm>
          <a:prstGeom prst="bentConnector3">
            <a:avLst>
              <a:gd fmla="val 49998" name="adj1"/>
            </a:avLst>
          </a:prstGeom>
          <a:noFill/>
          <a:ln cap="flat" cmpd="sng" w="19050">
            <a:solidFill>
              <a:srgbClr val="434343"/>
            </a:solidFill>
            <a:prstDash val="dash"/>
            <a:round/>
            <a:headEnd len="med" w="med" type="none"/>
            <a:tailEnd len="med" w="med" type="triangle"/>
          </a:ln>
        </p:spPr>
      </p:cxnSp>
      <p:sp>
        <p:nvSpPr>
          <p:cNvPr id="119" name="Google Shape;119;p11"/>
          <p:cNvSpPr txBox="1"/>
          <p:nvPr/>
        </p:nvSpPr>
        <p:spPr>
          <a:xfrm>
            <a:off x="2184588" y="5500238"/>
            <a:ext cx="1478700" cy="4608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llamadas API</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[HTTPS/JSON (REST) / JWT]</a:t>
            </a:r>
            <a:endParaRPr sz="800">
              <a:highlight>
                <a:srgbClr val="FFFFFF"/>
              </a:highlight>
              <a:latin typeface="Poppins"/>
              <a:ea typeface="Poppins"/>
              <a:cs typeface="Poppins"/>
              <a:sym typeface="Poppins"/>
            </a:endParaRPr>
          </a:p>
        </p:txBody>
      </p:sp>
      <p:cxnSp>
        <p:nvCxnSpPr>
          <p:cNvPr id="120" name="Google Shape;120;p11"/>
          <p:cNvCxnSpPr>
            <a:stCxn id="111" idx="1"/>
            <a:endCxn id="113" idx="1"/>
          </p:cNvCxnSpPr>
          <p:nvPr/>
        </p:nvCxnSpPr>
        <p:spPr>
          <a:xfrm flipH="1">
            <a:off x="1680038" y="6831639"/>
            <a:ext cx="716400" cy="1901700"/>
          </a:xfrm>
          <a:prstGeom prst="bentConnector2">
            <a:avLst/>
          </a:prstGeom>
          <a:noFill/>
          <a:ln cap="flat" cmpd="sng" w="19050">
            <a:solidFill>
              <a:srgbClr val="434343"/>
            </a:solidFill>
            <a:prstDash val="dash"/>
            <a:round/>
            <a:headEnd len="med" w="med" type="none"/>
            <a:tailEnd len="med" w="med" type="triangle"/>
          </a:ln>
        </p:spPr>
      </p:cxnSp>
      <p:sp>
        <p:nvSpPr>
          <p:cNvPr id="121" name="Google Shape;121;p11"/>
          <p:cNvSpPr txBox="1"/>
          <p:nvPr/>
        </p:nvSpPr>
        <p:spPr>
          <a:xfrm>
            <a:off x="1032313" y="7615813"/>
            <a:ext cx="1220400" cy="531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Lee y escribe en la base de datos [SQL/JPA] </a:t>
            </a:r>
            <a:endParaRPr sz="800">
              <a:highlight>
                <a:srgbClr val="FFFFFF"/>
              </a:highlight>
              <a:latin typeface="Poppins"/>
              <a:ea typeface="Poppins"/>
              <a:cs typeface="Poppins"/>
              <a:sym typeface="Poppins"/>
            </a:endParaRPr>
          </a:p>
        </p:txBody>
      </p:sp>
      <p:cxnSp>
        <p:nvCxnSpPr>
          <p:cNvPr id="122" name="Google Shape;122;p11"/>
          <p:cNvCxnSpPr>
            <a:stCxn id="111" idx="3"/>
            <a:endCxn id="101" idx="2"/>
          </p:cNvCxnSpPr>
          <p:nvPr/>
        </p:nvCxnSpPr>
        <p:spPr>
          <a:xfrm flipH="1" rot="10800000">
            <a:off x="3465938" y="6289239"/>
            <a:ext cx="2070300" cy="542400"/>
          </a:xfrm>
          <a:prstGeom prst="bentConnector2">
            <a:avLst/>
          </a:prstGeom>
          <a:noFill/>
          <a:ln cap="flat" cmpd="sng" w="19050">
            <a:solidFill>
              <a:srgbClr val="434343"/>
            </a:solidFill>
            <a:prstDash val="dash"/>
            <a:round/>
            <a:headEnd len="med" w="med" type="none"/>
            <a:tailEnd len="med" w="med" type="triangle"/>
          </a:ln>
        </p:spPr>
      </p:cxnSp>
      <p:sp>
        <p:nvSpPr>
          <p:cNvPr id="123" name="Google Shape;123;p11"/>
          <p:cNvSpPr txBox="1"/>
          <p:nvPr/>
        </p:nvSpPr>
        <p:spPr>
          <a:xfrm>
            <a:off x="4517888" y="6410888"/>
            <a:ext cx="1009200" cy="8415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llamadas API a la Pasarela de Pagos usando</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[HTTPS/API de pagos]</a:t>
            </a:r>
            <a:endParaRPr sz="800">
              <a:highlight>
                <a:srgbClr val="FFFFFF"/>
              </a:highlight>
              <a:latin typeface="Poppins"/>
              <a:ea typeface="Poppins"/>
              <a:cs typeface="Poppins"/>
              <a:sym typeface="Poppins"/>
            </a:endParaRPr>
          </a:p>
        </p:txBody>
      </p:sp>
      <p:sp>
        <p:nvSpPr>
          <p:cNvPr id="124" name="Google Shape;124;p11"/>
          <p:cNvSpPr/>
          <p:nvPr/>
        </p:nvSpPr>
        <p:spPr>
          <a:xfrm>
            <a:off x="3338138" y="6491738"/>
            <a:ext cx="127800" cy="13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5" name="Google Shape;125;p11"/>
          <p:cNvCxnSpPr>
            <a:stCxn id="124" idx="3"/>
            <a:endCxn id="100" idx="2"/>
          </p:cNvCxnSpPr>
          <p:nvPr/>
        </p:nvCxnSpPr>
        <p:spPr>
          <a:xfrm flipH="1" rot="10800000">
            <a:off x="3465938" y="4348688"/>
            <a:ext cx="2671500" cy="2209200"/>
          </a:xfrm>
          <a:prstGeom prst="straightConnector1">
            <a:avLst/>
          </a:prstGeom>
          <a:noFill/>
          <a:ln cap="flat" cmpd="sng" w="19050">
            <a:solidFill>
              <a:srgbClr val="434343"/>
            </a:solidFill>
            <a:prstDash val="dash"/>
            <a:round/>
            <a:headEnd len="med" w="med" type="none"/>
            <a:tailEnd len="med" w="med" type="triangle"/>
          </a:ln>
        </p:spPr>
      </p:cxnSp>
      <p:sp>
        <p:nvSpPr>
          <p:cNvPr id="126" name="Google Shape;126;p11"/>
          <p:cNvSpPr txBox="1"/>
          <p:nvPr/>
        </p:nvSpPr>
        <p:spPr>
          <a:xfrm>
            <a:off x="4925913" y="4566213"/>
            <a:ext cx="1571700" cy="6516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solicitudes para generar correos y notificaciones</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[SMTP/TLS]</a:t>
            </a:r>
            <a:endParaRPr sz="800">
              <a:highlight>
                <a:srgbClr val="FFFFFF"/>
              </a:highlight>
              <a:latin typeface="Poppins"/>
              <a:ea typeface="Poppins"/>
              <a:cs typeface="Poppins"/>
              <a:sym typeface="Poppins"/>
            </a:endParaRPr>
          </a:p>
        </p:txBody>
      </p:sp>
      <p:cxnSp>
        <p:nvCxnSpPr>
          <p:cNvPr id="127" name="Google Shape;127;p11"/>
          <p:cNvCxnSpPr>
            <a:stCxn id="101" idx="3"/>
            <a:endCxn id="111" idx="2"/>
          </p:cNvCxnSpPr>
          <p:nvPr/>
        </p:nvCxnSpPr>
        <p:spPr>
          <a:xfrm flipH="1">
            <a:off x="2931213" y="5916857"/>
            <a:ext cx="3215100" cy="1254600"/>
          </a:xfrm>
          <a:prstGeom prst="bentConnector4">
            <a:avLst>
              <a:gd fmla="val -7406" name="adj1"/>
              <a:gd fmla="val 173453" name="adj2"/>
            </a:avLst>
          </a:prstGeom>
          <a:noFill/>
          <a:ln cap="flat" cmpd="sng" w="19050">
            <a:solidFill>
              <a:srgbClr val="434343"/>
            </a:solidFill>
            <a:prstDash val="dash"/>
            <a:round/>
            <a:headEnd len="med" w="med" type="none"/>
            <a:tailEnd len="med" w="med" type="triangle"/>
          </a:ln>
        </p:spPr>
      </p:cxnSp>
      <p:sp>
        <p:nvSpPr>
          <p:cNvPr id="128" name="Google Shape;128;p11"/>
          <p:cNvSpPr txBox="1"/>
          <p:nvPr/>
        </p:nvSpPr>
        <p:spPr>
          <a:xfrm>
            <a:off x="4925925" y="7654824"/>
            <a:ext cx="1220400" cy="1000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Notifica el resultado de la transacción</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[HTTPS/Webhook]</a:t>
            </a:r>
            <a:endParaRPr sz="1000">
              <a:highlight>
                <a:srgbClr val="FFFFFF"/>
              </a:highlight>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ctr">
              <a:lnSpc>
                <a:spcPct val="90000"/>
              </a:lnSpc>
              <a:spcBef>
                <a:spcPts val="0"/>
              </a:spcBef>
              <a:spcAft>
                <a:spcPts val="0"/>
              </a:spcAft>
              <a:buNone/>
            </a:pPr>
            <a:r>
              <a:t/>
            </a:r>
            <a:endParaRPr sz="1000">
              <a:highlight>
                <a:srgbClr val="FFFFFF"/>
              </a:highlight>
              <a:latin typeface="Poppins"/>
              <a:ea typeface="Poppins"/>
              <a:cs typeface="Poppins"/>
              <a:sym typeface="Poppins"/>
            </a:endParaRPr>
          </a:p>
        </p:txBody>
      </p:sp>
      <p:sp>
        <p:nvSpPr>
          <p:cNvPr id="129" name="Google Shape;129;p11"/>
          <p:cNvSpPr/>
          <p:nvPr/>
        </p:nvSpPr>
        <p:spPr>
          <a:xfrm>
            <a:off x="2791850" y="8753150"/>
            <a:ext cx="1220400" cy="7866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800">
                <a:solidFill>
                  <a:srgbClr val="156CBE"/>
                </a:solidFill>
                <a:latin typeface="Poppins"/>
                <a:ea typeface="Poppins"/>
                <a:cs typeface="Poppins"/>
                <a:sym typeface="Poppins"/>
              </a:rPr>
              <a:t>ALMACENAMIENTO IMÁGENES</a:t>
            </a:r>
            <a:endParaRPr b="1" sz="8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[Container:Amazon S3]</a:t>
            </a:r>
            <a:endParaRPr sz="700">
              <a:solidFill>
                <a:srgbClr val="156CBE"/>
              </a:solidFill>
              <a:latin typeface="Poppins"/>
              <a:ea typeface="Poppins"/>
              <a:cs typeface="Poppins"/>
              <a:sym typeface="Poppins"/>
            </a:endParaRPr>
          </a:p>
        </p:txBody>
      </p:sp>
      <p:cxnSp>
        <p:nvCxnSpPr>
          <p:cNvPr id="130" name="Google Shape;130;p11"/>
          <p:cNvCxnSpPr>
            <a:stCxn id="111" idx="3"/>
            <a:endCxn id="129" idx="4"/>
          </p:cNvCxnSpPr>
          <p:nvPr/>
        </p:nvCxnSpPr>
        <p:spPr>
          <a:xfrm>
            <a:off x="3465938" y="6831639"/>
            <a:ext cx="546300" cy="2314800"/>
          </a:xfrm>
          <a:prstGeom prst="bentConnector3">
            <a:avLst>
              <a:gd fmla="val 143591" name="adj1"/>
            </a:avLst>
          </a:prstGeom>
          <a:noFill/>
          <a:ln cap="flat" cmpd="sng" w="19050">
            <a:solidFill>
              <a:srgbClr val="434343"/>
            </a:solidFill>
            <a:prstDash val="dash"/>
            <a:round/>
            <a:headEnd len="med" w="med" type="none"/>
            <a:tailEnd len="med" w="med" type="triangle"/>
          </a:ln>
        </p:spPr>
      </p:cxnSp>
      <p:sp>
        <p:nvSpPr>
          <p:cNvPr id="131" name="Google Shape;131;p11"/>
          <p:cNvSpPr txBox="1"/>
          <p:nvPr/>
        </p:nvSpPr>
        <p:spPr>
          <a:xfrm>
            <a:off x="2470150" y="7740650"/>
            <a:ext cx="612000" cy="1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Roboto"/>
              <a:ea typeface="Roboto"/>
              <a:cs typeface="Roboto"/>
              <a:sym typeface="Roboto"/>
            </a:endParaRPr>
          </a:p>
        </p:txBody>
      </p:sp>
      <p:sp>
        <p:nvSpPr>
          <p:cNvPr id="132" name="Google Shape;132;p11"/>
          <p:cNvSpPr txBox="1"/>
          <p:nvPr/>
        </p:nvSpPr>
        <p:spPr>
          <a:xfrm>
            <a:off x="2849275" y="8249375"/>
            <a:ext cx="1306800" cy="347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s" sz="900">
                <a:solidFill>
                  <a:schemeClr val="dk1"/>
                </a:solidFill>
                <a:highlight>
                  <a:schemeClr val="lt1"/>
                </a:highlight>
                <a:latin typeface="Poppins"/>
                <a:ea typeface="Poppins"/>
                <a:cs typeface="Poppins"/>
                <a:sym typeface="Poppins"/>
              </a:rPr>
              <a:t>Consulta </a:t>
            </a:r>
            <a:r>
              <a:rPr lang="es" sz="900">
                <a:solidFill>
                  <a:schemeClr val="dk1"/>
                </a:solidFill>
                <a:latin typeface="Poppins"/>
                <a:ea typeface="Poppins"/>
                <a:cs typeface="Poppins"/>
                <a:sym typeface="Poppins"/>
              </a:rPr>
              <a:t>las fotos de los productos [HTTPS/API] </a:t>
            </a:r>
            <a:endParaRPr sz="900">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nvSpPr>
        <p:spPr>
          <a:xfrm>
            <a:off x="1021200" y="1017250"/>
            <a:ext cx="5735700" cy="12981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2.5 Diagrama de contenedores (N2)</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“qué partes ejecutables” tiene el sistema LittleStyle (web, API, BD, app móvil, colas, etc.).</a:t>
            </a:r>
            <a:endParaRPr sz="1200">
              <a:solidFill>
                <a:schemeClr val="dk1"/>
              </a:solidFill>
              <a:latin typeface="Poppins"/>
              <a:ea typeface="Poppins"/>
              <a:cs typeface="Poppins"/>
              <a:sym typeface="Poppins"/>
            </a:endParaRPr>
          </a:p>
          <a:p>
            <a:pPr indent="0" lvl="0" marL="0" rtl="0" algn="just">
              <a:spcBef>
                <a:spcPts val="300"/>
              </a:spcBef>
              <a:spcAft>
                <a:spcPts val="0"/>
              </a:spcAft>
              <a:buNone/>
            </a:pPr>
            <a:r>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Vendedor</a:t>
            </a:r>
            <a:endParaRPr sz="1200">
              <a:solidFill>
                <a:schemeClr val="dk1"/>
              </a:solidFill>
              <a:latin typeface="Poppins"/>
              <a:ea typeface="Poppins"/>
              <a:cs typeface="Poppins"/>
              <a:sym typeface="Poppins"/>
            </a:endParaRPr>
          </a:p>
        </p:txBody>
      </p:sp>
      <p:sp>
        <p:nvSpPr>
          <p:cNvPr id="138" name="Google Shape;138;p12"/>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9" name="Google Shape;139;p12"/>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0" name="Google Shape;140;p12"/>
          <p:cNvSpPr/>
          <p:nvPr/>
        </p:nvSpPr>
        <p:spPr>
          <a:xfrm>
            <a:off x="2371313" y="2858363"/>
            <a:ext cx="1121100" cy="6120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None/>
            </a:pPr>
            <a:r>
              <a:rPr b="1" lang="es" sz="1200">
                <a:solidFill>
                  <a:srgbClr val="2A7E07"/>
                </a:solidFill>
                <a:latin typeface="Poppins"/>
                <a:ea typeface="Poppins"/>
                <a:cs typeface="Poppins"/>
                <a:sym typeface="Poppins"/>
              </a:rPr>
              <a:t>Vendedor</a:t>
            </a:r>
            <a:endParaRPr>
              <a:solidFill>
                <a:srgbClr val="434343"/>
              </a:solidFill>
            </a:endParaRPr>
          </a:p>
        </p:txBody>
      </p:sp>
      <p:sp>
        <p:nvSpPr>
          <p:cNvPr id="141" name="Google Shape;141;p12"/>
          <p:cNvSpPr/>
          <p:nvPr/>
        </p:nvSpPr>
        <p:spPr>
          <a:xfrm>
            <a:off x="2625875" y="2355176"/>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2"/>
          <p:cNvSpPr/>
          <p:nvPr/>
        </p:nvSpPr>
        <p:spPr>
          <a:xfrm>
            <a:off x="5528138" y="3649938"/>
            <a:ext cx="1220400" cy="7446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 Gmail]</a:t>
            </a:r>
            <a:endParaRPr sz="700">
              <a:solidFill>
                <a:srgbClr val="434343"/>
              </a:solidFill>
              <a:latin typeface="Poppins"/>
              <a:ea typeface="Poppins"/>
              <a:cs typeface="Poppins"/>
              <a:sym typeface="Poppins"/>
            </a:endParaRPr>
          </a:p>
        </p:txBody>
      </p:sp>
      <p:sp>
        <p:nvSpPr>
          <p:cNvPr id="143" name="Google Shape;143;p12"/>
          <p:cNvSpPr/>
          <p:nvPr/>
        </p:nvSpPr>
        <p:spPr>
          <a:xfrm>
            <a:off x="1029575" y="4388450"/>
            <a:ext cx="3804600" cy="5664600"/>
          </a:xfrm>
          <a:prstGeom prst="roundRect">
            <a:avLst>
              <a:gd fmla="val 3417" name="adj"/>
            </a:avLst>
          </a:prstGeom>
          <a:noFill/>
          <a:ln cap="flat" cmpd="sng" w="28575">
            <a:solidFill>
              <a:srgbClr val="1B6FC0"/>
            </a:solidFill>
            <a:prstDash val="solid"/>
            <a:round/>
            <a:headEnd len="sm" w="sm" type="none"/>
            <a:tailEnd len="sm" w="sm" type="none"/>
          </a:ln>
        </p:spPr>
        <p:txBody>
          <a:bodyPr anchorCtr="0" anchor="b" bIns="72000" lIns="72000" spcFirstLastPara="1" rIns="36000" wrap="square" tIns="36000">
            <a:noAutofit/>
          </a:bodyPr>
          <a:lstStyle/>
          <a:p>
            <a:pPr indent="0" lvl="0" marL="0" rtl="0" algn="l">
              <a:lnSpc>
                <a:spcPct val="90000"/>
              </a:lnSpc>
              <a:spcBef>
                <a:spcPts val="0"/>
              </a:spcBef>
              <a:spcAft>
                <a:spcPts val="0"/>
              </a:spcAft>
              <a:buNone/>
            </a:pPr>
            <a:r>
              <a:rPr b="1" lang="es" sz="1000">
                <a:solidFill>
                  <a:srgbClr val="156CBE"/>
                </a:solidFill>
                <a:latin typeface="Poppins"/>
                <a:ea typeface="Poppins"/>
                <a:cs typeface="Poppins"/>
                <a:sym typeface="Poppins"/>
              </a:rPr>
              <a:t>Sistema de Comercio Electrónico LittleStyle </a:t>
            </a:r>
            <a:endParaRPr sz="1000">
              <a:solidFill>
                <a:srgbClr val="434343"/>
              </a:solidFill>
            </a:endParaRPr>
          </a:p>
        </p:txBody>
      </p:sp>
      <p:grpSp>
        <p:nvGrpSpPr>
          <p:cNvPr id="144" name="Google Shape;144;p12"/>
          <p:cNvGrpSpPr/>
          <p:nvPr/>
        </p:nvGrpSpPr>
        <p:grpSpPr>
          <a:xfrm>
            <a:off x="2397113" y="4735888"/>
            <a:ext cx="1069500" cy="651750"/>
            <a:chOff x="1301400" y="5354400"/>
            <a:chExt cx="1069500" cy="651750"/>
          </a:xfrm>
        </p:grpSpPr>
        <p:sp>
          <p:nvSpPr>
            <p:cNvPr id="145" name="Google Shape;145;p12"/>
            <p:cNvSpPr/>
            <p:nvPr/>
          </p:nvSpPr>
          <p:spPr>
            <a:xfrm>
              <a:off x="1301400" y="5408250"/>
              <a:ext cx="1069500" cy="5979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156CBE"/>
                  </a:solidFill>
                  <a:latin typeface="Poppins"/>
                  <a:ea typeface="Poppins"/>
                  <a:cs typeface="Poppins"/>
                  <a:sym typeface="Poppins"/>
                </a:rPr>
                <a:t>Web App</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Angular SPA]</a:t>
              </a:r>
              <a:endParaRPr sz="700">
                <a:solidFill>
                  <a:srgbClr val="434343"/>
                </a:solidFill>
              </a:endParaRPr>
            </a:p>
          </p:txBody>
        </p:sp>
        <p:sp>
          <p:nvSpPr>
            <p:cNvPr id="146" name="Google Shape;146;p12"/>
            <p:cNvSpPr/>
            <p:nvPr/>
          </p:nvSpPr>
          <p:spPr>
            <a:xfrm>
              <a:off x="1301400" y="5354400"/>
              <a:ext cx="1069500" cy="88500"/>
            </a:xfrm>
            <a:prstGeom prst="roundRect">
              <a:avLst>
                <a:gd fmla="val 27950" name="adj"/>
              </a:avLst>
            </a:prstGeom>
            <a:solidFill>
              <a:srgbClr val="1B6FC0"/>
            </a:solid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l">
                <a:lnSpc>
                  <a:spcPct val="90000"/>
                </a:lnSpc>
                <a:spcBef>
                  <a:spcPts val="200"/>
                </a:spcBef>
                <a:spcAft>
                  <a:spcPts val="0"/>
                </a:spcAft>
                <a:buNone/>
              </a:pPr>
              <a:r>
                <a:t/>
              </a:r>
              <a:endParaRPr sz="700">
                <a:solidFill>
                  <a:srgbClr val="434343"/>
                </a:solidFill>
              </a:endParaRPr>
            </a:p>
          </p:txBody>
        </p:sp>
        <p:sp>
          <p:nvSpPr>
            <p:cNvPr id="147" name="Google Shape;147;p12"/>
            <p:cNvSpPr/>
            <p:nvPr/>
          </p:nvSpPr>
          <p:spPr>
            <a:xfrm>
              <a:off x="133827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12"/>
            <p:cNvSpPr/>
            <p:nvPr/>
          </p:nvSpPr>
          <p:spPr>
            <a:xfrm>
              <a:off x="1413100"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2"/>
            <p:cNvSpPr/>
            <p:nvPr/>
          </p:nvSpPr>
          <p:spPr>
            <a:xfrm>
              <a:off x="148792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2"/>
            <p:cNvSpPr/>
            <p:nvPr/>
          </p:nvSpPr>
          <p:spPr>
            <a:xfrm>
              <a:off x="1616975" y="5371650"/>
              <a:ext cx="722400" cy="54000"/>
            </a:xfrm>
            <a:prstGeom prst="roundRect">
              <a:avLst>
                <a:gd fmla="val 50000"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51" name="Google Shape;151;p12"/>
          <p:cNvGrpSpPr/>
          <p:nvPr/>
        </p:nvGrpSpPr>
        <p:grpSpPr>
          <a:xfrm>
            <a:off x="2397488" y="6537489"/>
            <a:ext cx="1069500" cy="679800"/>
            <a:chOff x="1389800" y="5461500"/>
            <a:chExt cx="1069500" cy="679800"/>
          </a:xfrm>
        </p:grpSpPr>
        <p:sp>
          <p:nvSpPr>
            <p:cNvPr id="152" name="Google Shape;152;p12"/>
            <p:cNvSpPr/>
            <p:nvPr/>
          </p:nvSpPr>
          <p:spPr>
            <a:xfrm>
              <a:off x="1389800" y="5461500"/>
              <a:ext cx="1069500" cy="6798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Backend</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Java (Spring Boot)]</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[Monolito modular]</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[Maven + JWT]</a:t>
              </a:r>
              <a:endParaRPr sz="700">
                <a:solidFill>
                  <a:srgbClr val="156CBE"/>
                </a:solidFill>
                <a:latin typeface="Poppins"/>
                <a:ea typeface="Poppins"/>
                <a:cs typeface="Poppins"/>
                <a:sym typeface="Poppins"/>
              </a:endParaRPr>
            </a:p>
          </p:txBody>
        </p:sp>
        <p:sp>
          <p:nvSpPr>
            <p:cNvPr id="153" name="Google Shape;153;p12"/>
            <p:cNvSpPr txBox="1"/>
            <p:nvPr/>
          </p:nvSpPr>
          <p:spPr>
            <a:xfrm>
              <a:off x="1413974" y="5486400"/>
              <a:ext cx="192300" cy="110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b="1" lang="es" sz="800">
                  <a:solidFill>
                    <a:srgbClr val="156CBE"/>
                  </a:solidFill>
                </a:rPr>
                <a:t>&gt;_</a:t>
              </a:r>
              <a:endParaRPr sz="1000"/>
            </a:p>
          </p:txBody>
        </p:sp>
      </p:grpSp>
      <p:sp>
        <p:nvSpPr>
          <p:cNvPr id="154" name="Google Shape;154;p12"/>
          <p:cNvSpPr/>
          <p:nvPr/>
        </p:nvSpPr>
        <p:spPr>
          <a:xfrm>
            <a:off x="3301325" y="8815425"/>
            <a:ext cx="1093500" cy="8415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Database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MySql]</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[AWS]</a:t>
            </a:r>
            <a:endParaRPr sz="700">
              <a:solidFill>
                <a:srgbClr val="156CBE"/>
              </a:solidFill>
              <a:latin typeface="Poppins"/>
              <a:ea typeface="Poppins"/>
              <a:cs typeface="Poppins"/>
              <a:sym typeface="Poppins"/>
            </a:endParaRPr>
          </a:p>
        </p:txBody>
      </p:sp>
      <p:cxnSp>
        <p:nvCxnSpPr>
          <p:cNvPr id="155" name="Google Shape;155;p12"/>
          <p:cNvCxnSpPr>
            <a:stCxn id="140" idx="2"/>
            <a:endCxn id="146" idx="0"/>
          </p:cNvCxnSpPr>
          <p:nvPr/>
        </p:nvCxnSpPr>
        <p:spPr>
          <a:xfrm flipH="1" rot="-5400000">
            <a:off x="2299463" y="4102763"/>
            <a:ext cx="1265400" cy="6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156" name="Google Shape;156;p12"/>
          <p:cNvSpPr txBox="1"/>
          <p:nvPr/>
        </p:nvSpPr>
        <p:spPr>
          <a:xfrm>
            <a:off x="2042063" y="3588782"/>
            <a:ext cx="1779600" cy="4608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Gestiona productos, inventarios y pedidos.</a:t>
            </a:r>
            <a:endParaRPr sz="1000">
              <a:highlight>
                <a:srgbClr val="FFFFFF"/>
              </a:highlight>
              <a:latin typeface="Poppins"/>
              <a:ea typeface="Poppins"/>
              <a:cs typeface="Poppins"/>
              <a:sym typeface="Poppins"/>
            </a:endParaRPr>
          </a:p>
        </p:txBody>
      </p:sp>
      <p:cxnSp>
        <p:nvCxnSpPr>
          <p:cNvPr id="157" name="Google Shape;157;p12"/>
          <p:cNvCxnSpPr>
            <a:stCxn id="142" idx="0"/>
            <a:endCxn id="140" idx="3"/>
          </p:cNvCxnSpPr>
          <p:nvPr/>
        </p:nvCxnSpPr>
        <p:spPr>
          <a:xfrm flipH="1" rot="5400000">
            <a:off x="4572488" y="2084088"/>
            <a:ext cx="485700" cy="2646000"/>
          </a:xfrm>
          <a:prstGeom prst="bentConnector2">
            <a:avLst/>
          </a:prstGeom>
          <a:noFill/>
          <a:ln cap="flat" cmpd="sng" w="19050">
            <a:solidFill>
              <a:srgbClr val="434343"/>
            </a:solidFill>
            <a:prstDash val="dash"/>
            <a:round/>
            <a:headEnd len="med" w="med" type="none"/>
            <a:tailEnd len="med" w="med" type="triangle"/>
          </a:ln>
        </p:spPr>
      </p:cxnSp>
      <p:sp>
        <p:nvSpPr>
          <p:cNvPr id="158" name="Google Shape;158;p12"/>
          <p:cNvSpPr txBox="1"/>
          <p:nvPr/>
        </p:nvSpPr>
        <p:spPr>
          <a:xfrm>
            <a:off x="4201912" y="2887313"/>
            <a:ext cx="1009200" cy="5541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correos electrónicos y mensajes de </a:t>
            </a:r>
            <a:r>
              <a:rPr lang="es" sz="1000">
                <a:highlight>
                  <a:srgbClr val="FFFFFF"/>
                </a:highlight>
                <a:latin typeface="Poppins"/>
                <a:ea typeface="Poppins"/>
                <a:cs typeface="Poppins"/>
                <a:sym typeface="Poppins"/>
              </a:rPr>
              <a:t>confirmaciones</a:t>
            </a:r>
            <a:endParaRPr sz="1000">
              <a:highlight>
                <a:srgbClr val="FFFFFF"/>
              </a:highlight>
              <a:latin typeface="Poppins"/>
              <a:ea typeface="Poppins"/>
              <a:cs typeface="Poppins"/>
              <a:sym typeface="Poppins"/>
            </a:endParaRPr>
          </a:p>
        </p:txBody>
      </p:sp>
      <p:cxnSp>
        <p:nvCxnSpPr>
          <p:cNvPr id="159" name="Google Shape;159;p12"/>
          <p:cNvCxnSpPr>
            <a:stCxn id="145" idx="2"/>
            <a:endCxn id="152" idx="0"/>
          </p:cNvCxnSpPr>
          <p:nvPr/>
        </p:nvCxnSpPr>
        <p:spPr>
          <a:xfrm flipH="1" rot="-5400000">
            <a:off x="2357213" y="5962288"/>
            <a:ext cx="1149900" cy="600"/>
          </a:xfrm>
          <a:prstGeom prst="bentConnector3">
            <a:avLst>
              <a:gd fmla="val 49998" name="adj1"/>
            </a:avLst>
          </a:prstGeom>
          <a:noFill/>
          <a:ln cap="flat" cmpd="sng" w="19050">
            <a:solidFill>
              <a:srgbClr val="434343"/>
            </a:solidFill>
            <a:prstDash val="dash"/>
            <a:round/>
            <a:headEnd len="med" w="med" type="none"/>
            <a:tailEnd len="med" w="med" type="triangle"/>
          </a:ln>
        </p:spPr>
      </p:cxnSp>
      <p:sp>
        <p:nvSpPr>
          <p:cNvPr id="160" name="Google Shape;160;p12"/>
          <p:cNvSpPr txBox="1"/>
          <p:nvPr/>
        </p:nvSpPr>
        <p:spPr>
          <a:xfrm>
            <a:off x="2185638" y="5545988"/>
            <a:ext cx="1478700" cy="4608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llamadas API</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[HTTPS/JSON (REST) /JWT]</a:t>
            </a:r>
            <a:endParaRPr sz="800">
              <a:highlight>
                <a:srgbClr val="FFFFFF"/>
              </a:highlight>
              <a:latin typeface="Poppins"/>
              <a:ea typeface="Poppins"/>
              <a:cs typeface="Poppins"/>
              <a:sym typeface="Poppins"/>
            </a:endParaRPr>
          </a:p>
        </p:txBody>
      </p:sp>
      <p:cxnSp>
        <p:nvCxnSpPr>
          <p:cNvPr id="161" name="Google Shape;161;p12"/>
          <p:cNvCxnSpPr>
            <a:stCxn id="152" idx="3"/>
            <a:endCxn id="154" idx="1"/>
          </p:cNvCxnSpPr>
          <p:nvPr/>
        </p:nvCxnSpPr>
        <p:spPr>
          <a:xfrm>
            <a:off x="3466988" y="6877389"/>
            <a:ext cx="381000" cy="1938000"/>
          </a:xfrm>
          <a:prstGeom prst="bentConnector2">
            <a:avLst/>
          </a:prstGeom>
          <a:noFill/>
          <a:ln cap="flat" cmpd="sng" w="19050">
            <a:solidFill>
              <a:srgbClr val="434343"/>
            </a:solidFill>
            <a:prstDash val="dash"/>
            <a:round/>
            <a:headEnd len="med" w="med" type="none"/>
            <a:tailEnd len="med" w="med" type="triangle"/>
          </a:ln>
        </p:spPr>
      </p:cxnSp>
      <p:sp>
        <p:nvSpPr>
          <p:cNvPr id="162" name="Google Shape;162;p12"/>
          <p:cNvSpPr txBox="1"/>
          <p:nvPr/>
        </p:nvSpPr>
        <p:spPr>
          <a:xfrm>
            <a:off x="3237863" y="7643800"/>
            <a:ext cx="1220400" cy="531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Lee y escribe en la base de datos [SQL/JPA] </a:t>
            </a:r>
            <a:endParaRPr sz="800">
              <a:highlight>
                <a:srgbClr val="FFFFFF"/>
              </a:highlight>
              <a:latin typeface="Poppins"/>
              <a:ea typeface="Poppins"/>
              <a:cs typeface="Poppins"/>
              <a:sym typeface="Poppins"/>
            </a:endParaRPr>
          </a:p>
        </p:txBody>
      </p:sp>
      <p:sp>
        <p:nvSpPr>
          <p:cNvPr id="163" name="Google Shape;163;p12"/>
          <p:cNvSpPr/>
          <p:nvPr/>
        </p:nvSpPr>
        <p:spPr>
          <a:xfrm>
            <a:off x="3339188" y="6537488"/>
            <a:ext cx="127800" cy="13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4" name="Google Shape;164;p12"/>
          <p:cNvCxnSpPr>
            <a:stCxn id="163" idx="3"/>
            <a:endCxn id="142" idx="2"/>
          </p:cNvCxnSpPr>
          <p:nvPr/>
        </p:nvCxnSpPr>
        <p:spPr>
          <a:xfrm flipH="1" rot="10800000">
            <a:off x="3466988" y="4394438"/>
            <a:ext cx="2671500" cy="2209200"/>
          </a:xfrm>
          <a:prstGeom prst="straightConnector1">
            <a:avLst/>
          </a:prstGeom>
          <a:noFill/>
          <a:ln cap="flat" cmpd="sng" w="19050">
            <a:solidFill>
              <a:srgbClr val="434343"/>
            </a:solidFill>
            <a:prstDash val="dash"/>
            <a:round/>
            <a:headEnd len="med" w="med" type="none"/>
            <a:tailEnd len="med" w="med" type="triangle"/>
          </a:ln>
        </p:spPr>
      </p:cxnSp>
      <p:sp>
        <p:nvSpPr>
          <p:cNvPr id="165" name="Google Shape;165;p12"/>
          <p:cNvSpPr txBox="1"/>
          <p:nvPr/>
        </p:nvSpPr>
        <p:spPr>
          <a:xfrm>
            <a:off x="4926963" y="4611963"/>
            <a:ext cx="1571700" cy="6516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solicitudes para generar correos y notificaciones</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[SMTP/TLS]</a:t>
            </a:r>
            <a:endParaRPr sz="800">
              <a:highlight>
                <a:srgbClr val="FFFFFF"/>
              </a:highlight>
              <a:latin typeface="Poppins"/>
              <a:ea typeface="Poppins"/>
              <a:cs typeface="Poppins"/>
              <a:sym typeface="Poppins"/>
            </a:endParaRPr>
          </a:p>
        </p:txBody>
      </p:sp>
      <p:sp>
        <p:nvSpPr>
          <p:cNvPr id="166" name="Google Shape;166;p12"/>
          <p:cNvSpPr/>
          <p:nvPr/>
        </p:nvSpPr>
        <p:spPr>
          <a:xfrm>
            <a:off x="1320877" y="8879350"/>
            <a:ext cx="1305000" cy="8415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800">
                <a:solidFill>
                  <a:srgbClr val="156CBE"/>
                </a:solidFill>
                <a:latin typeface="Poppins"/>
                <a:ea typeface="Poppins"/>
                <a:cs typeface="Poppins"/>
                <a:sym typeface="Poppins"/>
              </a:rPr>
              <a:t>ALMACENAMIENTO IMÁGENES</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Amazon S3]</a:t>
            </a:r>
            <a:endParaRPr sz="700">
              <a:solidFill>
                <a:srgbClr val="156CBE"/>
              </a:solidFill>
              <a:latin typeface="Poppins"/>
              <a:ea typeface="Poppins"/>
              <a:cs typeface="Poppins"/>
              <a:sym typeface="Poppins"/>
            </a:endParaRPr>
          </a:p>
        </p:txBody>
      </p:sp>
      <p:cxnSp>
        <p:nvCxnSpPr>
          <p:cNvPr id="167" name="Google Shape;167;p12"/>
          <p:cNvCxnSpPr>
            <a:stCxn id="152" idx="1"/>
            <a:endCxn id="166" idx="1"/>
          </p:cNvCxnSpPr>
          <p:nvPr/>
        </p:nvCxnSpPr>
        <p:spPr>
          <a:xfrm flipH="1">
            <a:off x="1973288" y="6877389"/>
            <a:ext cx="424200" cy="2001900"/>
          </a:xfrm>
          <a:prstGeom prst="bentConnector2">
            <a:avLst/>
          </a:prstGeom>
          <a:noFill/>
          <a:ln cap="flat" cmpd="sng" w="19050">
            <a:solidFill>
              <a:srgbClr val="434343"/>
            </a:solidFill>
            <a:prstDash val="dash"/>
            <a:round/>
            <a:headEnd len="med" w="med" type="none"/>
            <a:tailEnd len="med" w="med" type="triangle"/>
          </a:ln>
        </p:spPr>
      </p:cxnSp>
      <p:sp>
        <p:nvSpPr>
          <p:cNvPr id="168" name="Google Shape;168;p12"/>
          <p:cNvSpPr txBox="1"/>
          <p:nvPr/>
        </p:nvSpPr>
        <p:spPr>
          <a:xfrm>
            <a:off x="1130300" y="7503225"/>
            <a:ext cx="1416900" cy="7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Poppins"/>
              <a:ea typeface="Poppins"/>
              <a:cs typeface="Poppins"/>
              <a:sym typeface="Poppins"/>
            </a:endParaRPr>
          </a:p>
        </p:txBody>
      </p:sp>
      <p:sp>
        <p:nvSpPr>
          <p:cNvPr id="169" name="Google Shape;169;p12"/>
          <p:cNvSpPr txBox="1"/>
          <p:nvPr/>
        </p:nvSpPr>
        <p:spPr>
          <a:xfrm>
            <a:off x="1187525" y="7676025"/>
            <a:ext cx="1991700" cy="8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000">
                <a:solidFill>
                  <a:schemeClr val="dk1"/>
                </a:solidFill>
                <a:latin typeface="Poppins"/>
                <a:ea typeface="Poppins"/>
                <a:cs typeface="Poppins"/>
                <a:sym typeface="Poppins"/>
              </a:rPr>
              <a:t>Sube y actualiza las fotos de las prendas [HTTPS/API]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nvSpPr>
        <p:spPr>
          <a:xfrm>
            <a:off x="1021200" y="1017250"/>
            <a:ext cx="5735700" cy="12981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2.6 Diagrama de contenedores (N3)</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“qué partes ejecutables” tiene el sistema LittleStyle (web, API, BD, app móvil, colas, etc.).</a:t>
            </a:r>
            <a:endParaRPr sz="1200">
              <a:solidFill>
                <a:schemeClr val="dk1"/>
              </a:solidFill>
              <a:latin typeface="Poppins"/>
              <a:ea typeface="Poppins"/>
              <a:cs typeface="Poppins"/>
              <a:sym typeface="Poppins"/>
            </a:endParaRPr>
          </a:p>
          <a:p>
            <a:pPr indent="0" lvl="0" marL="0" rtl="0" algn="just">
              <a:spcBef>
                <a:spcPts val="300"/>
              </a:spcBef>
              <a:spcAft>
                <a:spcPts val="0"/>
              </a:spcAft>
              <a:buNone/>
            </a:pPr>
            <a:r>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Administrador</a:t>
            </a:r>
            <a:endParaRPr sz="1200">
              <a:solidFill>
                <a:schemeClr val="dk1"/>
              </a:solidFill>
              <a:latin typeface="Poppins"/>
              <a:ea typeface="Poppins"/>
              <a:cs typeface="Poppins"/>
              <a:sym typeface="Poppins"/>
            </a:endParaRPr>
          </a:p>
        </p:txBody>
      </p:sp>
      <p:sp>
        <p:nvSpPr>
          <p:cNvPr id="175" name="Google Shape;175;p13"/>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6" name="Google Shape;176;p13"/>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7" name="Google Shape;177;p13"/>
          <p:cNvSpPr/>
          <p:nvPr/>
        </p:nvSpPr>
        <p:spPr>
          <a:xfrm>
            <a:off x="2258738" y="3059200"/>
            <a:ext cx="1344900" cy="612000"/>
          </a:xfrm>
          <a:prstGeom prst="roundRect">
            <a:avLst>
              <a:gd fmla="val 23679" name="adj"/>
            </a:avLst>
          </a:prstGeom>
          <a:noFill/>
          <a:ln cap="flat" cmpd="sng" w="28575">
            <a:solidFill>
              <a:srgbClr val="2A800B"/>
            </a:solidFill>
            <a:prstDash val="solid"/>
            <a:round/>
            <a:headEnd len="sm" w="sm" type="none"/>
            <a:tailEnd len="sm" w="sm" type="none"/>
          </a:ln>
        </p:spPr>
        <p:txBody>
          <a:bodyPr anchorCtr="0" anchor="ctr" bIns="36000" lIns="36000" spcFirstLastPara="1" rIns="36000" wrap="square" tIns="64800">
            <a:noAutofit/>
          </a:bodyPr>
          <a:lstStyle/>
          <a:p>
            <a:pPr indent="0" lvl="0" marL="0" rtl="0" algn="ctr">
              <a:lnSpc>
                <a:spcPct val="90000"/>
              </a:lnSpc>
              <a:spcBef>
                <a:spcPts val="0"/>
              </a:spcBef>
              <a:spcAft>
                <a:spcPts val="0"/>
              </a:spcAft>
              <a:buNone/>
            </a:pPr>
            <a:r>
              <a:rPr b="1" lang="es" sz="1200">
                <a:solidFill>
                  <a:srgbClr val="2A7E07"/>
                </a:solidFill>
                <a:latin typeface="Poppins"/>
                <a:ea typeface="Poppins"/>
                <a:cs typeface="Poppins"/>
                <a:sym typeface="Poppins"/>
              </a:rPr>
              <a:t>Administrador</a:t>
            </a:r>
            <a:endParaRPr>
              <a:solidFill>
                <a:srgbClr val="434343"/>
              </a:solidFill>
            </a:endParaRPr>
          </a:p>
        </p:txBody>
      </p:sp>
      <p:sp>
        <p:nvSpPr>
          <p:cNvPr id="178" name="Google Shape;178;p13"/>
          <p:cNvSpPr/>
          <p:nvPr/>
        </p:nvSpPr>
        <p:spPr>
          <a:xfrm>
            <a:off x="2624813" y="2514576"/>
            <a:ext cx="612000" cy="612000"/>
          </a:xfrm>
          <a:prstGeom prst="ellipse">
            <a:avLst/>
          </a:prstGeom>
          <a:solidFill>
            <a:srgbClr val="FFFFFF"/>
          </a:solidFill>
          <a:ln cap="flat" cmpd="sng" w="28575">
            <a:solidFill>
              <a:srgbClr val="2A800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13"/>
          <p:cNvSpPr/>
          <p:nvPr/>
        </p:nvSpPr>
        <p:spPr>
          <a:xfrm>
            <a:off x="5527088" y="3850900"/>
            <a:ext cx="1220400" cy="744600"/>
          </a:xfrm>
          <a:prstGeom prst="roundRect">
            <a:avLst>
              <a:gd fmla="val 6867" name="adj"/>
            </a:avLst>
          </a:prstGeom>
          <a:noFill/>
          <a:ln cap="flat" cmpd="sng" w="28575">
            <a:solidFill>
              <a:srgbClr val="C42228"/>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C42228"/>
                </a:solidFill>
                <a:latin typeface="Poppins"/>
                <a:ea typeface="Poppins"/>
                <a:cs typeface="Poppins"/>
                <a:sym typeface="Poppins"/>
              </a:rPr>
              <a:t>Servicio de  Correo</a:t>
            </a:r>
            <a:endParaRPr b="1" sz="1200">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700">
                <a:solidFill>
                  <a:srgbClr val="C42228"/>
                </a:solidFill>
                <a:latin typeface="Poppins"/>
                <a:ea typeface="Poppins"/>
                <a:cs typeface="Poppins"/>
                <a:sym typeface="Poppins"/>
              </a:rPr>
              <a:t>[Sistema de Software: Gmail]</a:t>
            </a:r>
            <a:endParaRPr sz="700">
              <a:solidFill>
                <a:srgbClr val="434343"/>
              </a:solidFill>
              <a:latin typeface="Poppins"/>
              <a:ea typeface="Poppins"/>
              <a:cs typeface="Poppins"/>
              <a:sym typeface="Poppins"/>
            </a:endParaRPr>
          </a:p>
        </p:txBody>
      </p:sp>
      <p:sp>
        <p:nvSpPr>
          <p:cNvPr id="180" name="Google Shape;180;p13"/>
          <p:cNvSpPr/>
          <p:nvPr/>
        </p:nvSpPr>
        <p:spPr>
          <a:xfrm>
            <a:off x="1028525" y="4589400"/>
            <a:ext cx="3804600" cy="5692200"/>
          </a:xfrm>
          <a:prstGeom prst="roundRect">
            <a:avLst>
              <a:gd fmla="val 3417" name="adj"/>
            </a:avLst>
          </a:prstGeom>
          <a:noFill/>
          <a:ln cap="flat" cmpd="sng" w="28575">
            <a:solidFill>
              <a:srgbClr val="1B6FC0"/>
            </a:solidFill>
            <a:prstDash val="solid"/>
            <a:round/>
            <a:headEnd len="sm" w="sm" type="none"/>
            <a:tailEnd len="sm" w="sm" type="none"/>
          </a:ln>
        </p:spPr>
        <p:txBody>
          <a:bodyPr anchorCtr="0" anchor="b" bIns="72000" lIns="72000" spcFirstLastPara="1" rIns="36000" wrap="square" tIns="36000">
            <a:noAutofit/>
          </a:bodyPr>
          <a:lstStyle/>
          <a:p>
            <a:pPr indent="0" lvl="0" marL="0" rtl="0" algn="l">
              <a:lnSpc>
                <a:spcPct val="90000"/>
              </a:lnSpc>
              <a:spcBef>
                <a:spcPts val="0"/>
              </a:spcBef>
              <a:spcAft>
                <a:spcPts val="0"/>
              </a:spcAft>
              <a:buNone/>
            </a:pPr>
            <a:r>
              <a:rPr b="1" lang="es" sz="1000">
                <a:solidFill>
                  <a:srgbClr val="156CBE"/>
                </a:solidFill>
                <a:latin typeface="Poppins"/>
                <a:ea typeface="Poppins"/>
                <a:cs typeface="Poppins"/>
                <a:sym typeface="Poppins"/>
              </a:rPr>
              <a:t>Sistema de Comercio Electrónico LittleStyle </a:t>
            </a:r>
            <a:endParaRPr sz="1000">
              <a:solidFill>
                <a:srgbClr val="434343"/>
              </a:solidFill>
            </a:endParaRPr>
          </a:p>
        </p:txBody>
      </p:sp>
      <p:grpSp>
        <p:nvGrpSpPr>
          <p:cNvPr id="181" name="Google Shape;181;p13"/>
          <p:cNvGrpSpPr/>
          <p:nvPr/>
        </p:nvGrpSpPr>
        <p:grpSpPr>
          <a:xfrm>
            <a:off x="2396063" y="4936850"/>
            <a:ext cx="1069500" cy="651750"/>
            <a:chOff x="1301400" y="5354400"/>
            <a:chExt cx="1069500" cy="651750"/>
          </a:xfrm>
        </p:grpSpPr>
        <p:sp>
          <p:nvSpPr>
            <p:cNvPr id="182" name="Google Shape;182;p13"/>
            <p:cNvSpPr/>
            <p:nvPr/>
          </p:nvSpPr>
          <p:spPr>
            <a:xfrm>
              <a:off x="1301400" y="5408250"/>
              <a:ext cx="1069500" cy="5979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None/>
              </a:pPr>
              <a:r>
                <a:rPr b="1" lang="es" sz="1200">
                  <a:solidFill>
                    <a:srgbClr val="156CBE"/>
                  </a:solidFill>
                  <a:latin typeface="Poppins"/>
                  <a:ea typeface="Poppins"/>
                  <a:cs typeface="Poppins"/>
                  <a:sym typeface="Poppins"/>
                </a:rPr>
                <a:t>Web App</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Angular SPA]</a:t>
              </a:r>
              <a:endParaRPr sz="700">
                <a:solidFill>
                  <a:srgbClr val="434343"/>
                </a:solidFill>
              </a:endParaRPr>
            </a:p>
          </p:txBody>
        </p:sp>
        <p:sp>
          <p:nvSpPr>
            <p:cNvPr id="183" name="Google Shape;183;p13"/>
            <p:cNvSpPr/>
            <p:nvPr/>
          </p:nvSpPr>
          <p:spPr>
            <a:xfrm>
              <a:off x="1301400" y="5354400"/>
              <a:ext cx="1069500" cy="88500"/>
            </a:xfrm>
            <a:prstGeom prst="roundRect">
              <a:avLst>
                <a:gd fmla="val 27950" name="adj"/>
              </a:avLst>
            </a:prstGeom>
            <a:solidFill>
              <a:srgbClr val="1B6FC0"/>
            </a:solid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l">
                <a:lnSpc>
                  <a:spcPct val="90000"/>
                </a:lnSpc>
                <a:spcBef>
                  <a:spcPts val="200"/>
                </a:spcBef>
                <a:spcAft>
                  <a:spcPts val="0"/>
                </a:spcAft>
                <a:buNone/>
              </a:pPr>
              <a:r>
                <a:t/>
              </a:r>
              <a:endParaRPr sz="700">
                <a:solidFill>
                  <a:srgbClr val="434343"/>
                </a:solidFill>
              </a:endParaRPr>
            </a:p>
          </p:txBody>
        </p:sp>
        <p:sp>
          <p:nvSpPr>
            <p:cNvPr id="184" name="Google Shape;184;p13"/>
            <p:cNvSpPr/>
            <p:nvPr/>
          </p:nvSpPr>
          <p:spPr>
            <a:xfrm>
              <a:off x="133827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13"/>
            <p:cNvSpPr/>
            <p:nvPr/>
          </p:nvSpPr>
          <p:spPr>
            <a:xfrm>
              <a:off x="1413100"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13"/>
            <p:cNvSpPr/>
            <p:nvPr/>
          </p:nvSpPr>
          <p:spPr>
            <a:xfrm>
              <a:off x="1487925" y="5371650"/>
              <a:ext cx="54000" cy="540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13"/>
            <p:cNvSpPr/>
            <p:nvPr/>
          </p:nvSpPr>
          <p:spPr>
            <a:xfrm>
              <a:off x="1616975" y="5371650"/>
              <a:ext cx="722400" cy="54000"/>
            </a:xfrm>
            <a:prstGeom prst="roundRect">
              <a:avLst>
                <a:gd fmla="val 50000"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88" name="Google Shape;188;p13"/>
          <p:cNvGrpSpPr/>
          <p:nvPr/>
        </p:nvGrpSpPr>
        <p:grpSpPr>
          <a:xfrm>
            <a:off x="2396438" y="6738452"/>
            <a:ext cx="1069500" cy="679800"/>
            <a:chOff x="1389800" y="5461500"/>
            <a:chExt cx="1069500" cy="679800"/>
          </a:xfrm>
        </p:grpSpPr>
        <p:sp>
          <p:nvSpPr>
            <p:cNvPr id="189" name="Google Shape;189;p13"/>
            <p:cNvSpPr/>
            <p:nvPr/>
          </p:nvSpPr>
          <p:spPr>
            <a:xfrm>
              <a:off x="1389800" y="5461500"/>
              <a:ext cx="1069500" cy="679800"/>
            </a:xfrm>
            <a:prstGeom prst="roundRect">
              <a:avLst>
                <a:gd fmla="val 6867" name="adj"/>
              </a:avLst>
            </a:prstGeom>
            <a:noFill/>
            <a:ln cap="flat" cmpd="sng" w="19050">
              <a:solidFill>
                <a:srgbClr val="1B6FC0"/>
              </a:solidFill>
              <a:prstDash val="solid"/>
              <a:round/>
              <a:headEnd len="sm" w="sm" type="none"/>
              <a:tailEnd len="sm" w="sm" type="none"/>
            </a:ln>
          </p:spPr>
          <p:txBody>
            <a:bodyPr anchorCtr="0" anchor="ctr" bIns="36000" lIns="36000" spcFirstLastPara="1" rIns="36000" wrap="square" tIns="36000">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Backend</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[Container: Java (Spring Boot)]</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[Monolito modular]</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None/>
              </a:pPr>
              <a:r>
                <a:rPr lang="es" sz="700">
                  <a:solidFill>
                    <a:srgbClr val="156CBE"/>
                  </a:solidFill>
                  <a:latin typeface="Poppins"/>
                  <a:ea typeface="Poppins"/>
                  <a:cs typeface="Poppins"/>
                  <a:sym typeface="Poppins"/>
                </a:rPr>
                <a:t>[Maven + JWT]</a:t>
              </a:r>
              <a:endParaRPr sz="700">
                <a:solidFill>
                  <a:srgbClr val="156CBE"/>
                </a:solidFill>
                <a:latin typeface="Poppins"/>
                <a:ea typeface="Poppins"/>
                <a:cs typeface="Poppins"/>
                <a:sym typeface="Poppins"/>
              </a:endParaRPr>
            </a:p>
          </p:txBody>
        </p:sp>
        <p:sp>
          <p:nvSpPr>
            <p:cNvPr id="190" name="Google Shape;190;p13"/>
            <p:cNvSpPr txBox="1"/>
            <p:nvPr/>
          </p:nvSpPr>
          <p:spPr>
            <a:xfrm>
              <a:off x="1413974" y="5486400"/>
              <a:ext cx="192300" cy="110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None/>
              </a:pPr>
              <a:r>
                <a:rPr b="1" lang="es" sz="800">
                  <a:solidFill>
                    <a:srgbClr val="156CBE"/>
                  </a:solidFill>
                </a:rPr>
                <a:t>&gt;_</a:t>
              </a:r>
              <a:endParaRPr sz="1000"/>
            </a:p>
          </p:txBody>
        </p:sp>
      </p:grpSp>
      <p:sp>
        <p:nvSpPr>
          <p:cNvPr id="191" name="Google Shape;191;p13"/>
          <p:cNvSpPr/>
          <p:nvPr/>
        </p:nvSpPr>
        <p:spPr>
          <a:xfrm>
            <a:off x="1091088" y="9070656"/>
            <a:ext cx="1093500" cy="8415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1200">
                <a:solidFill>
                  <a:srgbClr val="156CBE"/>
                </a:solidFill>
                <a:latin typeface="Poppins"/>
                <a:ea typeface="Poppins"/>
                <a:cs typeface="Poppins"/>
                <a:sym typeface="Poppins"/>
              </a:rPr>
              <a:t>Database</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MySql]</a:t>
            </a:r>
            <a:endParaRPr sz="7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[AWS]</a:t>
            </a:r>
            <a:endParaRPr sz="700">
              <a:solidFill>
                <a:srgbClr val="156CBE"/>
              </a:solidFill>
              <a:latin typeface="Poppins"/>
              <a:ea typeface="Poppins"/>
              <a:cs typeface="Poppins"/>
              <a:sym typeface="Poppins"/>
            </a:endParaRPr>
          </a:p>
        </p:txBody>
      </p:sp>
      <p:cxnSp>
        <p:nvCxnSpPr>
          <p:cNvPr id="192" name="Google Shape;192;p13"/>
          <p:cNvCxnSpPr>
            <a:stCxn id="177" idx="2"/>
            <a:endCxn id="183" idx="0"/>
          </p:cNvCxnSpPr>
          <p:nvPr/>
        </p:nvCxnSpPr>
        <p:spPr>
          <a:xfrm flipH="1" rot="-5400000">
            <a:off x="2298638" y="4303750"/>
            <a:ext cx="1265700" cy="600"/>
          </a:xfrm>
          <a:prstGeom prst="bentConnector3">
            <a:avLst>
              <a:gd fmla="val 49998" name="adj1"/>
            </a:avLst>
          </a:prstGeom>
          <a:noFill/>
          <a:ln cap="flat" cmpd="sng" w="19050">
            <a:solidFill>
              <a:srgbClr val="434343"/>
            </a:solidFill>
            <a:prstDash val="dash"/>
            <a:round/>
            <a:headEnd len="med" w="med" type="none"/>
            <a:tailEnd len="med" w="med" type="triangle"/>
          </a:ln>
        </p:spPr>
      </p:cxnSp>
      <p:sp>
        <p:nvSpPr>
          <p:cNvPr id="193" name="Google Shape;193;p13"/>
          <p:cNvSpPr txBox="1"/>
          <p:nvPr/>
        </p:nvSpPr>
        <p:spPr>
          <a:xfrm>
            <a:off x="2041688" y="3902902"/>
            <a:ext cx="1779600" cy="612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Gestiona usuarios,productos,categorias,catalogo, consulta de  reportes y métricas</a:t>
            </a:r>
            <a:endParaRPr sz="1000">
              <a:highlight>
                <a:srgbClr val="FFFFFF"/>
              </a:highlight>
              <a:latin typeface="Poppins"/>
              <a:ea typeface="Poppins"/>
              <a:cs typeface="Poppins"/>
              <a:sym typeface="Poppins"/>
            </a:endParaRPr>
          </a:p>
        </p:txBody>
      </p:sp>
      <p:cxnSp>
        <p:nvCxnSpPr>
          <p:cNvPr id="194" name="Google Shape;194;p13"/>
          <p:cNvCxnSpPr>
            <a:stCxn id="179" idx="0"/>
            <a:endCxn id="177" idx="3"/>
          </p:cNvCxnSpPr>
          <p:nvPr/>
        </p:nvCxnSpPr>
        <p:spPr>
          <a:xfrm flipH="1" rot="5400000">
            <a:off x="4627538" y="2341150"/>
            <a:ext cx="485700" cy="2533800"/>
          </a:xfrm>
          <a:prstGeom prst="bentConnector2">
            <a:avLst/>
          </a:prstGeom>
          <a:noFill/>
          <a:ln cap="flat" cmpd="sng" w="19050">
            <a:solidFill>
              <a:srgbClr val="434343"/>
            </a:solidFill>
            <a:prstDash val="dash"/>
            <a:round/>
            <a:headEnd len="med" w="med" type="none"/>
            <a:tailEnd len="med" w="med" type="triangle"/>
          </a:ln>
        </p:spPr>
      </p:cxnSp>
      <p:sp>
        <p:nvSpPr>
          <p:cNvPr id="195" name="Google Shape;195;p13"/>
          <p:cNvSpPr txBox="1"/>
          <p:nvPr/>
        </p:nvSpPr>
        <p:spPr>
          <a:xfrm>
            <a:off x="4200862" y="3088276"/>
            <a:ext cx="1009200" cy="692700"/>
          </a:xfrm>
          <a:prstGeom prst="rect">
            <a:avLst/>
          </a:prstGeom>
          <a:solidFill>
            <a:srgbClr val="FFFFFF"/>
          </a:solidFill>
          <a:ln>
            <a:noFill/>
          </a:ln>
        </p:spPr>
        <p:txBody>
          <a:bodyPr anchorCtr="0" anchor="ctr" bIns="0" lIns="0" spcFirstLastPara="1" rIns="0" wrap="square" tIns="0">
            <a:sp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correos electrónicos y mensajes de confirmacionesa</a:t>
            </a:r>
            <a:endParaRPr sz="1000">
              <a:highlight>
                <a:srgbClr val="FFFFFF"/>
              </a:highlight>
              <a:latin typeface="Poppins"/>
              <a:ea typeface="Poppins"/>
              <a:cs typeface="Poppins"/>
              <a:sym typeface="Poppins"/>
            </a:endParaRPr>
          </a:p>
        </p:txBody>
      </p:sp>
      <p:cxnSp>
        <p:nvCxnSpPr>
          <p:cNvPr id="196" name="Google Shape;196;p13"/>
          <p:cNvCxnSpPr>
            <a:stCxn id="182" idx="2"/>
            <a:endCxn id="189" idx="0"/>
          </p:cNvCxnSpPr>
          <p:nvPr/>
        </p:nvCxnSpPr>
        <p:spPr>
          <a:xfrm flipH="1" rot="-5400000">
            <a:off x="2356163" y="6163250"/>
            <a:ext cx="1149900" cy="600"/>
          </a:xfrm>
          <a:prstGeom prst="bentConnector3">
            <a:avLst>
              <a:gd fmla="val 49998" name="adj1"/>
            </a:avLst>
          </a:prstGeom>
          <a:noFill/>
          <a:ln cap="flat" cmpd="sng" w="19050">
            <a:solidFill>
              <a:srgbClr val="434343"/>
            </a:solidFill>
            <a:prstDash val="dash"/>
            <a:round/>
            <a:headEnd len="med" w="med" type="none"/>
            <a:tailEnd len="med" w="med" type="triangle"/>
          </a:ln>
        </p:spPr>
      </p:cxnSp>
      <p:sp>
        <p:nvSpPr>
          <p:cNvPr id="197" name="Google Shape;197;p13"/>
          <p:cNvSpPr txBox="1"/>
          <p:nvPr/>
        </p:nvSpPr>
        <p:spPr>
          <a:xfrm>
            <a:off x="2184588" y="5746950"/>
            <a:ext cx="1478700" cy="4608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Realiza llamadas API</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[HTTPS/JSON (REST) / JWT]</a:t>
            </a:r>
            <a:endParaRPr sz="800">
              <a:highlight>
                <a:srgbClr val="FFFFFF"/>
              </a:highlight>
              <a:latin typeface="Poppins"/>
              <a:ea typeface="Poppins"/>
              <a:cs typeface="Poppins"/>
              <a:sym typeface="Poppins"/>
            </a:endParaRPr>
          </a:p>
        </p:txBody>
      </p:sp>
      <p:cxnSp>
        <p:nvCxnSpPr>
          <p:cNvPr id="198" name="Google Shape;198;p13"/>
          <p:cNvCxnSpPr>
            <a:stCxn id="189" idx="1"/>
            <a:endCxn id="191" idx="1"/>
          </p:cNvCxnSpPr>
          <p:nvPr/>
        </p:nvCxnSpPr>
        <p:spPr>
          <a:xfrm flipH="1">
            <a:off x="1637738" y="7078352"/>
            <a:ext cx="758700" cy="1992300"/>
          </a:xfrm>
          <a:prstGeom prst="bentConnector2">
            <a:avLst/>
          </a:prstGeom>
          <a:noFill/>
          <a:ln cap="flat" cmpd="sng" w="19050">
            <a:solidFill>
              <a:srgbClr val="434343"/>
            </a:solidFill>
            <a:prstDash val="dash"/>
            <a:round/>
            <a:headEnd len="med" w="med" type="none"/>
            <a:tailEnd len="med" w="med" type="triangle"/>
          </a:ln>
        </p:spPr>
      </p:cxnSp>
      <p:sp>
        <p:nvSpPr>
          <p:cNvPr id="199" name="Google Shape;199;p13"/>
          <p:cNvSpPr txBox="1"/>
          <p:nvPr/>
        </p:nvSpPr>
        <p:spPr>
          <a:xfrm>
            <a:off x="1091088" y="7895563"/>
            <a:ext cx="1220400" cy="5310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Lee y escribe en la base de datos [SQL/JPA] </a:t>
            </a:r>
            <a:endParaRPr sz="800">
              <a:highlight>
                <a:srgbClr val="FFFFFF"/>
              </a:highlight>
              <a:latin typeface="Poppins"/>
              <a:ea typeface="Poppins"/>
              <a:cs typeface="Poppins"/>
              <a:sym typeface="Poppins"/>
            </a:endParaRPr>
          </a:p>
        </p:txBody>
      </p:sp>
      <p:sp>
        <p:nvSpPr>
          <p:cNvPr id="200" name="Google Shape;200;p13"/>
          <p:cNvSpPr/>
          <p:nvPr/>
        </p:nvSpPr>
        <p:spPr>
          <a:xfrm>
            <a:off x="3338138" y="6738450"/>
            <a:ext cx="127800" cy="13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1" name="Google Shape;201;p13"/>
          <p:cNvCxnSpPr>
            <a:stCxn id="200" idx="3"/>
            <a:endCxn id="179" idx="2"/>
          </p:cNvCxnSpPr>
          <p:nvPr/>
        </p:nvCxnSpPr>
        <p:spPr>
          <a:xfrm flipH="1" rot="10800000">
            <a:off x="3465938" y="4595400"/>
            <a:ext cx="2671500" cy="2209200"/>
          </a:xfrm>
          <a:prstGeom prst="straightConnector1">
            <a:avLst/>
          </a:prstGeom>
          <a:noFill/>
          <a:ln cap="flat" cmpd="sng" w="19050">
            <a:solidFill>
              <a:srgbClr val="434343"/>
            </a:solidFill>
            <a:prstDash val="dash"/>
            <a:round/>
            <a:headEnd len="med" w="med" type="none"/>
            <a:tailEnd len="med" w="med" type="triangle"/>
          </a:ln>
        </p:spPr>
      </p:cxnSp>
      <p:sp>
        <p:nvSpPr>
          <p:cNvPr id="202" name="Google Shape;202;p13"/>
          <p:cNvSpPr txBox="1"/>
          <p:nvPr/>
        </p:nvSpPr>
        <p:spPr>
          <a:xfrm>
            <a:off x="4925913" y="4812925"/>
            <a:ext cx="1571700" cy="6516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1000">
                <a:highlight>
                  <a:srgbClr val="FFFFFF"/>
                </a:highlight>
                <a:latin typeface="Poppins"/>
                <a:ea typeface="Poppins"/>
                <a:cs typeface="Poppins"/>
                <a:sym typeface="Poppins"/>
              </a:rPr>
              <a:t>Envía solicitudes para generar correos y notificaciones</a:t>
            </a:r>
            <a:endParaRPr sz="100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800">
                <a:highlight>
                  <a:srgbClr val="FFFFFF"/>
                </a:highlight>
                <a:latin typeface="Poppins"/>
                <a:ea typeface="Poppins"/>
                <a:cs typeface="Poppins"/>
                <a:sym typeface="Poppins"/>
              </a:rPr>
              <a:t>[SMTP/TLS]</a:t>
            </a:r>
            <a:endParaRPr sz="800">
              <a:highlight>
                <a:srgbClr val="FFFFFF"/>
              </a:highlight>
              <a:latin typeface="Poppins"/>
              <a:ea typeface="Poppins"/>
              <a:cs typeface="Poppins"/>
              <a:sym typeface="Poppins"/>
            </a:endParaRPr>
          </a:p>
        </p:txBody>
      </p:sp>
      <p:sp>
        <p:nvSpPr>
          <p:cNvPr id="203" name="Google Shape;203;p13"/>
          <p:cNvSpPr/>
          <p:nvPr/>
        </p:nvSpPr>
        <p:spPr>
          <a:xfrm>
            <a:off x="3107352" y="9070650"/>
            <a:ext cx="1220400" cy="8415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800">
                <a:solidFill>
                  <a:srgbClr val="156CBE"/>
                </a:solidFill>
                <a:latin typeface="Poppins"/>
                <a:ea typeface="Poppins"/>
                <a:cs typeface="Poppins"/>
                <a:sym typeface="Poppins"/>
              </a:rPr>
              <a:t>ALMACENAMIENTO IMÁGENES</a:t>
            </a:r>
            <a:endParaRPr b="1" sz="12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700">
                <a:solidFill>
                  <a:srgbClr val="156CBE"/>
                </a:solidFill>
                <a:latin typeface="Poppins"/>
                <a:ea typeface="Poppins"/>
                <a:cs typeface="Poppins"/>
                <a:sym typeface="Poppins"/>
              </a:rPr>
              <a:t>[Container: Amazon S3]</a:t>
            </a:r>
            <a:endParaRPr sz="700">
              <a:solidFill>
                <a:srgbClr val="156CBE"/>
              </a:solidFill>
              <a:latin typeface="Poppins"/>
              <a:ea typeface="Poppins"/>
              <a:cs typeface="Poppins"/>
              <a:sym typeface="Poppins"/>
            </a:endParaRPr>
          </a:p>
        </p:txBody>
      </p:sp>
      <p:cxnSp>
        <p:nvCxnSpPr>
          <p:cNvPr id="204" name="Google Shape;204;p13"/>
          <p:cNvCxnSpPr>
            <a:stCxn id="189" idx="3"/>
            <a:endCxn id="203" idx="1"/>
          </p:cNvCxnSpPr>
          <p:nvPr/>
        </p:nvCxnSpPr>
        <p:spPr>
          <a:xfrm>
            <a:off x="3465938" y="7078352"/>
            <a:ext cx="251700" cy="1992300"/>
          </a:xfrm>
          <a:prstGeom prst="bentConnector2">
            <a:avLst/>
          </a:prstGeom>
          <a:noFill/>
          <a:ln cap="flat" cmpd="sng" w="19050">
            <a:solidFill>
              <a:srgbClr val="434343"/>
            </a:solidFill>
            <a:prstDash val="dash"/>
            <a:round/>
            <a:headEnd len="med" w="med" type="none"/>
            <a:tailEnd len="med" w="med" type="triangle"/>
          </a:ln>
        </p:spPr>
      </p:cxnSp>
      <p:sp>
        <p:nvSpPr>
          <p:cNvPr id="205" name="Google Shape;205;p13"/>
          <p:cNvSpPr txBox="1"/>
          <p:nvPr/>
        </p:nvSpPr>
        <p:spPr>
          <a:xfrm>
            <a:off x="2976025" y="7835100"/>
            <a:ext cx="1478700" cy="651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latin typeface="Poppins"/>
                <a:ea typeface="Poppins"/>
                <a:cs typeface="Poppins"/>
                <a:sym typeface="Poppins"/>
              </a:rPr>
              <a:t>Consulta las fotos de los productos para moderación [HTTPS/API] </a:t>
            </a:r>
            <a:endParaRPr sz="1000">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4"/>
          <p:cNvSpPr txBox="1"/>
          <p:nvPr/>
        </p:nvSpPr>
        <p:spPr>
          <a:xfrm>
            <a:off x="1021200" y="1017250"/>
            <a:ext cx="5735700" cy="826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2.7 Diagrama de componentes (N1)</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interior de los componentes de LittleStyle (por ejemplo, el Backend/API). Separados por tipo de usuario</a:t>
            </a:r>
            <a:endParaRPr sz="1200">
              <a:solidFill>
                <a:schemeClr val="dk1"/>
              </a:solidFill>
              <a:latin typeface="Poppins"/>
              <a:ea typeface="Poppins"/>
              <a:cs typeface="Poppins"/>
              <a:sym typeface="Poppins"/>
            </a:endParaRPr>
          </a:p>
        </p:txBody>
      </p:sp>
      <p:sp>
        <p:nvSpPr>
          <p:cNvPr id="211" name="Google Shape;211;p14"/>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2" name="Google Shape;212;p14"/>
          <p:cNvSpPr/>
          <p:nvPr/>
        </p:nvSpPr>
        <p:spPr>
          <a:xfrm>
            <a:off x="4540142" y="773675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3" name="Google Shape;213;p14"/>
          <p:cNvSpPr/>
          <p:nvPr/>
        </p:nvSpPr>
        <p:spPr>
          <a:xfrm>
            <a:off x="5251799" y="2313875"/>
            <a:ext cx="1052700" cy="586800"/>
          </a:xfrm>
          <a:prstGeom prst="roundRect">
            <a:avLst>
              <a:gd fmla="val 6867" name="adj"/>
            </a:avLst>
          </a:prstGeom>
          <a:noFill/>
          <a:ln cap="flat" cmpd="sng" w="22525">
            <a:solidFill>
              <a:srgbClr val="C42228"/>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C42228"/>
                </a:solidFill>
                <a:latin typeface="Poppins"/>
                <a:ea typeface="Poppins"/>
                <a:cs typeface="Poppins"/>
                <a:sym typeface="Poppins"/>
              </a:rPr>
              <a:t>Servicio de Notificaciones y Correo</a:t>
            </a:r>
            <a:endParaRPr b="1" sz="946">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C42228"/>
                </a:solidFill>
                <a:latin typeface="Poppins"/>
                <a:ea typeface="Poppins"/>
                <a:cs typeface="Poppins"/>
                <a:sym typeface="Poppins"/>
              </a:rPr>
              <a:t>[Sistema de Software]</a:t>
            </a:r>
            <a:endParaRPr sz="552">
              <a:solidFill>
                <a:srgbClr val="434343"/>
              </a:solidFill>
              <a:latin typeface="Poppins"/>
              <a:ea typeface="Poppins"/>
              <a:cs typeface="Poppins"/>
              <a:sym typeface="Poppins"/>
            </a:endParaRPr>
          </a:p>
        </p:txBody>
      </p:sp>
      <p:sp>
        <p:nvSpPr>
          <p:cNvPr id="214" name="Google Shape;214;p14"/>
          <p:cNvSpPr/>
          <p:nvPr/>
        </p:nvSpPr>
        <p:spPr>
          <a:xfrm>
            <a:off x="1088250" y="3223550"/>
            <a:ext cx="4693800" cy="6670800"/>
          </a:xfrm>
          <a:prstGeom prst="roundRect">
            <a:avLst>
              <a:gd fmla="val 3417" name="adj"/>
            </a:avLst>
          </a:prstGeom>
          <a:noFill/>
          <a:ln cap="flat" cmpd="sng" w="22525">
            <a:solidFill>
              <a:srgbClr val="1B6FC0"/>
            </a:solidFill>
            <a:prstDash val="solid"/>
            <a:round/>
            <a:headEnd len="sm" w="sm" type="none"/>
            <a:tailEnd len="sm" w="sm" type="none"/>
          </a:ln>
        </p:spPr>
        <p:txBody>
          <a:bodyPr anchorCtr="0" anchor="b" bIns="56725" lIns="56725" spcFirstLastPara="1" rIns="28375" wrap="square" tIns="28375">
            <a:noAutofit/>
          </a:bodyPr>
          <a:lstStyle/>
          <a:p>
            <a:pPr indent="0" lvl="0" marL="0" rtl="0" algn="l">
              <a:lnSpc>
                <a:spcPct val="90000"/>
              </a:lnSpc>
              <a:spcBef>
                <a:spcPts val="0"/>
              </a:spcBef>
              <a:spcAft>
                <a:spcPts val="0"/>
              </a:spcAft>
              <a:buNone/>
            </a:pPr>
            <a:r>
              <a:rPr b="1" lang="es" sz="550">
                <a:solidFill>
                  <a:srgbClr val="156CBE"/>
                </a:solidFill>
                <a:latin typeface="Poppins"/>
                <a:ea typeface="Poppins"/>
                <a:cs typeface="Poppins"/>
                <a:sym typeface="Poppins"/>
              </a:rPr>
              <a:t>Backend</a:t>
            </a:r>
            <a:endParaRPr sz="550">
              <a:solidFill>
                <a:srgbClr val="434343"/>
              </a:solidFill>
            </a:endParaRPr>
          </a:p>
        </p:txBody>
      </p:sp>
      <p:grpSp>
        <p:nvGrpSpPr>
          <p:cNvPr id="215" name="Google Shape;215;p14"/>
          <p:cNvGrpSpPr/>
          <p:nvPr/>
        </p:nvGrpSpPr>
        <p:grpSpPr>
          <a:xfrm>
            <a:off x="1161288" y="3427495"/>
            <a:ext cx="911569" cy="471085"/>
            <a:chOff x="1182464" y="3950600"/>
            <a:chExt cx="1156961" cy="597900"/>
          </a:xfrm>
        </p:grpSpPr>
        <p:sp>
          <p:nvSpPr>
            <p:cNvPr id="216" name="Google Shape;216;p14"/>
            <p:cNvSpPr/>
            <p:nvPr/>
          </p:nvSpPr>
          <p:spPr>
            <a:xfrm>
              <a:off x="1269925" y="3950600"/>
              <a:ext cx="10695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API de Inicio de Sesión</a:t>
              </a:r>
              <a:endParaRPr sz="552">
                <a:solidFill>
                  <a:schemeClr val="dk1"/>
                </a:solidFill>
              </a:endParaRPr>
            </a:p>
          </p:txBody>
        </p:sp>
        <p:sp>
          <p:nvSpPr>
            <p:cNvPr id="217" name="Google Shape;217;p14"/>
            <p:cNvSpPr/>
            <p:nvPr/>
          </p:nvSpPr>
          <p:spPr>
            <a:xfrm>
              <a:off x="1182464" y="4036075"/>
              <a:ext cx="172800" cy="81900"/>
            </a:xfrm>
            <a:prstGeom prst="roundRect">
              <a:avLst>
                <a:gd fmla="val 27950" name="adj"/>
              </a:avLst>
            </a:prstGeom>
            <a:solidFill>
              <a:srgbClr val="FFFFFF"/>
            </a:solidFill>
            <a:ln cap="flat" cmpd="sng" w="15000">
              <a:solidFill>
                <a:srgbClr val="00000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18" name="Google Shape;218;p14"/>
            <p:cNvSpPr/>
            <p:nvPr/>
          </p:nvSpPr>
          <p:spPr>
            <a:xfrm>
              <a:off x="1182464" y="4166352"/>
              <a:ext cx="172800" cy="81900"/>
            </a:xfrm>
            <a:prstGeom prst="roundRect">
              <a:avLst>
                <a:gd fmla="val 27950" name="adj"/>
              </a:avLst>
            </a:prstGeom>
            <a:solidFill>
              <a:srgbClr val="FFFFFF"/>
            </a:solidFill>
            <a:ln cap="flat" cmpd="sng" w="15000">
              <a:solidFill>
                <a:srgbClr val="00000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219" name="Google Shape;219;p14"/>
          <p:cNvGrpSpPr/>
          <p:nvPr/>
        </p:nvGrpSpPr>
        <p:grpSpPr>
          <a:xfrm>
            <a:off x="2794539" y="3427491"/>
            <a:ext cx="980361" cy="471085"/>
            <a:chOff x="1182464" y="3950595"/>
            <a:chExt cx="1244271" cy="597900"/>
          </a:xfrm>
        </p:grpSpPr>
        <p:sp>
          <p:nvSpPr>
            <p:cNvPr id="220" name="Google Shape;220;p14"/>
            <p:cNvSpPr/>
            <p:nvPr/>
          </p:nvSpPr>
          <p:spPr>
            <a:xfrm>
              <a:off x="1269935" y="3950595"/>
              <a:ext cx="11568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API de Vendedores</a:t>
              </a:r>
              <a:endParaRPr b="1" sz="946">
                <a:solidFill>
                  <a:srgbClr val="156CBE"/>
                </a:solidFill>
                <a:latin typeface="Poppins"/>
                <a:ea typeface="Poppins"/>
                <a:cs typeface="Poppins"/>
                <a:sym typeface="Poppins"/>
              </a:endParaRPr>
            </a:p>
          </p:txBody>
        </p:sp>
        <p:sp>
          <p:nvSpPr>
            <p:cNvPr id="221" name="Google Shape;221;p14"/>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22" name="Google Shape;222;p14"/>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223" name="Google Shape;223;p14"/>
          <p:cNvGrpSpPr/>
          <p:nvPr/>
        </p:nvGrpSpPr>
        <p:grpSpPr>
          <a:xfrm>
            <a:off x="1100809" y="8023200"/>
            <a:ext cx="1019124" cy="586670"/>
            <a:chOff x="1182464" y="3950612"/>
            <a:chExt cx="1293468" cy="744600"/>
          </a:xfrm>
        </p:grpSpPr>
        <p:sp>
          <p:nvSpPr>
            <p:cNvPr id="224" name="Google Shape;224;p14"/>
            <p:cNvSpPr/>
            <p:nvPr/>
          </p:nvSpPr>
          <p:spPr>
            <a:xfrm>
              <a:off x="1269933" y="3950612"/>
              <a:ext cx="1206000" cy="7446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seguridad</a:t>
              </a:r>
              <a:endParaRPr b="1" sz="946">
                <a:solidFill>
                  <a:schemeClr val="dk1"/>
                </a:solidFill>
                <a:latin typeface="Poppins"/>
                <a:ea typeface="Poppins"/>
                <a:cs typeface="Poppins"/>
                <a:sym typeface="Poppins"/>
              </a:endParaRPr>
            </a:p>
          </p:txBody>
        </p:sp>
        <p:sp>
          <p:nvSpPr>
            <p:cNvPr id="225" name="Google Shape;225;p14"/>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26" name="Google Shape;226;p14"/>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sp>
        <p:nvSpPr>
          <p:cNvPr id="227" name="Google Shape;227;p14"/>
          <p:cNvSpPr/>
          <p:nvPr/>
        </p:nvSpPr>
        <p:spPr>
          <a:xfrm>
            <a:off x="2697509" y="10920072"/>
            <a:ext cx="861600" cy="663000"/>
          </a:xfrm>
          <a:prstGeom prst="can">
            <a:avLst>
              <a:gd fmla="val 25000" name="adj"/>
            </a:avLst>
          </a:prstGeom>
          <a:noFill/>
          <a:ln cap="flat" cmpd="sng" w="15000">
            <a:solidFill>
              <a:srgbClr val="1B6FC0"/>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Database</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MySql Database Schema]</a:t>
            </a:r>
            <a:endParaRPr sz="1103"/>
          </a:p>
        </p:txBody>
      </p:sp>
      <p:cxnSp>
        <p:nvCxnSpPr>
          <p:cNvPr id="228" name="Google Shape;228;p14"/>
          <p:cNvCxnSpPr>
            <a:stCxn id="229" idx="1"/>
            <a:endCxn id="216" idx="0"/>
          </p:cNvCxnSpPr>
          <p:nvPr/>
        </p:nvCxnSpPr>
        <p:spPr>
          <a:xfrm flipH="1">
            <a:off x="1651425" y="2437977"/>
            <a:ext cx="1242600" cy="989400"/>
          </a:xfrm>
          <a:prstGeom prst="bentConnector2">
            <a:avLst/>
          </a:prstGeom>
          <a:noFill/>
          <a:ln cap="flat" cmpd="sng" w="15000">
            <a:solidFill>
              <a:srgbClr val="434343"/>
            </a:solidFill>
            <a:prstDash val="dash"/>
            <a:round/>
            <a:headEnd len="med" w="med" type="none"/>
            <a:tailEnd len="med" w="med" type="triangle"/>
          </a:ln>
        </p:spPr>
      </p:cxnSp>
      <p:sp>
        <p:nvSpPr>
          <p:cNvPr id="230" name="Google Shape;230;p14"/>
          <p:cNvSpPr txBox="1"/>
          <p:nvPr/>
        </p:nvSpPr>
        <p:spPr>
          <a:xfrm>
            <a:off x="1265616" y="2806444"/>
            <a:ext cx="652500" cy="229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Envía credenciales</a:t>
            </a:r>
            <a:endParaRPr sz="630">
              <a:highlight>
                <a:srgbClr val="FFFFFF"/>
              </a:highlight>
              <a:latin typeface="Poppins"/>
              <a:ea typeface="Poppins"/>
              <a:cs typeface="Poppins"/>
              <a:sym typeface="Poppins"/>
            </a:endParaRPr>
          </a:p>
        </p:txBody>
      </p:sp>
      <p:grpSp>
        <p:nvGrpSpPr>
          <p:cNvPr id="231" name="Google Shape;231;p14"/>
          <p:cNvGrpSpPr/>
          <p:nvPr/>
        </p:nvGrpSpPr>
        <p:grpSpPr>
          <a:xfrm>
            <a:off x="4314367" y="7114968"/>
            <a:ext cx="1208339" cy="453908"/>
            <a:chOff x="1182464" y="3976309"/>
            <a:chExt cx="1533620" cy="744600"/>
          </a:xfrm>
        </p:grpSpPr>
        <p:sp>
          <p:nvSpPr>
            <p:cNvPr id="232" name="Google Shape;232;p14"/>
            <p:cNvSpPr/>
            <p:nvPr/>
          </p:nvSpPr>
          <p:spPr>
            <a:xfrm>
              <a:off x="1257785" y="3976309"/>
              <a:ext cx="1458300" cy="7446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Notificaciones</a:t>
              </a:r>
              <a:endParaRPr b="1" sz="946">
                <a:solidFill>
                  <a:schemeClr val="dk1"/>
                </a:solidFill>
                <a:latin typeface="Poppins"/>
                <a:ea typeface="Poppins"/>
                <a:cs typeface="Poppins"/>
                <a:sym typeface="Poppins"/>
              </a:endParaRPr>
            </a:p>
          </p:txBody>
        </p:sp>
        <p:sp>
          <p:nvSpPr>
            <p:cNvPr id="233" name="Google Shape;233;p14"/>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34" name="Google Shape;234;p14"/>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235" name="Google Shape;235;p14"/>
          <p:cNvCxnSpPr>
            <a:stCxn id="229" idx="2"/>
            <a:endCxn id="220" idx="0"/>
          </p:cNvCxnSpPr>
          <p:nvPr/>
        </p:nvCxnSpPr>
        <p:spPr>
          <a:xfrm flipH="1" rot="-5400000">
            <a:off x="2940354" y="3048519"/>
            <a:ext cx="753900" cy="3900"/>
          </a:xfrm>
          <a:prstGeom prst="bentConnector3">
            <a:avLst>
              <a:gd fmla="val 50005" name="adj1"/>
            </a:avLst>
          </a:prstGeom>
          <a:noFill/>
          <a:ln cap="flat" cmpd="sng" w="19050">
            <a:solidFill>
              <a:srgbClr val="434343"/>
            </a:solidFill>
            <a:prstDash val="dash"/>
            <a:round/>
            <a:headEnd len="med" w="med" type="none"/>
            <a:tailEnd len="med" w="med" type="triangle"/>
          </a:ln>
        </p:spPr>
      </p:cxnSp>
      <p:sp>
        <p:nvSpPr>
          <p:cNvPr id="236" name="Google Shape;236;p14"/>
          <p:cNvSpPr txBox="1"/>
          <p:nvPr/>
        </p:nvSpPr>
        <p:spPr>
          <a:xfrm>
            <a:off x="2206688" y="2810000"/>
            <a:ext cx="842700" cy="2643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Accede las funcionalidades del vendedor</a:t>
            </a:r>
            <a:endParaRPr sz="630">
              <a:highlight>
                <a:srgbClr val="FFFFFF"/>
              </a:highlight>
              <a:latin typeface="Poppins"/>
              <a:ea typeface="Poppins"/>
              <a:cs typeface="Poppins"/>
              <a:sym typeface="Poppins"/>
            </a:endParaRPr>
          </a:p>
        </p:txBody>
      </p:sp>
      <p:cxnSp>
        <p:nvCxnSpPr>
          <p:cNvPr id="237" name="Google Shape;237;p14"/>
          <p:cNvCxnSpPr>
            <a:stCxn id="224" idx="2"/>
            <a:endCxn id="227" idx="2"/>
          </p:cNvCxnSpPr>
          <p:nvPr/>
        </p:nvCxnSpPr>
        <p:spPr>
          <a:xfrm flipH="1" rot="-5400000">
            <a:off x="850279" y="9404420"/>
            <a:ext cx="2641800" cy="1052700"/>
          </a:xfrm>
          <a:prstGeom prst="bentConnector2">
            <a:avLst/>
          </a:prstGeom>
          <a:noFill/>
          <a:ln cap="flat" cmpd="sng" w="15000">
            <a:solidFill>
              <a:srgbClr val="434343"/>
            </a:solidFill>
            <a:prstDash val="dash"/>
            <a:round/>
            <a:headEnd len="med" w="med" type="none"/>
            <a:tailEnd len="med" w="med" type="triangle"/>
          </a:ln>
        </p:spPr>
      </p:cxnSp>
      <p:cxnSp>
        <p:nvCxnSpPr>
          <p:cNvPr id="238" name="Google Shape;238;p14"/>
          <p:cNvCxnSpPr>
            <a:stCxn id="216" idx="2"/>
            <a:endCxn id="224" idx="0"/>
          </p:cNvCxnSpPr>
          <p:nvPr/>
        </p:nvCxnSpPr>
        <p:spPr>
          <a:xfrm rot="5400000">
            <a:off x="-414122" y="5957631"/>
            <a:ext cx="4124700" cy="6600"/>
          </a:xfrm>
          <a:prstGeom prst="bentConnector3">
            <a:avLst>
              <a:gd fmla="val 49999" name="adj1"/>
            </a:avLst>
          </a:prstGeom>
          <a:noFill/>
          <a:ln cap="flat" cmpd="sng" w="15000">
            <a:solidFill>
              <a:srgbClr val="434343"/>
            </a:solidFill>
            <a:prstDash val="dash"/>
            <a:round/>
            <a:headEnd len="med" w="med" type="none"/>
            <a:tailEnd len="med" w="med" type="triangle"/>
          </a:ln>
        </p:spPr>
      </p:cxnSp>
      <p:sp>
        <p:nvSpPr>
          <p:cNvPr id="239" name="Google Shape;239;p14"/>
          <p:cNvSpPr txBox="1"/>
          <p:nvPr/>
        </p:nvSpPr>
        <p:spPr>
          <a:xfrm>
            <a:off x="1234884" y="4147653"/>
            <a:ext cx="710700" cy="229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Valida credenciales</a:t>
            </a:r>
            <a:endParaRPr sz="788">
              <a:highlight>
                <a:srgbClr val="FFFFFF"/>
              </a:highlight>
              <a:latin typeface="Poppins"/>
              <a:ea typeface="Poppins"/>
              <a:cs typeface="Poppins"/>
              <a:sym typeface="Poppins"/>
            </a:endParaRPr>
          </a:p>
        </p:txBody>
      </p:sp>
      <p:cxnSp>
        <p:nvCxnSpPr>
          <p:cNvPr id="240" name="Google Shape;240;p14"/>
          <p:cNvCxnSpPr>
            <a:stCxn id="224" idx="3"/>
            <a:endCxn id="232" idx="1"/>
          </p:cNvCxnSpPr>
          <p:nvPr/>
        </p:nvCxnSpPr>
        <p:spPr>
          <a:xfrm flipH="1" rot="10800000">
            <a:off x="2119933" y="7341835"/>
            <a:ext cx="2253900" cy="974700"/>
          </a:xfrm>
          <a:prstGeom prst="bentConnector3">
            <a:avLst>
              <a:gd fmla="val 49997" name="adj1"/>
            </a:avLst>
          </a:prstGeom>
          <a:noFill/>
          <a:ln cap="flat" cmpd="sng" w="15000">
            <a:solidFill>
              <a:srgbClr val="434343"/>
            </a:solidFill>
            <a:prstDash val="dash"/>
            <a:round/>
            <a:headEnd len="med" w="med" type="none"/>
            <a:tailEnd len="med" w="med" type="triangle"/>
          </a:ln>
        </p:spPr>
      </p:cxnSp>
      <p:cxnSp>
        <p:nvCxnSpPr>
          <p:cNvPr id="241" name="Google Shape;241;p14"/>
          <p:cNvCxnSpPr>
            <a:stCxn id="232" idx="3"/>
            <a:endCxn id="213" idx="3"/>
          </p:cNvCxnSpPr>
          <p:nvPr/>
        </p:nvCxnSpPr>
        <p:spPr>
          <a:xfrm flipH="1" rot="10800000">
            <a:off x="5522706" y="2607322"/>
            <a:ext cx="781800" cy="4734600"/>
          </a:xfrm>
          <a:prstGeom prst="bentConnector3">
            <a:avLst>
              <a:gd fmla="val 130458" name="adj1"/>
            </a:avLst>
          </a:prstGeom>
          <a:noFill/>
          <a:ln cap="flat" cmpd="sng" w="15000">
            <a:solidFill>
              <a:srgbClr val="434343"/>
            </a:solidFill>
            <a:prstDash val="dash"/>
            <a:round/>
            <a:headEnd len="med" w="med" type="none"/>
            <a:tailEnd len="med" w="med" type="triangle"/>
          </a:ln>
        </p:spPr>
      </p:cxnSp>
      <p:sp>
        <p:nvSpPr>
          <p:cNvPr id="242" name="Google Shape;242;p14"/>
          <p:cNvSpPr txBox="1"/>
          <p:nvPr/>
        </p:nvSpPr>
        <p:spPr>
          <a:xfrm>
            <a:off x="5870622" y="3543468"/>
            <a:ext cx="8427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88">
                <a:highlight>
                  <a:srgbClr val="FFFFFF"/>
                </a:highlight>
                <a:latin typeface="Poppins"/>
                <a:ea typeface="Poppins"/>
                <a:cs typeface="Poppins"/>
                <a:sym typeface="Poppins"/>
              </a:rPr>
              <a:t>Envía notificaciones </a:t>
            </a:r>
            <a:r>
              <a:rPr lang="es" sz="630">
                <a:highlight>
                  <a:srgbClr val="FFFFFF"/>
                </a:highlight>
                <a:latin typeface="Poppins"/>
                <a:ea typeface="Poppins"/>
                <a:cs typeface="Poppins"/>
                <a:sym typeface="Poppins"/>
              </a:rPr>
              <a:t>(JSON/HTTPS)</a:t>
            </a:r>
            <a:endParaRPr sz="473">
              <a:highlight>
                <a:srgbClr val="FFFFFF"/>
              </a:highlight>
              <a:latin typeface="Poppins"/>
              <a:ea typeface="Poppins"/>
              <a:cs typeface="Poppins"/>
              <a:sym typeface="Poppins"/>
            </a:endParaRPr>
          </a:p>
        </p:txBody>
      </p:sp>
      <p:cxnSp>
        <p:nvCxnSpPr>
          <p:cNvPr id="243" name="Google Shape;243;p14"/>
          <p:cNvCxnSpPr>
            <a:stCxn id="244" idx="2"/>
          </p:cNvCxnSpPr>
          <p:nvPr/>
        </p:nvCxnSpPr>
        <p:spPr>
          <a:xfrm flipH="1" rot="-5400000">
            <a:off x="1908970" y="9991231"/>
            <a:ext cx="1639200" cy="201000"/>
          </a:xfrm>
          <a:prstGeom prst="bentConnector3">
            <a:avLst>
              <a:gd fmla="val 50000" name="adj1"/>
            </a:avLst>
          </a:prstGeom>
          <a:noFill/>
          <a:ln cap="flat" cmpd="sng" w="15000">
            <a:solidFill>
              <a:srgbClr val="434343"/>
            </a:solidFill>
            <a:prstDash val="dash"/>
            <a:round/>
            <a:headEnd len="med" w="med" type="none"/>
            <a:tailEnd len="med" w="med" type="triangle"/>
          </a:ln>
        </p:spPr>
      </p:cxnSp>
      <p:cxnSp>
        <p:nvCxnSpPr>
          <p:cNvPr id="245" name="Google Shape;245;p14"/>
          <p:cNvCxnSpPr>
            <a:stCxn id="220" idx="1"/>
            <a:endCxn id="246" idx="0"/>
          </p:cNvCxnSpPr>
          <p:nvPr/>
        </p:nvCxnSpPr>
        <p:spPr>
          <a:xfrm flipH="1">
            <a:off x="2654657" y="3663034"/>
            <a:ext cx="208800" cy="989400"/>
          </a:xfrm>
          <a:prstGeom prst="bentConnector2">
            <a:avLst/>
          </a:prstGeom>
          <a:noFill/>
          <a:ln cap="flat" cmpd="sng" w="15000">
            <a:solidFill>
              <a:srgbClr val="434343"/>
            </a:solidFill>
            <a:prstDash val="dash"/>
            <a:round/>
            <a:headEnd len="med" w="med" type="none"/>
            <a:tailEnd len="med" w="med" type="triangle"/>
          </a:ln>
        </p:spPr>
      </p:cxnSp>
      <p:sp>
        <p:nvSpPr>
          <p:cNvPr id="247" name="Google Shape;247;p14"/>
          <p:cNvSpPr/>
          <p:nvPr/>
        </p:nvSpPr>
        <p:spPr>
          <a:xfrm>
            <a:off x="5807443" y="5240008"/>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14"/>
          <p:cNvSpPr txBox="1"/>
          <p:nvPr/>
        </p:nvSpPr>
        <p:spPr>
          <a:xfrm>
            <a:off x="2356327" y="402946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Aplica reglas de negocio de</a:t>
            </a:r>
            <a:endParaRPr sz="788">
              <a:highlight>
                <a:srgbClr val="FFFFFF"/>
              </a:highlight>
              <a:latin typeface="Poppins"/>
              <a:ea typeface="Poppins"/>
              <a:cs typeface="Poppins"/>
              <a:sym typeface="Poppins"/>
            </a:endParaRPr>
          </a:p>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producto</a:t>
            </a:r>
            <a:endParaRPr sz="788">
              <a:highlight>
                <a:srgbClr val="FFFFFF"/>
              </a:highlight>
              <a:latin typeface="Poppins"/>
              <a:ea typeface="Poppins"/>
              <a:cs typeface="Poppins"/>
              <a:sym typeface="Poppins"/>
            </a:endParaRPr>
          </a:p>
        </p:txBody>
      </p:sp>
      <p:sp>
        <p:nvSpPr>
          <p:cNvPr id="249" name="Google Shape;249;p14"/>
          <p:cNvSpPr/>
          <p:nvPr/>
        </p:nvSpPr>
        <p:spPr>
          <a:xfrm>
            <a:off x="3368900" y="3661383"/>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0" name="Google Shape;250;p14"/>
          <p:cNvGrpSpPr/>
          <p:nvPr/>
        </p:nvGrpSpPr>
        <p:grpSpPr>
          <a:xfrm>
            <a:off x="2164514" y="4652540"/>
            <a:ext cx="911569" cy="471085"/>
            <a:chOff x="1182464" y="3950600"/>
            <a:chExt cx="1156961" cy="597900"/>
          </a:xfrm>
        </p:grpSpPr>
        <p:sp>
          <p:nvSpPr>
            <p:cNvPr id="246" name="Google Shape;246;p14"/>
            <p:cNvSpPr/>
            <p:nvPr/>
          </p:nvSpPr>
          <p:spPr>
            <a:xfrm>
              <a:off x="1269925" y="395060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Gestión </a:t>
              </a:r>
              <a:r>
                <a:rPr b="1" lang="es" sz="946">
                  <a:solidFill>
                    <a:srgbClr val="156CBE"/>
                  </a:solidFill>
                  <a:latin typeface="Poppins"/>
                  <a:ea typeface="Poppins"/>
                  <a:cs typeface="Poppins"/>
                  <a:sym typeface="Poppins"/>
                </a:rPr>
                <a:t>de productos</a:t>
              </a:r>
              <a:endParaRPr b="1" sz="946">
                <a:solidFill>
                  <a:srgbClr val="156CBE"/>
                </a:solidFill>
                <a:latin typeface="Poppins"/>
                <a:ea typeface="Poppins"/>
                <a:cs typeface="Poppins"/>
                <a:sym typeface="Poppins"/>
              </a:endParaRPr>
            </a:p>
          </p:txBody>
        </p:sp>
        <p:sp>
          <p:nvSpPr>
            <p:cNvPr id="251" name="Google Shape;251;p14"/>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52" name="Google Shape;252;p14"/>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sp>
        <p:nvSpPr>
          <p:cNvPr id="253" name="Google Shape;253;p14"/>
          <p:cNvSpPr/>
          <p:nvPr/>
        </p:nvSpPr>
        <p:spPr>
          <a:xfrm>
            <a:off x="2178375" y="4130048"/>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14"/>
          <p:cNvSpPr/>
          <p:nvPr/>
        </p:nvSpPr>
        <p:spPr>
          <a:xfrm>
            <a:off x="3439852" y="5718532"/>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14"/>
          <p:cNvSpPr/>
          <p:nvPr/>
        </p:nvSpPr>
        <p:spPr>
          <a:xfrm>
            <a:off x="3382352" y="9773966"/>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14"/>
          <p:cNvSpPr/>
          <p:nvPr/>
        </p:nvSpPr>
        <p:spPr>
          <a:xfrm>
            <a:off x="4208775" y="6014374"/>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57" name="Google Shape;257;p14"/>
          <p:cNvGrpSpPr/>
          <p:nvPr/>
        </p:nvGrpSpPr>
        <p:grpSpPr>
          <a:xfrm>
            <a:off x="2894025" y="2160005"/>
            <a:ext cx="842659" cy="513514"/>
            <a:chOff x="1301400" y="5354400"/>
            <a:chExt cx="1069500" cy="651750"/>
          </a:xfrm>
        </p:grpSpPr>
        <p:sp>
          <p:nvSpPr>
            <p:cNvPr id="229" name="Google Shape;229;p14"/>
            <p:cNvSpPr/>
            <p:nvPr/>
          </p:nvSpPr>
          <p:spPr>
            <a:xfrm>
              <a:off x="1301400" y="540825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Web App</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Angular]</a:t>
              </a:r>
              <a:endParaRPr sz="552">
                <a:solidFill>
                  <a:srgbClr val="434343"/>
                </a:solidFill>
              </a:endParaRPr>
            </a:p>
          </p:txBody>
        </p:sp>
        <p:sp>
          <p:nvSpPr>
            <p:cNvPr id="258" name="Google Shape;258;p14"/>
            <p:cNvSpPr/>
            <p:nvPr/>
          </p:nvSpPr>
          <p:spPr>
            <a:xfrm>
              <a:off x="1301400" y="5354400"/>
              <a:ext cx="1069500" cy="88500"/>
            </a:xfrm>
            <a:prstGeom prst="roundRect">
              <a:avLst>
                <a:gd fmla="val 27950" name="adj"/>
              </a:avLst>
            </a:prstGeom>
            <a:solidFill>
              <a:srgbClr val="1B6FC0"/>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59" name="Google Shape;259;p14"/>
            <p:cNvSpPr/>
            <p:nvPr/>
          </p:nvSpPr>
          <p:spPr>
            <a:xfrm>
              <a:off x="133827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260" name="Google Shape;260;p14"/>
            <p:cNvSpPr/>
            <p:nvPr/>
          </p:nvSpPr>
          <p:spPr>
            <a:xfrm>
              <a:off x="1413100"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261" name="Google Shape;261;p14"/>
            <p:cNvSpPr/>
            <p:nvPr/>
          </p:nvSpPr>
          <p:spPr>
            <a:xfrm>
              <a:off x="148792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262" name="Google Shape;262;p14"/>
            <p:cNvSpPr/>
            <p:nvPr/>
          </p:nvSpPr>
          <p:spPr>
            <a:xfrm>
              <a:off x="1616975" y="5371650"/>
              <a:ext cx="722400" cy="54000"/>
            </a:xfrm>
            <a:prstGeom prst="roundRect">
              <a:avLst>
                <a:gd fmla="val 50000" name="adj"/>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grpSp>
      <p:grpSp>
        <p:nvGrpSpPr>
          <p:cNvPr id="263" name="Google Shape;263;p14"/>
          <p:cNvGrpSpPr/>
          <p:nvPr/>
        </p:nvGrpSpPr>
        <p:grpSpPr>
          <a:xfrm>
            <a:off x="2137830" y="8801045"/>
            <a:ext cx="911569" cy="471085"/>
            <a:chOff x="1182464" y="3950600"/>
            <a:chExt cx="1156961" cy="597900"/>
          </a:xfrm>
        </p:grpSpPr>
        <p:sp>
          <p:nvSpPr>
            <p:cNvPr id="244" name="Google Shape;244;p14"/>
            <p:cNvSpPr/>
            <p:nvPr/>
          </p:nvSpPr>
          <p:spPr>
            <a:xfrm>
              <a:off x="1269925" y="395060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Gestión de Inventario</a:t>
              </a:r>
              <a:endParaRPr b="1" sz="946">
                <a:solidFill>
                  <a:srgbClr val="156CBE"/>
                </a:solidFill>
                <a:latin typeface="Poppins"/>
                <a:ea typeface="Poppins"/>
                <a:cs typeface="Poppins"/>
                <a:sym typeface="Poppins"/>
              </a:endParaRPr>
            </a:p>
          </p:txBody>
        </p:sp>
        <p:sp>
          <p:nvSpPr>
            <p:cNvPr id="264" name="Google Shape;264;p14"/>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65" name="Google Shape;265;p14"/>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266" name="Google Shape;266;p14"/>
          <p:cNvCxnSpPr>
            <a:stCxn id="246" idx="2"/>
          </p:cNvCxnSpPr>
          <p:nvPr/>
        </p:nvCxnSpPr>
        <p:spPr>
          <a:xfrm flipH="1" rot="-5400000">
            <a:off x="153354" y="7625025"/>
            <a:ext cx="5805300" cy="802500"/>
          </a:xfrm>
          <a:prstGeom prst="bentConnector3">
            <a:avLst>
              <a:gd fmla="val 6298" name="adj1"/>
            </a:avLst>
          </a:prstGeom>
          <a:noFill/>
          <a:ln cap="flat" cmpd="sng" w="15000">
            <a:solidFill>
              <a:srgbClr val="434343"/>
            </a:solidFill>
            <a:prstDash val="dash"/>
            <a:round/>
            <a:headEnd len="med" w="med" type="none"/>
            <a:tailEnd len="med" w="med" type="triangle"/>
          </a:ln>
        </p:spPr>
      </p:cxnSp>
      <p:grpSp>
        <p:nvGrpSpPr>
          <p:cNvPr id="267" name="Google Shape;267;p14"/>
          <p:cNvGrpSpPr/>
          <p:nvPr/>
        </p:nvGrpSpPr>
        <p:grpSpPr>
          <a:xfrm>
            <a:off x="3355388" y="4634881"/>
            <a:ext cx="1205059" cy="471085"/>
            <a:chOff x="1182464" y="3950606"/>
            <a:chExt cx="1307856" cy="597900"/>
          </a:xfrm>
        </p:grpSpPr>
        <p:sp>
          <p:nvSpPr>
            <p:cNvPr id="268" name="Google Shape;268;p14"/>
            <p:cNvSpPr/>
            <p:nvPr/>
          </p:nvSpPr>
          <p:spPr>
            <a:xfrm>
              <a:off x="1269921" y="3950606"/>
              <a:ext cx="12204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Reportes y Analitica</a:t>
              </a:r>
              <a:endParaRPr b="1" sz="946">
                <a:solidFill>
                  <a:srgbClr val="156CBE"/>
                </a:solidFill>
                <a:latin typeface="Poppins"/>
                <a:ea typeface="Poppins"/>
                <a:cs typeface="Poppins"/>
                <a:sym typeface="Poppins"/>
              </a:endParaRPr>
            </a:p>
          </p:txBody>
        </p:sp>
        <p:sp>
          <p:nvSpPr>
            <p:cNvPr id="269" name="Google Shape;269;p14"/>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70" name="Google Shape;270;p14"/>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sp>
        <p:nvSpPr>
          <p:cNvPr id="271" name="Google Shape;271;p14"/>
          <p:cNvSpPr txBox="1"/>
          <p:nvPr/>
        </p:nvSpPr>
        <p:spPr>
          <a:xfrm>
            <a:off x="1111125" y="8801050"/>
            <a:ext cx="9615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50">
                <a:highlight>
                  <a:srgbClr val="FFFFFF"/>
                </a:highlight>
                <a:latin typeface="Poppins"/>
                <a:ea typeface="Poppins"/>
                <a:cs typeface="Poppins"/>
                <a:sym typeface="Poppins"/>
              </a:rPr>
              <a:t>Lee/escribe usuarios/sesiones</a:t>
            </a:r>
            <a:endParaRPr sz="750">
              <a:highlight>
                <a:srgbClr val="FFFFFF"/>
              </a:highlight>
              <a:latin typeface="Poppins"/>
              <a:ea typeface="Poppins"/>
              <a:cs typeface="Poppins"/>
              <a:sym typeface="Poppins"/>
            </a:endParaRPr>
          </a:p>
        </p:txBody>
      </p:sp>
      <p:sp>
        <p:nvSpPr>
          <p:cNvPr id="272" name="Google Shape;272;p14"/>
          <p:cNvSpPr txBox="1"/>
          <p:nvPr/>
        </p:nvSpPr>
        <p:spPr>
          <a:xfrm>
            <a:off x="3194902" y="10334444"/>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a:t>
            </a:r>
            <a:r>
              <a:rPr lang="es" sz="788">
                <a:highlight>
                  <a:srgbClr val="FFFFFF"/>
                </a:highlight>
                <a:latin typeface="Poppins"/>
                <a:ea typeface="Poppins"/>
                <a:cs typeface="Poppins"/>
                <a:sym typeface="Poppins"/>
              </a:rPr>
              <a:t>escribe productos en</a:t>
            </a:r>
            <a:endParaRPr sz="788">
              <a:highlight>
                <a:srgbClr val="FFFFFF"/>
              </a:highlight>
              <a:latin typeface="Poppins"/>
              <a:ea typeface="Poppins"/>
              <a:cs typeface="Poppins"/>
              <a:sym typeface="Poppins"/>
            </a:endParaRPr>
          </a:p>
        </p:txBody>
      </p:sp>
      <p:sp>
        <p:nvSpPr>
          <p:cNvPr id="273" name="Google Shape;273;p14"/>
          <p:cNvSpPr txBox="1"/>
          <p:nvPr/>
        </p:nvSpPr>
        <p:spPr>
          <a:xfrm>
            <a:off x="2459652" y="1021721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lee/escribe actualizaciones en</a:t>
            </a:r>
            <a:endParaRPr sz="788">
              <a:highlight>
                <a:srgbClr val="FFFFFF"/>
              </a:highlight>
              <a:latin typeface="Poppins"/>
              <a:ea typeface="Poppins"/>
              <a:cs typeface="Poppins"/>
              <a:sym typeface="Poppins"/>
            </a:endParaRPr>
          </a:p>
        </p:txBody>
      </p:sp>
      <p:cxnSp>
        <p:nvCxnSpPr>
          <p:cNvPr id="274" name="Google Shape;274;p14"/>
          <p:cNvCxnSpPr>
            <a:stCxn id="220" idx="3"/>
            <a:endCxn id="268" idx="0"/>
          </p:cNvCxnSpPr>
          <p:nvPr/>
        </p:nvCxnSpPr>
        <p:spPr>
          <a:xfrm>
            <a:off x="3774900" y="3663034"/>
            <a:ext cx="223200" cy="971700"/>
          </a:xfrm>
          <a:prstGeom prst="bentConnector2">
            <a:avLst/>
          </a:prstGeom>
          <a:noFill/>
          <a:ln cap="flat" cmpd="sng" w="15000">
            <a:solidFill>
              <a:srgbClr val="434343"/>
            </a:solidFill>
            <a:prstDash val="dash"/>
            <a:round/>
            <a:headEnd len="med" w="med" type="none"/>
            <a:tailEnd len="med" w="med" type="triangle"/>
          </a:ln>
        </p:spPr>
      </p:cxnSp>
      <p:cxnSp>
        <p:nvCxnSpPr>
          <p:cNvPr id="275" name="Google Shape;275;p14"/>
          <p:cNvCxnSpPr>
            <a:stCxn id="268" idx="2"/>
            <a:endCxn id="232" idx="0"/>
          </p:cNvCxnSpPr>
          <p:nvPr/>
        </p:nvCxnSpPr>
        <p:spPr>
          <a:xfrm flipH="1" rot="-5400000">
            <a:off x="3468709" y="5635467"/>
            <a:ext cx="2009100" cy="950100"/>
          </a:xfrm>
          <a:prstGeom prst="bentConnector3">
            <a:avLst>
              <a:gd fmla="val 49998" name="adj1"/>
            </a:avLst>
          </a:prstGeom>
          <a:noFill/>
          <a:ln cap="flat" cmpd="sng" w="15000">
            <a:solidFill>
              <a:srgbClr val="434343"/>
            </a:solidFill>
            <a:prstDash val="dash"/>
            <a:round/>
            <a:headEnd len="med" w="med" type="none"/>
            <a:tailEnd len="med" w="med" type="triangle"/>
          </a:ln>
        </p:spPr>
      </p:cxnSp>
      <p:grpSp>
        <p:nvGrpSpPr>
          <p:cNvPr id="276" name="Google Shape;276;p14"/>
          <p:cNvGrpSpPr/>
          <p:nvPr/>
        </p:nvGrpSpPr>
        <p:grpSpPr>
          <a:xfrm>
            <a:off x="4689079" y="4652545"/>
            <a:ext cx="911569" cy="471085"/>
            <a:chOff x="1182464" y="3950600"/>
            <a:chExt cx="1156961" cy="597900"/>
          </a:xfrm>
        </p:grpSpPr>
        <p:sp>
          <p:nvSpPr>
            <p:cNvPr id="277" name="Google Shape;277;p14"/>
            <p:cNvSpPr/>
            <p:nvPr/>
          </p:nvSpPr>
          <p:spPr>
            <a:xfrm>
              <a:off x="1269925" y="3950600"/>
              <a:ext cx="1069500" cy="597900"/>
            </a:xfrm>
            <a:prstGeom prst="roundRect">
              <a:avLst>
                <a:gd fmla="val 6867" name="adj"/>
              </a:avLst>
            </a:prstGeom>
            <a:noFill/>
            <a:ln cap="flat" cmpd="sng" w="15000">
              <a:solidFill>
                <a:srgbClr val="6AA84F"/>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6AA84F"/>
                  </a:solidFill>
                  <a:latin typeface="Poppins"/>
                  <a:ea typeface="Poppins"/>
                  <a:cs typeface="Poppins"/>
                  <a:sym typeface="Poppins"/>
                </a:rPr>
                <a:t>Gestión de Carrito y pedidos</a:t>
              </a:r>
              <a:endParaRPr b="1" sz="946">
                <a:solidFill>
                  <a:srgbClr val="6AA84F"/>
                </a:solidFill>
                <a:latin typeface="Poppins"/>
                <a:ea typeface="Poppins"/>
                <a:cs typeface="Poppins"/>
                <a:sym typeface="Poppins"/>
              </a:endParaRPr>
            </a:p>
          </p:txBody>
        </p:sp>
        <p:sp>
          <p:nvSpPr>
            <p:cNvPr id="278" name="Google Shape;278;p14"/>
            <p:cNvSpPr/>
            <p:nvPr/>
          </p:nvSpPr>
          <p:spPr>
            <a:xfrm>
              <a:off x="1182464" y="4036075"/>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79" name="Google Shape;279;p14"/>
            <p:cNvSpPr/>
            <p:nvPr/>
          </p:nvSpPr>
          <p:spPr>
            <a:xfrm>
              <a:off x="1182464" y="4166352"/>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280" name="Google Shape;280;p14"/>
          <p:cNvCxnSpPr>
            <a:stCxn id="277" idx="2"/>
            <a:endCxn id="232" idx="0"/>
          </p:cNvCxnSpPr>
          <p:nvPr/>
        </p:nvCxnSpPr>
        <p:spPr>
          <a:xfrm rot="5400000">
            <a:off x="4068119" y="6003831"/>
            <a:ext cx="1991400" cy="231000"/>
          </a:xfrm>
          <a:prstGeom prst="bentConnector3">
            <a:avLst>
              <a:gd fmla="val 49998" name="adj1"/>
            </a:avLst>
          </a:prstGeom>
          <a:noFill/>
          <a:ln cap="flat" cmpd="sng" w="15000">
            <a:solidFill>
              <a:srgbClr val="434343"/>
            </a:solidFill>
            <a:prstDash val="dash"/>
            <a:round/>
            <a:headEnd len="med" w="med" type="none"/>
            <a:tailEnd len="med" w="med" type="triangle"/>
          </a:ln>
        </p:spPr>
      </p:cxnSp>
      <p:sp>
        <p:nvSpPr>
          <p:cNvPr id="281" name="Google Shape;281;p14"/>
          <p:cNvSpPr txBox="1"/>
          <p:nvPr/>
        </p:nvSpPr>
        <p:spPr>
          <a:xfrm>
            <a:off x="4845465" y="548031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Notifica al vendedor cuando se hace un pedido</a:t>
            </a:r>
            <a:endParaRPr sz="788">
              <a:highlight>
                <a:srgbClr val="FFFFFF"/>
              </a:highlight>
              <a:latin typeface="Poppins"/>
              <a:ea typeface="Poppins"/>
              <a:cs typeface="Poppins"/>
              <a:sym typeface="Poppins"/>
            </a:endParaRPr>
          </a:p>
        </p:txBody>
      </p:sp>
      <p:sp>
        <p:nvSpPr>
          <p:cNvPr id="282" name="Google Shape;282;p14"/>
          <p:cNvSpPr txBox="1"/>
          <p:nvPr/>
        </p:nvSpPr>
        <p:spPr>
          <a:xfrm>
            <a:off x="3715565" y="548031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Notifica al vendedor cuando hayan reportes</a:t>
            </a:r>
            <a:endParaRPr sz="788">
              <a:highlight>
                <a:srgbClr val="FFFFFF"/>
              </a:highlight>
              <a:latin typeface="Poppins"/>
              <a:ea typeface="Poppins"/>
              <a:cs typeface="Poppins"/>
              <a:sym typeface="Poppins"/>
            </a:endParaRPr>
          </a:p>
        </p:txBody>
      </p:sp>
      <p:sp>
        <p:nvSpPr>
          <p:cNvPr id="283" name="Google Shape;283;p14"/>
          <p:cNvSpPr/>
          <p:nvPr/>
        </p:nvSpPr>
        <p:spPr>
          <a:xfrm>
            <a:off x="4208775" y="10673426"/>
            <a:ext cx="911400" cy="7539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900">
                <a:solidFill>
                  <a:srgbClr val="156CBE"/>
                </a:solidFill>
                <a:latin typeface="Poppins"/>
                <a:ea typeface="Poppins"/>
                <a:cs typeface="Poppins"/>
                <a:sym typeface="Poppins"/>
              </a:rPr>
              <a:t>STATEMENT STORE </a:t>
            </a:r>
            <a:endParaRPr b="1" sz="9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550">
                <a:solidFill>
                  <a:srgbClr val="156CBE"/>
                </a:solidFill>
                <a:latin typeface="Poppins"/>
                <a:ea typeface="Poppins"/>
                <a:cs typeface="Poppins"/>
                <a:sym typeface="Poppins"/>
              </a:rPr>
              <a:t>[Container: Amazon S3]</a:t>
            </a:r>
            <a:endParaRPr sz="550">
              <a:solidFill>
                <a:srgbClr val="156CBE"/>
              </a:solidFill>
              <a:latin typeface="Poppins"/>
              <a:ea typeface="Poppins"/>
              <a:cs typeface="Poppins"/>
              <a:sym typeface="Poppins"/>
            </a:endParaRPr>
          </a:p>
        </p:txBody>
      </p:sp>
      <p:cxnSp>
        <p:nvCxnSpPr>
          <p:cNvPr id="284" name="Google Shape;284;p14"/>
          <p:cNvCxnSpPr>
            <a:stCxn id="244" idx="3"/>
            <a:endCxn id="283" idx="1"/>
          </p:cNvCxnSpPr>
          <p:nvPr/>
        </p:nvCxnSpPr>
        <p:spPr>
          <a:xfrm>
            <a:off x="3049399" y="9036588"/>
            <a:ext cx="1615200" cy="1636800"/>
          </a:xfrm>
          <a:prstGeom prst="bentConnector2">
            <a:avLst/>
          </a:prstGeom>
          <a:noFill/>
          <a:ln cap="flat" cmpd="sng" w="15000">
            <a:solidFill>
              <a:srgbClr val="434343"/>
            </a:solidFill>
            <a:prstDash val="dash"/>
            <a:round/>
            <a:headEnd len="med" w="med" type="none"/>
            <a:tailEnd len="med" w="med" type="triangle"/>
          </a:ln>
        </p:spPr>
      </p:cxnSp>
      <p:sp>
        <p:nvSpPr>
          <p:cNvPr id="285" name="Google Shape;285;p14"/>
          <p:cNvSpPr txBox="1"/>
          <p:nvPr/>
        </p:nvSpPr>
        <p:spPr>
          <a:xfrm>
            <a:off x="4104675" y="9961263"/>
            <a:ext cx="1119600" cy="53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700">
                <a:latin typeface="Poppins"/>
                <a:ea typeface="Poppins"/>
                <a:cs typeface="Poppins"/>
                <a:sym typeface="Poppins"/>
              </a:rPr>
              <a:t>Consulta las fotos de los productos para moderación [HTTPS/API] </a:t>
            </a:r>
            <a:endParaRPr sz="70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nvSpPr>
        <p:spPr>
          <a:xfrm>
            <a:off x="1021200" y="1017250"/>
            <a:ext cx="5735700" cy="826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2.8 Diagrama de componentes (N2)</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interior de los componentes de LittleStyle (por ejemplo, el Backend/API). Separados </a:t>
            </a:r>
            <a:endParaRPr sz="1200">
              <a:solidFill>
                <a:schemeClr val="dk1"/>
              </a:solidFill>
              <a:latin typeface="Poppins"/>
              <a:ea typeface="Poppins"/>
              <a:cs typeface="Poppins"/>
              <a:sym typeface="Poppins"/>
            </a:endParaRPr>
          </a:p>
        </p:txBody>
      </p:sp>
      <p:sp>
        <p:nvSpPr>
          <p:cNvPr id="291" name="Google Shape;291;p15"/>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2" name="Google Shape;292;p15"/>
          <p:cNvSpPr/>
          <p:nvPr/>
        </p:nvSpPr>
        <p:spPr>
          <a:xfrm>
            <a:off x="4540142" y="773675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3" name="Google Shape;293;p15"/>
          <p:cNvSpPr/>
          <p:nvPr/>
        </p:nvSpPr>
        <p:spPr>
          <a:xfrm>
            <a:off x="5224124" y="2178400"/>
            <a:ext cx="1030500" cy="586800"/>
          </a:xfrm>
          <a:prstGeom prst="roundRect">
            <a:avLst>
              <a:gd fmla="val 6867" name="adj"/>
            </a:avLst>
          </a:prstGeom>
          <a:noFill/>
          <a:ln cap="flat" cmpd="sng" w="22525">
            <a:solidFill>
              <a:srgbClr val="C42228"/>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C42228"/>
                </a:solidFill>
                <a:latin typeface="Poppins"/>
                <a:ea typeface="Poppins"/>
                <a:cs typeface="Poppins"/>
                <a:sym typeface="Poppins"/>
              </a:rPr>
              <a:t>Servicio de Notificaciones y Correo</a:t>
            </a:r>
            <a:endParaRPr b="1" sz="946">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C42228"/>
                </a:solidFill>
                <a:latin typeface="Poppins"/>
                <a:ea typeface="Poppins"/>
                <a:cs typeface="Poppins"/>
                <a:sym typeface="Poppins"/>
              </a:rPr>
              <a:t>[Sistema de Software]</a:t>
            </a:r>
            <a:endParaRPr sz="552">
              <a:solidFill>
                <a:srgbClr val="434343"/>
              </a:solidFill>
              <a:latin typeface="Poppins"/>
              <a:ea typeface="Poppins"/>
              <a:cs typeface="Poppins"/>
              <a:sym typeface="Poppins"/>
            </a:endParaRPr>
          </a:p>
        </p:txBody>
      </p:sp>
      <p:sp>
        <p:nvSpPr>
          <p:cNvPr id="294" name="Google Shape;294;p15"/>
          <p:cNvSpPr/>
          <p:nvPr/>
        </p:nvSpPr>
        <p:spPr>
          <a:xfrm>
            <a:off x="4958411" y="9962477"/>
            <a:ext cx="961500" cy="586800"/>
          </a:xfrm>
          <a:prstGeom prst="roundRect">
            <a:avLst>
              <a:gd fmla="val 6867" name="adj"/>
            </a:avLst>
          </a:prstGeom>
          <a:noFill/>
          <a:ln cap="flat" cmpd="sng" w="22525">
            <a:solidFill>
              <a:srgbClr val="EE8F1D"/>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EE8F1D"/>
                </a:solidFill>
                <a:latin typeface="Poppins"/>
                <a:ea typeface="Poppins"/>
                <a:cs typeface="Poppins"/>
                <a:sym typeface="Poppins"/>
              </a:rPr>
              <a:t>Pasarela de Pagos</a:t>
            </a:r>
            <a:endParaRPr b="1" sz="946">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EE8F1D"/>
                </a:solidFill>
                <a:latin typeface="Poppins"/>
                <a:ea typeface="Poppins"/>
                <a:cs typeface="Poppins"/>
                <a:sym typeface="Poppins"/>
              </a:rPr>
              <a:t>[Sistema de Software: Wompi]</a:t>
            </a:r>
            <a:endParaRPr b="1" sz="946">
              <a:solidFill>
                <a:srgbClr val="156CBE"/>
              </a:solidFill>
              <a:latin typeface="Poppins"/>
              <a:ea typeface="Poppins"/>
              <a:cs typeface="Poppins"/>
              <a:sym typeface="Poppins"/>
            </a:endParaRPr>
          </a:p>
        </p:txBody>
      </p:sp>
      <p:sp>
        <p:nvSpPr>
          <p:cNvPr id="295" name="Google Shape;295;p15"/>
          <p:cNvSpPr/>
          <p:nvPr/>
        </p:nvSpPr>
        <p:spPr>
          <a:xfrm>
            <a:off x="1021200" y="3210775"/>
            <a:ext cx="4693800" cy="5861700"/>
          </a:xfrm>
          <a:prstGeom prst="roundRect">
            <a:avLst>
              <a:gd fmla="val 3417" name="adj"/>
            </a:avLst>
          </a:prstGeom>
          <a:noFill/>
          <a:ln cap="flat" cmpd="sng" w="22525">
            <a:solidFill>
              <a:srgbClr val="1B6FC0"/>
            </a:solidFill>
            <a:prstDash val="solid"/>
            <a:round/>
            <a:headEnd len="sm" w="sm" type="none"/>
            <a:tailEnd len="sm" w="sm" type="none"/>
          </a:ln>
        </p:spPr>
        <p:txBody>
          <a:bodyPr anchorCtr="0" anchor="b" bIns="56725" lIns="56725" spcFirstLastPara="1" rIns="28375" wrap="square" tIns="28375">
            <a:noAutofit/>
          </a:bodyPr>
          <a:lstStyle/>
          <a:p>
            <a:pPr indent="0" lvl="0" marL="0" rtl="0" algn="l">
              <a:lnSpc>
                <a:spcPct val="90000"/>
              </a:lnSpc>
              <a:spcBef>
                <a:spcPts val="0"/>
              </a:spcBef>
              <a:spcAft>
                <a:spcPts val="0"/>
              </a:spcAft>
              <a:buNone/>
            </a:pPr>
            <a:r>
              <a:rPr b="1" lang="es" sz="788">
                <a:solidFill>
                  <a:srgbClr val="156CBE"/>
                </a:solidFill>
                <a:latin typeface="Poppins"/>
                <a:ea typeface="Poppins"/>
                <a:cs typeface="Poppins"/>
                <a:sym typeface="Poppins"/>
              </a:rPr>
              <a:t>Backend</a:t>
            </a:r>
            <a:endParaRPr sz="788">
              <a:solidFill>
                <a:srgbClr val="434343"/>
              </a:solidFill>
            </a:endParaRPr>
          </a:p>
        </p:txBody>
      </p:sp>
      <p:grpSp>
        <p:nvGrpSpPr>
          <p:cNvPr id="296" name="Google Shape;296;p15"/>
          <p:cNvGrpSpPr/>
          <p:nvPr/>
        </p:nvGrpSpPr>
        <p:grpSpPr>
          <a:xfrm>
            <a:off x="1099088" y="3468366"/>
            <a:ext cx="136149" cy="167174"/>
            <a:chOff x="1182464" y="4036075"/>
            <a:chExt cx="172800" cy="212177"/>
          </a:xfrm>
        </p:grpSpPr>
        <p:sp>
          <p:nvSpPr>
            <p:cNvPr id="297" name="Google Shape;297;p15"/>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298" name="Google Shape;298;p15"/>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299" name="Google Shape;299;p15"/>
          <p:cNvGrpSpPr/>
          <p:nvPr/>
        </p:nvGrpSpPr>
        <p:grpSpPr>
          <a:xfrm>
            <a:off x="1658768" y="3358895"/>
            <a:ext cx="911569" cy="471085"/>
            <a:chOff x="1182464" y="3950600"/>
            <a:chExt cx="1156961" cy="597900"/>
          </a:xfrm>
        </p:grpSpPr>
        <p:sp>
          <p:nvSpPr>
            <p:cNvPr id="300" name="Google Shape;300;p15"/>
            <p:cNvSpPr/>
            <p:nvPr/>
          </p:nvSpPr>
          <p:spPr>
            <a:xfrm>
              <a:off x="1269925" y="3950600"/>
              <a:ext cx="1069500" cy="597900"/>
            </a:xfrm>
            <a:prstGeom prst="roundRect">
              <a:avLst>
                <a:gd fmla="val 6867" name="adj"/>
              </a:avLst>
            </a:prstGeom>
            <a:noFill/>
            <a:ln cap="flat" cmpd="sng" w="15000">
              <a:solidFill>
                <a:srgbClr val="6AA84F"/>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6AA84F"/>
                  </a:solidFill>
                  <a:latin typeface="Poppins"/>
                  <a:ea typeface="Poppins"/>
                  <a:cs typeface="Poppins"/>
                  <a:sym typeface="Poppins"/>
                </a:rPr>
                <a:t>API de Clientes</a:t>
              </a:r>
              <a:r>
                <a:rPr b="1" lang="es" sz="946">
                  <a:solidFill>
                    <a:srgbClr val="156CBE"/>
                  </a:solidFill>
                  <a:latin typeface="Poppins"/>
                  <a:ea typeface="Poppins"/>
                  <a:cs typeface="Poppins"/>
                  <a:sym typeface="Poppins"/>
                </a:rPr>
                <a:t> </a:t>
              </a:r>
              <a:endParaRPr b="1" sz="946">
                <a:solidFill>
                  <a:srgbClr val="156CBE"/>
                </a:solidFill>
                <a:latin typeface="Poppins"/>
                <a:ea typeface="Poppins"/>
                <a:cs typeface="Poppins"/>
                <a:sym typeface="Poppins"/>
              </a:endParaRPr>
            </a:p>
          </p:txBody>
        </p:sp>
        <p:sp>
          <p:nvSpPr>
            <p:cNvPr id="301" name="Google Shape;301;p15"/>
            <p:cNvSpPr/>
            <p:nvPr/>
          </p:nvSpPr>
          <p:spPr>
            <a:xfrm>
              <a:off x="1182464" y="4036075"/>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02" name="Google Shape;302;p15"/>
            <p:cNvSpPr/>
            <p:nvPr/>
          </p:nvSpPr>
          <p:spPr>
            <a:xfrm>
              <a:off x="1182464" y="4166352"/>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sp>
        <p:nvSpPr>
          <p:cNvPr id="303" name="Google Shape;303;p15"/>
          <p:cNvSpPr/>
          <p:nvPr/>
        </p:nvSpPr>
        <p:spPr>
          <a:xfrm>
            <a:off x="3193774" y="9773972"/>
            <a:ext cx="861600" cy="663000"/>
          </a:xfrm>
          <a:prstGeom prst="can">
            <a:avLst>
              <a:gd fmla="val 25000" name="adj"/>
            </a:avLst>
          </a:prstGeom>
          <a:noFill/>
          <a:ln cap="flat" cmpd="sng" w="15000">
            <a:solidFill>
              <a:srgbClr val="1B6FC0"/>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Database</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MySql Database Schema]</a:t>
            </a:r>
            <a:endParaRPr sz="1103"/>
          </a:p>
        </p:txBody>
      </p:sp>
      <p:grpSp>
        <p:nvGrpSpPr>
          <p:cNvPr id="304" name="Google Shape;304;p15"/>
          <p:cNvGrpSpPr/>
          <p:nvPr/>
        </p:nvGrpSpPr>
        <p:grpSpPr>
          <a:xfrm>
            <a:off x="4333654" y="7903543"/>
            <a:ext cx="1208339" cy="453908"/>
            <a:chOff x="1182464" y="3976309"/>
            <a:chExt cx="1533620" cy="744600"/>
          </a:xfrm>
        </p:grpSpPr>
        <p:sp>
          <p:nvSpPr>
            <p:cNvPr id="305" name="Google Shape;305;p15"/>
            <p:cNvSpPr/>
            <p:nvPr/>
          </p:nvSpPr>
          <p:spPr>
            <a:xfrm>
              <a:off x="1257785" y="3976309"/>
              <a:ext cx="1458300" cy="7446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Notificaciones</a:t>
              </a:r>
              <a:endParaRPr b="1" sz="946">
                <a:solidFill>
                  <a:schemeClr val="dk1"/>
                </a:solidFill>
                <a:latin typeface="Poppins"/>
                <a:ea typeface="Poppins"/>
                <a:cs typeface="Poppins"/>
                <a:sym typeface="Poppins"/>
              </a:endParaRPr>
            </a:p>
          </p:txBody>
        </p:sp>
        <p:sp>
          <p:nvSpPr>
            <p:cNvPr id="306" name="Google Shape;306;p15"/>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07" name="Google Shape;307;p15"/>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08" name="Google Shape;308;p15"/>
          <p:cNvCxnSpPr>
            <a:stCxn id="309" idx="1"/>
            <a:endCxn id="300" idx="0"/>
          </p:cNvCxnSpPr>
          <p:nvPr/>
        </p:nvCxnSpPr>
        <p:spPr>
          <a:xfrm flipH="1">
            <a:off x="2148967" y="2338789"/>
            <a:ext cx="924000" cy="1020000"/>
          </a:xfrm>
          <a:prstGeom prst="bentConnector2">
            <a:avLst/>
          </a:prstGeom>
          <a:noFill/>
          <a:ln cap="flat" cmpd="sng" w="15000">
            <a:solidFill>
              <a:srgbClr val="434343"/>
            </a:solidFill>
            <a:prstDash val="dash"/>
            <a:round/>
            <a:headEnd len="med" w="med" type="none"/>
            <a:tailEnd len="med" w="med" type="triangle"/>
          </a:ln>
        </p:spPr>
      </p:cxnSp>
      <p:sp>
        <p:nvSpPr>
          <p:cNvPr id="310" name="Google Shape;310;p15"/>
          <p:cNvSpPr txBox="1"/>
          <p:nvPr/>
        </p:nvSpPr>
        <p:spPr>
          <a:xfrm>
            <a:off x="1689000" y="2757913"/>
            <a:ext cx="8511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solidFill>
                  <a:schemeClr val="dk1"/>
                </a:solidFill>
                <a:highlight>
                  <a:schemeClr val="lt1"/>
                </a:highlight>
                <a:latin typeface="Poppins"/>
                <a:ea typeface="Poppins"/>
                <a:cs typeface="Poppins"/>
                <a:sym typeface="Poppins"/>
              </a:rPr>
              <a:t>Accede las funcionalidades del cliente</a:t>
            </a:r>
            <a:endParaRPr sz="788">
              <a:highlight>
                <a:srgbClr val="FFFFFF"/>
              </a:highlight>
              <a:latin typeface="Poppins"/>
              <a:ea typeface="Poppins"/>
              <a:cs typeface="Poppins"/>
              <a:sym typeface="Poppins"/>
            </a:endParaRPr>
          </a:p>
        </p:txBody>
      </p:sp>
      <p:cxnSp>
        <p:nvCxnSpPr>
          <p:cNvPr id="311" name="Google Shape;311;p15"/>
          <p:cNvCxnSpPr>
            <a:stCxn id="305" idx="3"/>
            <a:endCxn id="293" idx="3"/>
          </p:cNvCxnSpPr>
          <p:nvPr/>
        </p:nvCxnSpPr>
        <p:spPr>
          <a:xfrm flipH="1" rot="10800000">
            <a:off x="5541994" y="2471897"/>
            <a:ext cx="712500" cy="5658600"/>
          </a:xfrm>
          <a:prstGeom prst="bentConnector3">
            <a:avLst>
              <a:gd fmla="val 133439" name="adj1"/>
            </a:avLst>
          </a:prstGeom>
          <a:noFill/>
          <a:ln cap="flat" cmpd="sng" w="15000">
            <a:solidFill>
              <a:srgbClr val="434343"/>
            </a:solidFill>
            <a:prstDash val="dash"/>
            <a:round/>
            <a:headEnd len="med" w="med" type="none"/>
            <a:tailEnd len="med" w="med" type="triangle"/>
          </a:ln>
        </p:spPr>
      </p:cxnSp>
      <p:sp>
        <p:nvSpPr>
          <p:cNvPr id="312" name="Google Shape;312;p15"/>
          <p:cNvSpPr txBox="1"/>
          <p:nvPr/>
        </p:nvSpPr>
        <p:spPr>
          <a:xfrm>
            <a:off x="5807447" y="3210768"/>
            <a:ext cx="8427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88">
                <a:highlight>
                  <a:srgbClr val="FFFFFF"/>
                </a:highlight>
                <a:latin typeface="Poppins"/>
                <a:ea typeface="Poppins"/>
                <a:cs typeface="Poppins"/>
                <a:sym typeface="Poppins"/>
              </a:rPr>
              <a:t>Envía notificaciones </a:t>
            </a:r>
            <a:r>
              <a:rPr lang="es" sz="630">
                <a:highlight>
                  <a:srgbClr val="FFFFFF"/>
                </a:highlight>
                <a:latin typeface="Poppins"/>
                <a:ea typeface="Poppins"/>
                <a:cs typeface="Poppins"/>
                <a:sym typeface="Poppins"/>
              </a:rPr>
              <a:t>(JSON/HTTPS)</a:t>
            </a:r>
            <a:endParaRPr sz="473">
              <a:highlight>
                <a:srgbClr val="FFFFFF"/>
              </a:highlight>
              <a:latin typeface="Poppins"/>
              <a:ea typeface="Poppins"/>
              <a:cs typeface="Poppins"/>
              <a:sym typeface="Poppins"/>
            </a:endParaRPr>
          </a:p>
        </p:txBody>
      </p:sp>
      <p:sp>
        <p:nvSpPr>
          <p:cNvPr id="313" name="Google Shape;313;p15"/>
          <p:cNvSpPr/>
          <p:nvPr/>
        </p:nvSpPr>
        <p:spPr>
          <a:xfrm>
            <a:off x="5807443" y="5240008"/>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15"/>
          <p:cNvSpPr/>
          <p:nvPr/>
        </p:nvSpPr>
        <p:spPr>
          <a:xfrm>
            <a:off x="3368900" y="3661383"/>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15"/>
          <p:cNvSpPr/>
          <p:nvPr/>
        </p:nvSpPr>
        <p:spPr>
          <a:xfrm>
            <a:off x="2178375" y="4130048"/>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15"/>
          <p:cNvSpPr/>
          <p:nvPr/>
        </p:nvSpPr>
        <p:spPr>
          <a:xfrm>
            <a:off x="3439852" y="5718532"/>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15"/>
          <p:cNvSpPr/>
          <p:nvPr/>
        </p:nvSpPr>
        <p:spPr>
          <a:xfrm>
            <a:off x="3382352" y="9773966"/>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15"/>
          <p:cNvSpPr/>
          <p:nvPr/>
        </p:nvSpPr>
        <p:spPr>
          <a:xfrm>
            <a:off x="4208775" y="6014374"/>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19" name="Google Shape;319;p15"/>
          <p:cNvGrpSpPr/>
          <p:nvPr/>
        </p:nvGrpSpPr>
        <p:grpSpPr>
          <a:xfrm>
            <a:off x="3072967" y="2060818"/>
            <a:ext cx="842659" cy="513514"/>
            <a:chOff x="1301400" y="5354400"/>
            <a:chExt cx="1069500" cy="651750"/>
          </a:xfrm>
        </p:grpSpPr>
        <p:sp>
          <p:nvSpPr>
            <p:cNvPr id="309" name="Google Shape;309;p15"/>
            <p:cNvSpPr/>
            <p:nvPr/>
          </p:nvSpPr>
          <p:spPr>
            <a:xfrm>
              <a:off x="1301400" y="540825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Web App</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Angular]</a:t>
              </a:r>
              <a:endParaRPr sz="552">
                <a:solidFill>
                  <a:srgbClr val="434343"/>
                </a:solidFill>
              </a:endParaRPr>
            </a:p>
          </p:txBody>
        </p:sp>
        <p:sp>
          <p:nvSpPr>
            <p:cNvPr id="320" name="Google Shape;320;p15"/>
            <p:cNvSpPr/>
            <p:nvPr/>
          </p:nvSpPr>
          <p:spPr>
            <a:xfrm>
              <a:off x="1301400" y="5354400"/>
              <a:ext cx="1069500" cy="88500"/>
            </a:xfrm>
            <a:prstGeom prst="roundRect">
              <a:avLst>
                <a:gd fmla="val 27950" name="adj"/>
              </a:avLst>
            </a:prstGeom>
            <a:solidFill>
              <a:srgbClr val="1B6FC0"/>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21" name="Google Shape;321;p15"/>
            <p:cNvSpPr/>
            <p:nvPr/>
          </p:nvSpPr>
          <p:spPr>
            <a:xfrm>
              <a:off x="133827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22" name="Google Shape;322;p15"/>
            <p:cNvSpPr/>
            <p:nvPr/>
          </p:nvSpPr>
          <p:spPr>
            <a:xfrm>
              <a:off x="1413100"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23" name="Google Shape;323;p15"/>
            <p:cNvSpPr/>
            <p:nvPr/>
          </p:nvSpPr>
          <p:spPr>
            <a:xfrm>
              <a:off x="148792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24" name="Google Shape;324;p15"/>
            <p:cNvSpPr/>
            <p:nvPr/>
          </p:nvSpPr>
          <p:spPr>
            <a:xfrm>
              <a:off x="1616975" y="5371650"/>
              <a:ext cx="722400" cy="54000"/>
            </a:xfrm>
            <a:prstGeom prst="roundRect">
              <a:avLst>
                <a:gd fmla="val 50000" name="adj"/>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grpSp>
      <p:grpSp>
        <p:nvGrpSpPr>
          <p:cNvPr id="325" name="Google Shape;325;p15"/>
          <p:cNvGrpSpPr/>
          <p:nvPr/>
        </p:nvGrpSpPr>
        <p:grpSpPr>
          <a:xfrm>
            <a:off x="4316439" y="5827431"/>
            <a:ext cx="1205059" cy="471085"/>
            <a:chOff x="1182464" y="3950606"/>
            <a:chExt cx="1307856" cy="597900"/>
          </a:xfrm>
        </p:grpSpPr>
        <p:sp>
          <p:nvSpPr>
            <p:cNvPr id="326" name="Google Shape;326;p15"/>
            <p:cNvSpPr/>
            <p:nvPr/>
          </p:nvSpPr>
          <p:spPr>
            <a:xfrm>
              <a:off x="1269921"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Motor de recomendación</a:t>
              </a:r>
              <a:endParaRPr b="1" sz="946">
                <a:solidFill>
                  <a:schemeClr val="dk1"/>
                </a:solidFill>
                <a:latin typeface="Poppins"/>
                <a:ea typeface="Poppins"/>
                <a:cs typeface="Poppins"/>
                <a:sym typeface="Poppins"/>
              </a:endParaRPr>
            </a:p>
          </p:txBody>
        </p:sp>
        <p:sp>
          <p:nvSpPr>
            <p:cNvPr id="327" name="Google Shape;327;p15"/>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28" name="Google Shape;328;p15"/>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329" name="Google Shape;329;p15"/>
          <p:cNvGrpSpPr/>
          <p:nvPr/>
        </p:nvGrpSpPr>
        <p:grpSpPr>
          <a:xfrm>
            <a:off x="1658766" y="4844983"/>
            <a:ext cx="911569" cy="471085"/>
            <a:chOff x="1182464" y="3950600"/>
            <a:chExt cx="1156961" cy="597900"/>
          </a:xfrm>
        </p:grpSpPr>
        <p:sp>
          <p:nvSpPr>
            <p:cNvPr id="330" name="Google Shape;330;p15"/>
            <p:cNvSpPr/>
            <p:nvPr/>
          </p:nvSpPr>
          <p:spPr>
            <a:xfrm>
              <a:off x="1269925" y="3950600"/>
              <a:ext cx="1069500" cy="597900"/>
            </a:xfrm>
            <a:prstGeom prst="roundRect">
              <a:avLst>
                <a:gd fmla="val 6867" name="adj"/>
              </a:avLst>
            </a:prstGeom>
            <a:noFill/>
            <a:ln cap="flat" cmpd="sng" w="15000">
              <a:solidFill>
                <a:srgbClr val="6AA84F"/>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6AA84F"/>
                  </a:solidFill>
                  <a:latin typeface="Poppins"/>
                  <a:ea typeface="Poppins"/>
                  <a:cs typeface="Poppins"/>
                  <a:sym typeface="Poppins"/>
                </a:rPr>
                <a:t>Gestión de Carrito y pedidos</a:t>
              </a:r>
              <a:endParaRPr b="1" sz="946">
                <a:solidFill>
                  <a:srgbClr val="6AA84F"/>
                </a:solidFill>
                <a:latin typeface="Poppins"/>
                <a:ea typeface="Poppins"/>
                <a:cs typeface="Poppins"/>
                <a:sym typeface="Poppins"/>
              </a:endParaRPr>
            </a:p>
          </p:txBody>
        </p:sp>
        <p:sp>
          <p:nvSpPr>
            <p:cNvPr id="331" name="Google Shape;331;p15"/>
            <p:cNvSpPr/>
            <p:nvPr/>
          </p:nvSpPr>
          <p:spPr>
            <a:xfrm>
              <a:off x="1182464" y="4036075"/>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32" name="Google Shape;332;p15"/>
            <p:cNvSpPr/>
            <p:nvPr/>
          </p:nvSpPr>
          <p:spPr>
            <a:xfrm>
              <a:off x="1182464" y="4166352"/>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333" name="Google Shape;333;p15"/>
          <p:cNvGrpSpPr/>
          <p:nvPr/>
        </p:nvGrpSpPr>
        <p:grpSpPr>
          <a:xfrm>
            <a:off x="2365143" y="6330845"/>
            <a:ext cx="911569" cy="471085"/>
            <a:chOff x="1182464" y="3950600"/>
            <a:chExt cx="1156961" cy="597900"/>
          </a:xfrm>
        </p:grpSpPr>
        <p:sp>
          <p:nvSpPr>
            <p:cNvPr id="334" name="Google Shape;334;p15"/>
            <p:cNvSpPr/>
            <p:nvPr/>
          </p:nvSpPr>
          <p:spPr>
            <a:xfrm>
              <a:off x="1269925" y="395060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Gestión de Inventario</a:t>
              </a:r>
              <a:endParaRPr b="1" sz="946">
                <a:solidFill>
                  <a:srgbClr val="156CBE"/>
                </a:solidFill>
                <a:latin typeface="Poppins"/>
                <a:ea typeface="Poppins"/>
                <a:cs typeface="Poppins"/>
                <a:sym typeface="Poppins"/>
              </a:endParaRPr>
            </a:p>
          </p:txBody>
        </p:sp>
        <p:sp>
          <p:nvSpPr>
            <p:cNvPr id="335" name="Google Shape;335;p15"/>
            <p:cNvSpPr/>
            <p:nvPr/>
          </p:nvSpPr>
          <p:spPr>
            <a:xfrm>
              <a:off x="1182464" y="4036075"/>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36" name="Google Shape;336;p15"/>
            <p:cNvSpPr/>
            <p:nvPr/>
          </p:nvSpPr>
          <p:spPr>
            <a:xfrm>
              <a:off x="1182464" y="4166352"/>
              <a:ext cx="172800" cy="81900"/>
            </a:xfrm>
            <a:prstGeom prst="roundRect">
              <a:avLst>
                <a:gd fmla="val 27950" name="adj"/>
              </a:avLst>
            </a:prstGeom>
            <a:solidFill>
              <a:srgbClr val="FFFFFF"/>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337" name="Google Shape;337;p15"/>
          <p:cNvGrpSpPr/>
          <p:nvPr/>
        </p:nvGrpSpPr>
        <p:grpSpPr>
          <a:xfrm>
            <a:off x="4478089" y="6949715"/>
            <a:ext cx="911569" cy="471085"/>
            <a:chOff x="1182464" y="3950600"/>
            <a:chExt cx="1156961" cy="597900"/>
          </a:xfrm>
        </p:grpSpPr>
        <p:sp>
          <p:nvSpPr>
            <p:cNvPr id="338" name="Google Shape;338;p15"/>
            <p:cNvSpPr/>
            <p:nvPr/>
          </p:nvSpPr>
          <p:spPr>
            <a:xfrm>
              <a:off x="1269925" y="3950600"/>
              <a:ext cx="10695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G</a:t>
              </a:r>
              <a:r>
                <a:rPr b="1" lang="es" sz="946">
                  <a:solidFill>
                    <a:schemeClr val="dk1"/>
                  </a:solidFill>
                  <a:latin typeface="Poppins"/>
                  <a:ea typeface="Poppins"/>
                  <a:cs typeface="Poppins"/>
                  <a:sym typeface="Poppins"/>
                </a:rPr>
                <a:t>e</a:t>
              </a:r>
              <a:r>
                <a:rPr b="1" lang="es" sz="946">
                  <a:solidFill>
                    <a:schemeClr val="dk1"/>
                  </a:solidFill>
                  <a:latin typeface="Poppins"/>
                  <a:ea typeface="Poppins"/>
                  <a:cs typeface="Poppins"/>
                  <a:sym typeface="Poppins"/>
                </a:rPr>
                <a:t>stión de pagos</a:t>
              </a:r>
              <a:endParaRPr b="1" sz="946">
                <a:solidFill>
                  <a:schemeClr val="dk1"/>
                </a:solidFill>
                <a:latin typeface="Poppins"/>
                <a:ea typeface="Poppins"/>
                <a:cs typeface="Poppins"/>
                <a:sym typeface="Poppins"/>
              </a:endParaRPr>
            </a:p>
          </p:txBody>
        </p:sp>
        <p:sp>
          <p:nvSpPr>
            <p:cNvPr id="339" name="Google Shape;339;p15"/>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40" name="Google Shape;340;p15"/>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41" name="Google Shape;341;p15"/>
          <p:cNvCxnSpPr>
            <a:stCxn id="338" idx="3"/>
            <a:endCxn id="294" idx="3"/>
          </p:cNvCxnSpPr>
          <p:nvPr/>
        </p:nvCxnSpPr>
        <p:spPr>
          <a:xfrm>
            <a:off x="5389658" y="7185258"/>
            <a:ext cx="530400" cy="3070500"/>
          </a:xfrm>
          <a:prstGeom prst="bentConnector3">
            <a:avLst>
              <a:gd fmla="val 144868" name="adj1"/>
            </a:avLst>
          </a:prstGeom>
          <a:noFill/>
          <a:ln cap="flat" cmpd="sng" w="15000">
            <a:solidFill>
              <a:srgbClr val="434343"/>
            </a:solidFill>
            <a:prstDash val="dash"/>
            <a:round/>
            <a:headEnd len="med" w="med" type="none"/>
            <a:tailEnd len="med" w="med" type="triangle"/>
          </a:ln>
        </p:spPr>
      </p:cxnSp>
      <p:sp>
        <p:nvSpPr>
          <p:cNvPr id="342" name="Google Shape;342;p15"/>
          <p:cNvSpPr txBox="1"/>
          <p:nvPr/>
        </p:nvSpPr>
        <p:spPr>
          <a:xfrm>
            <a:off x="5757125" y="9072475"/>
            <a:ext cx="710700" cy="7521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50">
                <a:highlight>
                  <a:srgbClr val="FFFFFF"/>
                </a:highlight>
                <a:latin typeface="Poppins"/>
                <a:ea typeface="Poppins"/>
                <a:cs typeface="Poppins"/>
                <a:sym typeface="Poppins"/>
              </a:rPr>
              <a:t>Realiza llamadas API a la Pasarela de Pagos usando</a:t>
            </a:r>
            <a:endParaRPr sz="75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750">
                <a:highlight>
                  <a:srgbClr val="FFFFFF"/>
                </a:highlight>
                <a:latin typeface="Poppins"/>
                <a:ea typeface="Poppins"/>
                <a:cs typeface="Poppins"/>
                <a:sym typeface="Poppins"/>
              </a:rPr>
              <a:t>[HTTPS/API de pagos]  </a:t>
            </a:r>
            <a:endParaRPr sz="750">
              <a:highlight>
                <a:srgbClr val="FFFFFF"/>
              </a:highlight>
              <a:latin typeface="Poppins"/>
              <a:ea typeface="Poppins"/>
              <a:cs typeface="Poppins"/>
              <a:sym typeface="Poppins"/>
            </a:endParaRPr>
          </a:p>
        </p:txBody>
      </p:sp>
      <p:cxnSp>
        <p:nvCxnSpPr>
          <p:cNvPr id="343" name="Google Shape;343;p15"/>
          <p:cNvCxnSpPr>
            <a:stCxn id="300" idx="2"/>
            <a:endCxn id="330" idx="0"/>
          </p:cNvCxnSpPr>
          <p:nvPr/>
        </p:nvCxnSpPr>
        <p:spPr>
          <a:xfrm flipH="1" rot="-5400000">
            <a:off x="1641857" y="4337131"/>
            <a:ext cx="1014900" cy="600"/>
          </a:xfrm>
          <a:prstGeom prst="bentConnector3">
            <a:avLst>
              <a:gd fmla="val 50005" name="adj1"/>
            </a:avLst>
          </a:prstGeom>
          <a:noFill/>
          <a:ln cap="flat" cmpd="sng" w="15000">
            <a:solidFill>
              <a:srgbClr val="434343"/>
            </a:solidFill>
            <a:prstDash val="dash"/>
            <a:round/>
            <a:headEnd len="med" w="med" type="none"/>
            <a:tailEnd len="med" w="med" type="triangle"/>
          </a:ln>
        </p:spPr>
      </p:cxnSp>
      <p:sp>
        <p:nvSpPr>
          <p:cNvPr id="344" name="Google Shape;344;p15"/>
          <p:cNvSpPr txBox="1"/>
          <p:nvPr/>
        </p:nvSpPr>
        <p:spPr>
          <a:xfrm>
            <a:off x="1866077" y="416181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Aplica reglas de negocio del carrito</a:t>
            </a:r>
            <a:endParaRPr sz="788">
              <a:highlight>
                <a:srgbClr val="FFFFFF"/>
              </a:highlight>
              <a:latin typeface="Poppins"/>
              <a:ea typeface="Poppins"/>
              <a:cs typeface="Poppins"/>
              <a:sym typeface="Poppins"/>
            </a:endParaRPr>
          </a:p>
        </p:txBody>
      </p:sp>
      <p:cxnSp>
        <p:nvCxnSpPr>
          <p:cNvPr id="345" name="Google Shape;345;p15"/>
          <p:cNvCxnSpPr>
            <a:stCxn id="330" idx="2"/>
            <a:endCxn id="338" idx="1"/>
          </p:cNvCxnSpPr>
          <p:nvPr/>
        </p:nvCxnSpPr>
        <p:spPr>
          <a:xfrm flipH="1" rot="-5400000">
            <a:off x="2413306" y="5051768"/>
            <a:ext cx="1869300" cy="2397900"/>
          </a:xfrm>
          <a:prstGeom prst="bentConnector2">
            <a:avLst/>
          </a:prstGeom>
          <a:noFill/>
          <a:ln cap="flat" cmpd="sng" w="15000">
            <a:solidFill>
              <a:srgbClr val="434343"/>
            </a:solidFill>
            <a:prstDash val="dash"/>
            <a:round/>
            <a:headEnd len="med" w="med" type="none"/>
            <a:tailEnd len="med" w="med" type="triangle"/>
          </a:ln>
        </p:spPr>
      </p:cxnSp>
      <p:sp>
        <p:nvSpPr>
          <p:cNvPr id="346" name="Google Shape;346;p15"/>
          <p:cNvSpPr txBox="1"/>
          <p:nvPr/>
        </p:nvSpPr>
        <p:spPr>
          <a:xfrm>
            <a:off x="3847975" y="7000438"/>
            <a:ext cx="4059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Solicita pagos</a:t>
            </a:r>
            <a:endParaRPr sz="788">
              <a:highlight>
                <a:srgbClr val="FFFFFF"/>
              </a:highlight>
              <a:latin typeface="Poppins"/>
              <a:ea typeface="Poppins"/>
              <a:cs typeface="Poppins"/>
              <a:sym typeface="Poppins"/>
            </a:endParaRPr>
          </a:p>
        </p:txBody>
      </p:sp>
      <p:cxnSp>
        <p:nvCxnSpPr>
          <p:cNvPr id="347" name="Google Shape;347;p15"/>
          <p:cNvCxnSpPr>
            <a:stCxn id="330" idx="2"/>
            <a:endCxn id="303" idx="2"/>
          </p:cNvCxnSpPr>
          <p:nvPr/>
        </p:nvCxnSpPr>
        <p:spPr>
          <a:xfrm flipH="1" rot="-5400000">
            <a:off x="276706" y="7188368"/>
            <a:ext cx="4789500" cy="1044900"/>
          </a:xfrm>
          <a:prstGeom prst="bentConnector2">
            <a:avLst/>
          </a:prstGeom>
          <a:noFill/>
          <a:ln cap="flat" cmpd="sng" w="15000">
            <a:solidFill>
              <a:srgbClr val="434343"/>
            </a:solidFill>
            <a:prstDash val="dash"/>
            <a:round/>
            <a:headEnd len="med" w="med" type="none"/>
            <a:tailEnd len="med" w="med" type="triangle"/>
          </a:ln>
        </p:spPr>
      </p:cxnSp>
      <p:sp>
        <p:nvSpPr>
          <p:cNvPr id="348" name="Google Shape;348;p15"/>
          <p:cNvSpPr txBox="1"/>
          <p:nvPr/>
        </p:nvSpPr>
        <p:spPr>
          <a:xfrm>
            <a:off x="2372052" y="9921869"/>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escribe pedidos en</a:t>
            </a:r>
            <a:endParaRPr sz="788">
              <a:highlight>
                <a:srgbClr val="FFFFFF"/>
              </a:highlight>
              <a:latin typeface="Poppins"/>
              <a:ea typeface="Poppins"/>
              <a:cs typeface="Poppins"/>
              <a:sym typeface="Poppins"/>
            </a:endParaRPr>
          </a:p>
        </p:txBody>
      </p:sp>
      <p:grpSp>
        <p:nvGrpSpPr>
          <p:cNvPr id="349" name="Google Shape;349;p15"/>
          <p:cNvGrpSpPr/>
          <p:nvPr/>
        </p:nvGrpSpPr>
        <p:grpSpPr>
          <a:xfrm>
            <a:off x="3133505" y="4123051"/>
            <a:ext cx="911569" cy="471085"/>
            <a:chOff x="1182464" y="3950600"/>
            <a:chExt cx="1156961" cy="597900"/>
          </a:xfrm>
        </p:grpSpPr>
        <p:sp>
          <p:nvSpPr>
            <p:cNvPr id="350" name="Google Shape;350;p15"/>
            <p:cNvSpPr/>
            <p:nvPr/>
          </p:nvSpPr>
          <p:spPr>
            <a:xfrm>
              <a:off x="1269925" y="3950600"/>
              <a:ext cx="1069500" cy="597900"/>
            </a:xfrm>
            <a:prstGeom prst="roundRect">
              <a:avLst>
                <a:gd fmla="val 6867" name="adj"/>
              </a:avLst>
            </a:prstGeom>
            <a:noFill/>
            <a:ln cap="flat" cmpd="sng" w="15000">
              <a:solidFill>
                <a:srgbClr val="6AA84F"/>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rgbClr val="6AA84F"/>
                  </a:solidFill>
                  <a:latin typeface="Poppins"/>
                  <a:ea typeface="Poppins"/>
                  <a:cs typeface="Poppins"/>
                  <a:sym typeface="Poppins"/>
                </a:rPr>
                <a:t>Gestión de perfiles</a:t>
              </a:r>
              <a:endParaRPr b="1" sz="946">
                <a:solidFill>
                  <a:srgbClr val="6AA84F"/>
                </a:solidFill>
                <a:latin typeface="Poppins"/>
                <a:ea typeface="Poppins"/>
                <a:cs typeface="Poppins"/>
                <a:sym typeface="Poppins"/>
              </a:endParaRPr>
            </a:p>
          </p:txBody>
        </p:sp>
        <p:sp>
          <p:nvSpPr>
            <p:cNvPr id="351" name="Google Shape;351;p15"/>
            <p:cNvSpPr/>
            <p:nvPr/>
          </p:nvSpPr>
          <p:spPr>
            <a:xfrm>
              <a:off x="1182464" y="4036075"/>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52" name="Google Shape;352;p15"/>
            <p:cNvSpPr/>
            <p:nvPr/>
          </p:nvSpPr>
          <p:spPr>
            <a:xfrm>
              <a:off x="1182464" y="4166352"/>
              <a:ext cx="172800" cy="81900"/>
            </a:xfrm>
            <a:prstGeom prst="roundRect">
              <a:avLst>
                <a:gd fmla="val 27950" name="adj"/>
              </a:avLst>
            </a:prstGeom>
            <a:solidFill>
              <a:srgbClr val="FFFFFF"/>
            </a:solidFill>
            <a:ln cap="flat" cmpd="sng" w="15000">
              <a:solidFill>
                <a:srgbClr val="6AA84F"/>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53" name="Google Shape;353;p15"/>
          <p:cNvCxnSpPr>
            <a:stCxn id="300" idx="3"/>
            <a:endCxn id="350" idx="0"/>
          </p:cNvCxnSpPr>
          <p:nvPr/>
        </p:nvCxnSpPr>
        <p:spPr>
          <a:xfrm>
            <a:off x="2570337" y="3594438"/>
            <a:ext cx="1053300" cy="528600"/>
          </a:xfrm>
          <a:prstGeom prst="bentConnector2">
            <a:avLst/>
          </a:prstGeom>
          <a:noFill/>
          <a:ln cap="flat" cmpd="sng" w="15000">
            <a:solidFill>
              <a:srgbClr val="434343"/>
            </a:solidFill>
            <a:prstDash val="dash"/>
            <a:round/>
            <a:headEnd len="med" w="med" type="none"/>
            <a:tailEnd len="med" w="med" type="triangle"/>
          </a:ln>
        </p:spPr>
      </p:cxnSp>
      <p:cxnSp>
        <p:nvCxnSpPr>
          <p:cNvPr id="354" name="Google Shape;354;p15"/>
          <p:cNvCxnSpPr>
            <a:stCxn id="350" idx="2"/>
            <a:endCxn id="303" idx="1"/>
          </p:cNvCxnSpPr>
          <p:nvPr/>
        </p:nvCxnSpPr>
        <p:spPr>
          <a:xfrm flipH="1" rot="-5400000">
            <a:off x="1034295" y="7183586"/>
            <a:ext cx="5179800" cy="900"/>
          </a:xfrm>
          <a:prstGeom prst="bentConnector3">
            <a:avLst>
              <a:gd fmla="val 50000" name="adj1"/>
            </a:avLst>
          </a:prstGeom>
          <a:noFill/>
          <a:ln cap="flat" cmpd="sng" w="15000">
            <a:solidFill>
              <a:srgbClr val="434343"/>
            </a:solidFill>
            <a:prstDash val="dash"/>
            <a:round/>
            <a:headEnd len="med" w="med" type="none"/>
            <a:tailEnd len="med" w="med" type="triangle"/>
          </a:ln>
        </p:spPr>
      </p:cxnSp>
      <p:cxnSp>
        <p:nvCxnSpPr>
          <p:cNvPr id="355" name="Google Shape;355;p15"/>
          <p:cNvCxnSpPr>
            <a:stCxn id="330" idx="2"/>
            <a:endCxn id="305" idx="1"/>
          </p:cNvCxnSpPr>
          <p:nvPr/>
        </p:nvCxnSpPr>
        <p:spPr>
          <a:xfrm flipH="1" rot="-5400000">
            <a:off x="1863856" y="5601218"/>
            <a:ext cx="2814300" cy="2244000"/>
          </a:xfrm>
          <a:prstGeom prst="bentConnector2">
            <a:avLst/>
          </a:prstGeom>
          <a:noFill/>
          <a:ln cap="flat" cmpd="sng" w="15000">
            <a:solidFill>
              <a:srgbClr val="434343"/>
            </a:solidFill>
            <a:prstDash val="dash"/>
            <a:round/>
            <a:headEnd len="med" w="med" type="none"/>
            <a:tailEnd len="med" w="med" type="triangle"/>
          </a:ln>
        </p:spPr>
      </p:cxnSp>
      <p:grpSp>
        <p:nvGrpSpPr>
          <p:cNvPr id="356" name="Google Shape;356;p15"/>
          <p:cNvGrpSpPr/>
          <p:nvPr/>
        </p:nvGrpSpPr>
        <p:grpSpPr>
          <a:xfrm>
            <a:off x="4411030" y="4844987"/>
            <a:ext cx="1030460" cy="471085"/>
            <a:chOff x="1182464" y="3950606"/>
            <a:chExt cx="1307856" cy="597900"/>
          </a:xfrm>
        </p:grpSpPr>
        <p:sp>
          <p:nvSpPr>
            <p:cNvPr id="357" name="Google Shape;357;p15"/>
            <p:cNvSpPr/>
            <p:nvPr/>
          </p:nvSpPr>
          <p:spPr>
            <a:xfrm>
              <a:off x="1269921"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Catálogo</a:t>
              </a:r>
              <a:endParaRPr b="1" sz="946">
                <a:solidFill>
                  <a:schemeClr val="dk1"/>
                </a:solidFill>
                <a:latin typeface="Poppins"/>
                <a:ea typeface="Poppins"/>
                <a:cs typeface="Poppins"/>
                <a:sym typeface="Poppins"/>
              </a:endParaRPr>
            </a:p>
          </p:txBody>
        </p:sp>
        <p:sp>
          <p:nvSpPr>
            <p:cNvPr id="358" name="Google Shape;358;p15"/>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59" name="Google Shape;359;p15"/>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60" name="Google Shape;360;p15"/>
          <p:cNvCxnSpPr>
            <a:stCxn id="300" idx="3"/>
            <a:endCxn id="357" idx="0"/>
          </p:cNvCxnSpPr>
          <p:nvPr/>
        </p:nvCxnSpPr>
        <p:spPr>
          <a:xfrm>
            <a:off x="2570337" y="3594438"/>
            <a:ext cx="2390400" cy="1250400"/>
          </a:xfrm>
          <a:prstGeom prst="bentConnector2">
            <a:avLst/>
          </a:prstGeom>
          <a:noFill/>
          <a:ln cap="flat" cmpd="sng" w="15000">
            <a:solidFill>
              <a:srgbClr val="434343"/>
            </a:solidFill>
            <a:prstDash val="dash"/>
            <a:round/>
            <a:headEnd len="med" w="med" type="none"/>
            <a:tailEnd len="med" w="med" type="triangle"/>
          </a:ln>
        </p:spPr>
      </p:cxnSp>
      <p:cxnSp>
        <p:nvCxnSpPr>
          <p:cNvPr id="361" name="Google Shape;361;p15"/>
          <p:cNvCxnSpPr>
            <a:stCxn id="357" idx="2"/>
            <a:endCxn id="326" idx="0"/>
          </p:cNvCxnSpPr>
          <p:nvPr/>
        </p:nvCxnSpPr>
        <p:spPr>
          <a:xfrm rot="5400000">
            <a:off x="4704214" y="5571073"/>
            <a:ext cx="511500" cy="1500"/>
          </a:xfrm>
          <a:prstGeom prst="bentConnector3">
            <a:avLst>
              <a:gd fmla="val 49986" name="adj1"/>
            </a:avLst>
          </a:prstGeom>
          <a:noFill/>
          <a:ln cap="flat" cmpd="sng" w="15000">
            <a:solidFill>
              <a:srgbClr val="434343"/>
            </a:solidFill>
            <a:prstDash val="dash"/>
            <a:round/>
            <a:headEnd len="med" w="med" type="none"/>
            <a:tailEnd len="med" w="med" type="triangle"/>
          </a:ln>
        </p:spPr>
      </p:cxnSp>
      <p:sp>
        <p:nvSpPr>
          <p:cNvPr id="362" name="Google Shape;362;p15"/>
          <p:cNvSpPr txBox="1"/>
          <p:nvPr/>
        </p:nvSpPr>
        <p:spPr>
          <a:xfrm>
            <a:off x="3698200" y="7907325"/>
            <a:ext cx="4737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Notificar Acerca</a:t>
            </a:r>
            <a:r>
              <a:rPr lang="es" sz="788">
                <a:highlight>
                  <a:srgbClr val="FFFFFF"/>
                </a:highlight>
                <a:latin typeface="Poppins"/>
                <a:ea typeface="Poppins"/>
                <a:cs typeface="Poppins"/>
                <a:sym typeface="Poppins"/>
              </a:rPr>
              <a:t> del pedido</a:t>
            </a:r>
            <a:endParaRPr sz="788">
              <a:highlight>
                <a:srgbClr val="FFFFFF"/>
              </a:highlight>
              <a:latin typeface="Poppins"/>
              <a:ea typeface="Poppins"/>
              <a:cs typeface="Poppins"/>
              <a:sym typeface="Poppins"/>
            </a:endParaRPr>
          </a:p>
        </p:txBody>
      </p:sp>
      <p:sp>
        <p:nvSpPr>
          <p:cNvPr id="363" name="Google Shape;363;p15"/>
          <p:cNvSpPr txBox="1"/>
          <p:nvPr/>
        </p:nvSpPr>
        <p:spPr>
          <a:xfrm>
            <a:off x="3325177" y="9206444"/>
            <a:ext cx="5988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a:t>
            </a:r>
            <a:r>
              <a:rPr lang="es" sz="788">
                <a:highlight>
                  <a:srgbClr val="FFFFFF"/>
                </a:highlight>
                <a:latin typeface="Poppins"/>
                <a:ea typeface="Poppins"/>
                <a:cs typeface="Poppins"/>
                <a:sym typeface="Poppins"/>
              </a:rPr>
              <a:t>escribe perfiles en</a:t>
            </a:r>
            <a:endParaRPr sz="788">
              <a:highlight>
                <a:srgbClr val="FFFFFF"/>
              </a:highlight>
              <a:latin typeface="Poppins"/>
              <a:ea typeface="Poppins"/>
              <a:cs typeface="Poppins"/>
              <a:sym typeface="Poppins"/>
            </a:endParaRPr>
          </a:p>
        </p:txBody>
      </p:sp>
      <p:cxnSp>
        <p:nvCxnSpPr>
          <p:cNvPr id="364" name="Google Shape;364;p15"/>
          <p:cNvCxnSpPr/>
          <p:nvPr/>
        </p:nvCxnSpPr>
        <p:spPr>
          <a:xfrm flipH="1">
            <a:off x="3276637" y="5080530"/>
            <a:ext cx="1203300" cy="1485900"/>
          </a:xfrm>
          <a:prstGeom prst="bentConnector3">
            <a:avLst>
              <a:gd fmla="val 49997" name="adj1"/>
            </a:avLst>
          </a:prstGeom>
          <a:noFill/>
          <a:ln cap="flat" cmpd="sng" w="15000">
            <a:solidFill>
              <a:srgbClr val="434343"/>
            </a:solidFill>
            <a:prstDash val="dash"/>
            <a:round/>
            <a:headEnd len="med" w="med" type="none"/>
            <a:tailEnd len="med" w="med" type="triangle"/>
          </a:ln>
        </p:spPr>
      </p:cxnSp>
      <p:cxnSp>
        <p:nvCxnSpPr>
          <p:cNvPr id="365" name="Google Shape;365;p15"/>
          <p:cNvCxnSpPr>
            <a:stCxn id="357" idx="1"/>
            <a:endCxn id="330" idx="3"/>
          </p:cNvCxnSpPr>
          <p:nvPr/>
        </p:nvCxnSpPr>
        <p:spPr>
          <a:xfrm flipH="1">
            <a:off x="2570437" y="5080530"/>
            <a:ext cx="1909500" cy="600"/>
          </a:xfrm>
          <a:prstGeom prst="bentConnector3">
            <a:avLst>
              <a:gd fmla="val 50003" name="adj1"/>
            </a:avLst>
          </a:prstGeom>
          <a:noFill/>
          <a:ln cap="flat" cmpd="sng" w="15000">
            <a:solidFill>
              <a:srgbClr val="434343"/>
            </a:solidFill>
            <a:prstDash val="dash"/>
            <a:round/>
            <a:headEnd len="med" w="med" type="none"/>
            <a:tailEnd len="med" w="med" type="triangle"/>
          </a:ln>
        </p:spPr>
      </p:cxnSp>
      <p:sp>
        <p:nvSpPr>
          <p:cNvPr id="366" name="Google Shape;366;p15"/>
          <p:cNvSpPr txBox="1"/>
          <p:nvPr/>
        </p:nvSpPr>
        <p:spPr>
          <a:xfrm>
            <a:off x="3679863" y="5706775"/>
            <a:ext cx="4737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Consulta disponibilidad</a:t>
            </a:r>
            <a:endParaRPr sz="788">
              <a:highlight>
                <a:srgbClr val="FFFFFF"/>
              </a:highlight>
              <a:latin typeface="Poppins"/>
              <a:ea typeface="Poppins"/>
              <a:cs typeface="Poppins"/>
              <a:sym typeface="Poppins"/>
            </a:endParaRPr>
          </a:p>
        </p:txBody>
      </p:sp>
      <p:sp>
        <p:nvSpPr>
          <p:cNvPr id="367" name="Google Shape;367;p15"/>
          <p:cNvSpPr txBox="1"/>
          <p:nvPr/>
        </p:nvSpPr>
        <p:spPr>
          <a:xfrm>
            <a:off x="2802928" y="4937900"/>
            <a:ext cx="5661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Agrega productos al carro</a:t>
            </a:r>
            <a:endParaRPr sz="788">
              <a:highlight>
                <a:srgbClr val="FFFFFF"/>
              </a:highlight>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6"/>
          <p:cNvSpPr txBox="1"/>
          <p:nvPr/>
        </p:nvSpPr>
        <p:spPr>
          <a:xfrm>
            <a:off x="1021200" y="1017250"/>
            <a:ext cx="5735700" cy="826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2.9 Diagrama de componentes (N3)</a:t>
            </a:r>
            <a:endParaRPr b="1" sz="13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Presenta el interior de los componentes de LittleStyle (por ejemplo, el Backend/API). Separados </a:t>
            </a:r>
            <a:endParaRPr sz="1200">
              <a:solidFill>
                <a:schemeClr val="dk1"/>
              </a:solidFill>
              <a:latin typeface="Poppins"/>
              <a:ea typeface="Poppins"/>
              <a:cs typeface="Poppins"/>
              <a:sym typeface="Poppins"/>
            </a:endParaRPr>
          </a:p>
        </p:txBody>
      </p:sp>
      <p:sp>
        <p:nvSpPr>
          <p:cNvPr id="373" name="Google Shape;373;p16"/>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4" name="Google Shape;374;p16"/>
          <p:cNvSpPr/>
          <p:nvPr/>
        </p:nvSpPr>
        <p:spPr>
          <a:xfrm>
            <a:off x="4540142" y="773675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5" name="Google Shape;375;p16"/>
          <p:cNvSpPr/>
          <p:nvPr/>
        </p:nvSpPr>
        <p:spPr>
          <a:xfrm>
            <a:off x="5124048" y="1938225"/>
            <a:ext cx="1083600" cy="586800"/>
          </a:xfrm>
          <a:prstGeom prst="roundRect">
            <a:avLst>
              <a:gd fmla="val 6867" name="adj"/>
            </a:avLst>
          </a:prstGeom>
          <a:noFill/>
          <a:ln cap="flat" cmpd="sng" w="22525">
            <a:solidFill>
              <a:srgbClr val="C42228"/>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C42228"/>
                </a:solidFill>
                <a:latin typeface="Poppins"/>
                <a:ea typeface="Poppins"/>
                <a:cs typeface="Poppins"/>
                <a:sym typeface="Poppins"/>
              </a:rPr>
              <a:t>Servicio de Notificaciones y Correo</a:t>
            </a:r>
            <a:endParaRPr b="1" sz="946">
              <a:solidFill>
                <a:srgbClr val="C42228"/>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C42228"/>
                </a:solidFill>
                <a:latin typeface="Poppins"/>
                <a:ea typeface="Poppins"/>
                <a:cs typeface="Poppins"/>
                <a:sym typeface="Poppins"/>
              </a:rPr>
              <a:t>[Sistema de Software]</a:t>
            </a:r>
            <a:endParaRPr sz="552">
              <a:solidFill>
                <a:srgbClr val="434343"/>
              </a:solidFill>
              <a:latin typeface="Poppins"/>
              <a:ea typeface="Poppins"/>
              <a:cs typeface="Poppins"/>
              <a:sym typeface="Poppins"/>
            </a:endParaRPr>
          </a:p>
        </p:txBody>
      </p:sp>
      <p:sp>
        <p:nvSpPr>
          <p:cNvPr id="376" name="Google Shape;376;p16"/>
          <p:cNvSpPr/>
          <p:nvPr/>
        </p:nvSpPr>
        <p:spPr>
          <a:xfrm>
            <a:off x="5019736" y="9108527"/>
            <a:ext cx="961500" cy="586800"/>
          </a:xfrm>
          <a:prstGeom prst="roundRect">
            <a:avLst>
              <a:gd fmla="val 6867" name="adj"/>
            </a:avLst>
          </a:prstGeom>
          <a:noFill/>
          <a:ln cap="flat" cmpd="sng" w="22525">
            <a:solidFill>
              <a:srgbClr val="EE8F1D"/>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EE8F1D"/>
                </a:solidFill>
                <a:latin typeface="Poppins"/>
                <a:ea typeface="Poppins"/>
                <a:cs typeface="Poppins"/>
                <a:sym typeface="Poppins"/>
              </a:rPr>
              <a:t>Pasarela de Pagos</a:t>
            </a:r>
            <a:endParaRPr b="1" sz="946">
              <a:solidFill>
                <a:srgbClr val="EE8F1D"/>
              </a:solidFill>
              <a:latin typeface="Poppins"/>
              <a:ea typeface="Poppins"/>
              <a:cs typeface="Poppins"/>
              <a:sym typeface="Poppins"/>
            </a:endParaRPr>
          </a:p>
          <a:p>
            <a:pPr indent="0" lvl="0" marL="0" rtl="0" algn="ctr">
              <a:lnSpc>
                <a:spcPct val="90000"/>
              </a:lnSpc>
              <a:spcBef>
                <a:spcPts val="0"/>
              </a:spcBef>
              <a:spcAft>
                <a:spcPts val="0"/>
              </a:spcAft>
              <a:buNone/>
            </a:pPr>
            <a:r>
              <a:rPr lang="es" sz="552">
                <a:solidFill>
                  <a:srgbClr val="EE8F1D"/>
                </a:solidFill>
                <a:latin typeface="Poppins"/>
                <a:ea typeface="Poppins"/>
                <a:cs typeface="Poppins"/>
                <a:sym typeface="Poppins"/>
              </a:rPr>
              <a:t>[Sistema de Software: Wompi]</a:t>
            </a:r>
            <a:endParaRPr b="1" sz="946">
              <a:solidFill>
                <a:srgbClr val="156CBE"/>
              </a:solidFill>
              <a:latin typeface="Poppins"/>
              <a:ea typeface="Poppins"/>
              <a:cs typeface="Poppins"/>
              <a:sym typeface="Poppins"/>
            </a:endParaRPr>
          </a:p>
        </p:txBody>
      </p:sp>
      <p:sp>
        <p:nvSpPr>
          <p:cNvPr id="377" name="Google Shape;377;p16"/>
          <p:cNvSpPr/>
          <p:nvPr/>
        </p:nvSpPr>
        <p:spPr>
          <a:xfrm>
            <a:off x="1021200" y="3210775"/>
            <a:ext cx="4693800" cy="4755000"/>
          </a:xfrm>
          <a:prstGeom prst="roundRect">
            <a:avLst>
              <a:gd fmla="val 3417" name="adj"/>
            </a:avLst>
          </a:prstGeom>
          <a:noFill/>
          <a:ln cap="flat" cmpd="sng" w="22525">
            <a:solidFill>
              <a:srgbClr val="1B6FC0"/>
            </a:solidFill>
            <a:prstDash val="solid"/>
            <a:round/>
            <a:headEnd len="sm" w="sm" type="none"/>
            <a:tailEnd len="sm" w="sm" type="none"/>
          </a:ln>
        </p:spPr>
        <p:txBody>
          <a:bodyPr anchorCtr="0" anchor="b" bIns="56725" lIns="56725" spcFirstLastPara="1" rIns="28375" wrap="square" tIns="28375">
            <a:noAutofit/>
          </a:bodyPr>
          <a:lstStyle/>
          <a:p>
            <a:pPr indent="0" lvl="0" marL="0" rtl="0" algn="l">
              <a:lnSpc>
                <a:spcPct val="90000"/>
              </a:lnSpc>
              <a:spcBef>
                <a:spcPts val="0"/>
              </a:spcBef>
              <a:spcAft>
                <a:spcPts val="0"/>
              </a:spcAft>
              <a:buNone/>
            </a:pPr>
            <a:r>
              <a:rPr b="1" lang="es" sz="788">
                <a:solidFill>
                  <a:srgbClr val="156CBE"/>
                </a:solidFill>
                <a:latin typeface="Poppins"/>
                <a:ea typeface="Poppins"/>
                <a:cs typeface="Poppins"/>
                <a:sym typeface="Poppins"/>
              </a:rPr>
              <a:t>Backend</a:t>
            </a:r>
            <a:endParaRPr sz="788">
              <a:solidFill>
                <a:srgbClr val="434343"/>
              </a:solidFill>
            </a:endParaRPr>
          </a:p>
        </p:txBody>
      </p:sp>
      <p:sp>
        <p:nvSpPr>
          <p:cNvPr id="378" name="Google Shape;378;p16"/>
          <p:cNvSpPr/>
          <p:nvPr/>
        </p:nvSpPr>
        <p:spPr>
          <a:xfrm>
            <a:off x="3063509" y="8194847"/>
            <a:ext cx="861600" cy="663000"/>
          </a:xfrm>
          <a:prstGeom prst="can">
            <a:avLst>
              <a:gd fmla="val 25000" name="adj"/>
            </a:avLst>
          </a:prstGeom>
          <a:noFill/>
          <a:ln cap="flat" cmpd="sng" w="15000">
            <a:solidFill>
              <a:schemeClr val="dk1"/>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Database</a:t>
            </a:r>
            <a:endParaRPr b="1" sz="946">
              <a:solidFill>
                <a:schemeClr val="dk1"/>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chemeClr val="dk1"/>
                </a:solidFill>
                <a:latin typeface="Poppins"/>
                <a:ea typeface="Poppins"/>
                <a:cs typeface="Poppins"/>
                <a:sym typeface="Poppins"/>
              </a:rPr>
              <a:t>[Container: MySql Database Schema]</a:t>
            </a:r>
            <a:endParaRPr sz="1103">
              <a:solidFill>
                <a:schemeClr val="dk1"/>
              </a:solidFill>
            </a:endParaRPr>
          </a:p>
        </p:txBody>
      </p:sp>
      <p:grpSp>
        <p:nvGrpSpPr>
          <p:cNvPr id="379" name="Google Shape;379;p16"/>
          <p:cNvGrpSpPr/>
          <p:nvPr/>
        </p:nvGrpSpPr>
        <p:grpSpPr>
          <a:xfrm>
            <a:off x="2888479" y="6955943"/>
            <a:ext cx="1208339" cy="453908"/>
            <a:chOff x="1182464" y="3976309"/>
            <a:chExt cx="1533620" cy="744600"/>
          </a:xfrm>
        </p:grpSpPr>
        <p:sp>
          <p:nvSpPr>
            <p:cNvPr id="380" name="Google Shape;380;p16"/>
            <p:cNvSpPr/>
            <p:nvPr/>
          </p:nvSpPr>
          <p:spPr>
            <a:xfrm>
              <a:off x="1257785" y="3976309"/>
              <a:ext cx="1458300" cy="7446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Notificaciones</a:t>
              </a:r>
              <a:endParaRPr b="1" sz="946">
                <a:solidFill>
                  <a:schemeClr val="dk1"/>
                </a:solidFill>
                <a:latin typeface="Poppins"/>
                <a:ea typeface="Poppins"/>
                <a:cs typeface="Poppins"/>
                <a:sym typeface="Poppins"/>
              </a:endParaRPr>
            </a:p>
          </p:txBody>
        </p:sp>
        <p:sp>
          <p:nvSpPr>
            <p:cNvPr id="381" name="Google Shape;381;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82" name="Google Shape;382;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383" name="Google Shape;383;p16"/>
          <p:cNvCxnSpPr>
            <a:stCxn id="380" idx="2"/>
            <a:endCxn id="375" idx="3"/>
          </p:cNvCxnSpPr>
          <p:nvPr/>
        </p:nvCxnSpPr>
        <p:spPr>
          <a:xfrm rot="-5400000">
            <a:off x="2275821" y="3478051"/>
            <a:ext cx="5178300" cy="2685300"/>
          </a:xfrm>
          <a:prstGeom prst="bentConnector4">
            <a:avLst>
              <a:gd fmla="val -4599" name="adj1"/>
              <a:gd fmla="val 108869" name="adj2"/>
            </a:avLst>
          </a:prstGeom>
          <a:noFill/>
          <a:ln cap="flat" cmpd="sng" w="15000">
            <a:solidFill>
              <a:srgbClr val="434343"/>
            </a:solidFill>
            <a:prstDash val="dash"/>
            <a:round/>
            <a:headEnd len="med" w="med" type="none"/>
            <a:tailEnd len="med" w="med" type="triangle"/>
          </a:ln>
        </p:spPr>
      </p:cxnSp>
      <p:sp>
        <p:nvSpPr>
          <p:cNvPr id="384" name="Google Shape;384;p16"/>
          <p:cNvSpPr txBox="1"/>
          <p:nvPr/>
        </p:nvSpPr>
        <p:spPr>
          <a:xfrm>
            <a:off x="5816522" y="3100118"/>
            <a:ext cx="8427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88">
                <a:highlight>
                  <a:srgbClr val="FFFFFF"/>
                </a:highlight>
                <a:latin typeface="Poppins"/>
                <a:ea typeface="Poppins"/>
                <a:cs typeface="Poppins"/>
                <a:sym typeface="Poppins"/>
              </a:rPr>
              <a:t>Envía notificaciones </a:t>
            </a:r>
            <a:r>
              <a:rPr lang="es" sz="630">
                <a:highlight>
                  <a:srgbClr val="FFFFFF"/>
                </a:highlight>
                <a:latin typeface="Poppins"/>
                <a:ea typeface="Poppins"/>
                <a:cs typeface="Poppins"/>
                <a:sym typeface="Poppins"/>
              </a:rPr>
              <a:t>(JSON/HTTPS)</a:t>
            </a:r>
            <a:endParaRPr sz="473">
              <a:highlight>
                <a:srgbClr val="FFFFFF"/>
              </a:highlight>
              <a:latin typeface="Poppins"/>
              <a:ea typeface="Poppins"/>
              <a:cs typeface="Poppins"/>
              <a:sym typeface="Poppins"/>
            </a:endParaRPr>
          </a:p>
        </p:txBody>
      </p:sp>
      <p:sp>
        <p:nvSpPr>
          <p:cNvPr id="385" name="Google Shape;385;p16"/>
          <p:cNvSpPr/>
          <p:nvPr/>
        </p:nvSpPr>
        <p:spPr>
          <a:xfrm>
            <a:off x="5807443" y="5240008"/>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16"/>
          <p:cNvSpPr/>
          <p:nvPr/>
        </p:nvSpPr>
        <p:spPr>
          <a:xfrm>
            <a:off x="3368900" y="3661383"/>
            <a:ext cx="250800" cy="6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16"/>
          <p:cNvSpPr/>
          <p:nvPr/>
        </p:nvSpPr>
        <p:spPr>
          <a:xfrm>
            <a:off x="2178375" y="4130048"/>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16"/>
          <p:cNvSpPr/>
          <p:nvPr/>
        </p:nvSpPr>
        <p:spPr>
          <a:xfrm>
            <a:off x="3439852" y="5718532"/>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16"/>
          <p:cNvSpPr/>
          <p:nvPr/>
        </p:nvSpPr>
        <p:spPr>
          <a:xfrm>
            <a:off x="3382352" y="9773966"/>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16"/>
          <p:cNvSpPr/>
          <p:nvPr/>
        </p:nvSpPr>
        <p:spPr>
          <a:xfrm>
            <a:off x="4208775" y="6014374"/>
            <a:ext cx="105600" cy="1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91" name="Google Shape;391;p16"/>
          <p:cNvGrpSpPr/>
          <p:nvPr/>
        </p:nvGrpSpPr>
        <p:grpSpPr>
          <a:xfrm>
            <a:off x="3013817" y="1938218"/>
            <a:ext cx="842659" cy="513514"/>
            <a:chOff x="1301400" y="5354400"/>
            <a:chExt cx="1069500" cy="651750"/>
          </a:xfrm>
        </p:grpSpPr>
        <p:sp>
          <p:nvSpPr>
            <p:cNvPr id="392" name="Google Shape;392;p16"/>
            <p:cNvSpPr/>
            <p:nvPr/>
          </p:nvSpPr>
          <p:spPr>
            <a:xfrm>
              <a:off x="1301400" y="5408250"/>
              <a:ext cx="1069500" cy="597900"/>
            </a:xfrm>
            <a:prstGeom prst="roundRect">
              <a:avLst>
                <a:gd fmla="val 6867" name="adj"/>
              </a:avLst>
            </a:prstGeom>
            <a:no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ctr">
                <a:lnSpc>
                  <a:spcPct val="90000"/>
                </a:lnSpc>
                <a:spcBef>
                  <a:spcPts val="0"/>
                </a:spcBef>
                <a:spcAft>
                  <a:spcPts val="0"/>
                </a:spcAft>
                <a:buNone/>
              </a:pPr>
              <a:r>
                <a:rPr b="1" lang="es" sz="946">
                  <a:solidFill>
                    <a:srgbClr val="156CBE"/>
                  </a:solidFill>
                  <a:latin typeface="Poppins"/>
                  <a:ea typeface="Poppins"/>
                  <a:cs typeface="Poppins"/>
                  <a:sym typeface="Poppins"/>
                </a:rPr>
                <a:t>Web App</a:t>
              </a:r>
              <a:endParaRPr b="1" sz="946">
                <a:solidFill>
                  <a:srgbClr val="156CBE"/>
                </a:solidFill>
                <a:latin typeface="Poppins"/>
                <a:ea typeface="Poppins"/>
                <a:cs typeface="Poppins"/>
                <a:sym typeface="Poppins"/>
              </a:endParaRPr>
            </a:p>
            <a:p>
              <a:pPr indent="0" lvl="0" marL="0" rtl="0" algn="ctr">
                <a:lnSpc>
                  <a:spcPct val="90000"/>
                </a:lnSpc>
                <a:spcBef>
                  <a:spcPts val="158"/>
                </a:spcBef>
                <a:spcAft>
                  <a:spcPts val="0"/>
                </a:spcAft>
                <a:buNone/>
              </a:pPr>
              <a:r>
                <a:rPr lang="es" sz="552">
                  <a:solidFill>
                    <a:srgbClr val="156CBE"/>
                  </a:solidFill>
                  <a:latin typeface="Poppins"/>
                  <a:ea typeface="Poppins"/>
                  <a:cs typeface="Poppins"/>
                  <a:sym typeface="Poppins"/>
                </a:rPr>
                <a:t>[Container: Angular]</a:t>
              </a:r>
              <a:endParaRPr sz="552">
                <a:solidFill>
                  <a:srgbClr val="434343"/>
                </a:solidFill>
              </a:endParaRPr>
            </a:p>
          </p:txBody>
        </p:sp>
        <p:sp>
          <p:nvSpPr>
            <p:cNvPr id="393" name="Google Shape;393;p16"/>
            <p:cNvSpPr/>
            <p:nvPr/>
          </p:nvSpPr>
          <p:spPr>
            <a:xfrm>
              <a:off x="1301400" y="5354400"/>
              <a:ext cx="1069500" cy="88500"/>
            </a:xfrm>
            <a:prstGeom prst="roundRect">
              <a:avLst>
                <a:gd fmla="val 27950" name="adj"/>
              </a:avLst>
            </a:prstGeom>
            <a:solidFill>
              <a:srgbClr val="1B6FC0"/>
            </a:solidFill>
            <a:ln cap="flat" cmpd="sng" w="15000">
              <a:solidFill>
                <a:srgbClr val="1B6FC0"/>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394" name="Google Shape;394;p16"/>
            <p:cNvSpPr/>
            <p:nvPr/>
          </p:nvSpPr>
          <p:spPr>
            <a:xfrm>
              <a:off x="133827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95" name="Google Shape;395;p16"/>
            <p:cNvSpPr/>
            <p:nvPr/>
          </p:nvSpPr>
          <p:spPr>
            <a:xfrm>
              <a:off x="1413100"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96" name="Google Shape;396;p16"/>
            <p:cNvSpPr/>
            <p:nvPr/>
          </p:nvSpPr>
          <p:spPr>
            <a:xfrm>
              <a:off x="1487925" y="5371650"/>
              <a:ext cx="54000" cy="54000"/>
            </a:xfrm>
            <a:prstGeom prst="ellipse">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sp>
          <p:nvSpPr>
            <p:cNvPr id="397" name="Google Shape;397;p16"/>
            <p:cNvSpPr/>
            <p:nvPr/>
          </p:nvSpPr>
          <p:spPr>
            <a:xfrm>
              <a:off x="1616975" y="5371650"/>
              <a:ext cx="722400" cy="54000"/>
            </a:xfrm>
            <a:prstGeom prst="roundRect">
              <a:avLst>
                <a:gd fmla="val 50000" name="adj"/>
              </a:avLst>
            </a:prstGeom>
            <a:solidFill>
              <a:srgbClr val="FFFFFF"/>
            </a:solidFill>
            <a:ln cap="flat" cmpd="sng" w="7500">
              <a:solidFill>
                <a:srgbClr val="FFFFFF"/>
              </a:solidFill>
              <a:prstDash val="solid"/>
              <a:round/>
              <a:headEnd len="sm" w="sm" type="none"/>
              <a:tailEnd len="sm" w="sm" type="none"/>
            </a:ln>
          </p:spPr>
          <p:txBody>
            <a:bodyPr anchorCtr="0" anchor="ctr" bIns="72025" lIns="72025" spcFirstLastPara="1" rIns="72025" wrap="square" tIns="72025">
              <a:noAutofit/>
            </a:bodyPr>
            <a:lstStyle/>
            <a:p>
              <a:pPr indent="0" lvl="0" marL="0" rtl="0" algn="ctr">
                <a:spcBef>
                  <a:spcPts val="0"/>
                </a:spcBef>
                <a:spcAft>
                  <a:spcPts val="0"/>
                </a:spcAft>
                <a:buNone/>
              </a:pPr>
              <a:r>
                <a:t/>
              </a:r>
              <a:endParaRPr sz="1103"/>
            </a:p>
          </p:txBody>
        </p:sp>
      </p:grpSp>
      <p:grpSp>
        <p:nvGrpSpPr>
          <p:cNvPr id="398" name="Google Shape;398;p16"/>
          <p:cNvGrpSpPr/>
          <p:nvPr/>
        </p:nvGrpSpPr>
        <p:grpSpPr>
          <a:xfrm>
            <a:off x="2752552" y="3387832"/>
            <a:ext cx="1303953" cy="471085"/>
            <a:chOff x="1182464" y="3950606"/>
            <a:chExt cx="1654973" cy="597900"/>
          </a:xfrm>
        </p:grpSpPr>
        <p:sp>
          <p:nvSpPr>
            <p:cNvPr id="399" name="Google Shape;399;p16"/>
            <p:cNvSpPr/>
            <p:nvPr/>
          </p:nvSpPr>
          <p:spPr>
            <a:xfrm>
              <a:off x="1269937" y="3950606"/>
              <a:ext cx="15675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API de Administradores</a:t>
              </a:r>
              <a:endParaRPr b="1" sz="946">
                <a:solidFill>
                  <a:schemeClr val="dk1"/>
                </a:solidFill>
                <a:latin typeface="Poppins"/>
                <a:ea typeface="Poppins"/>
                <a:cs typeface="Poppins"/>
                <a:sym typeface="Poppins"/>
              </a:endParaRPr>
            </a:p>
          </p:txBody>
        </p:sp>
        <p:sp>
          <p:nvSpPr>
            <p:cNvPr id="400" name="Google Shape;400;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01" name="Google Shape;401;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402" name="Google Shape;402;p16"/>
          <p:cNvCxnSpPr>
            <a:stCxn id="392" idx="2"/>
            <a:endCxn id="399" idx="0"/>
          </p:cNvCxnSpPr>
          <p:nvPr/>
        </p:nvCxnSpPr>
        <p:spPr>
          <a:xfrm flipH="1" rot="-5400000">
            <a:off x="2969096" y="2917782"/>
            <a:ext cx="936000" cy="3900"/>
          </a:xfrm>
          <a:prstGeom prst="bentConnector3">
            <a:avLst>
              <a:gd fmla="val 50005" name="adj1"/>
            </a:avLst>
          </a:prstGeom>
          <a:noFill/>
          <a:ln cap="flat" cmpd="sng" w="15000">
            <a:solidFill>
              <a:srgbClr val="434343"/>
            </a:solidFill>
            <a:prstDash val="dash"/>
            <a:round/>
            <a:headEnd len="med" w="med" type="none"/>
            <a:tailEnd len="med" w="med" type="triangle"/>
          </a:ln>
        </p:spPr>
      </p:cxnSp>
      <p:sp>
        <p:nvSpPr>
          <p:cNvPr id="403" name="Google Shape;403;p16"/>
          <p:cNvSpPr txBox="1"/>
          <p:nvPr/>
        </p:nvSpPr>
        <p:spPr>
          <a:xfrm>
            <a:off x="3011550" y="2680788"/>
            <a:ext cx="851100" cy="3009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solidFill>
                  <a:schemeClr val="dk1"/>
                </a:solidFill>
                <a:highlight>
                  <a:schemeClr val="lt1"/>
                </a:highlight>
                <a:latin typeface="Poppins"/>
                <a:ea typeface="Poppins"/>
                <a:cs typeface="Poppins"/>
                <a:sym typeface="Poppins"/>
              </a:rPr>
              <a:t>Accede las funcionalidades del administrador</a:t>
            </a:r>
            <a:endParaRPr sz="788">
              <a:highlight>
                <a:srgbClr val="FFFFFF"/>
              </a:highlight>
              <a:latin typeface="Poppins"/>
              <a:ea typeface="Poppins"/>
              <a:cs typeface="Poppins"/>
              <a:sym typeface="Poppins"/>
            </a:endParaRPr>
          </a:p>
        </p:txBody>
      </p:sp>
      <p:grpSp>
        <p:nvGrpSpPr>
          <p:cNvPr id="404" name="Google Shape;404;p16"/>
          <p:cNvGrpSpPr/>
          <p:nvPr/>
        </p:nvGrpSpPr>
        <p:grpSpPr>
          <a:xfrm>
            <a:off x="4476032" y="4554555"/>
            <a:ext cx="911569" cy="471085"/>
            <a:chOff x="1182464" y="3950600"/>
            <a:chExt cx="1156961" cy="597900"/>
          </a:xfrm>
        </p:grpSpPr>
        <p:sp>
          <p:nvSpPr>
            <p:cNvPr id="405" name="Google Shape;405;p16"/>
            <p:cNvSpPr/>
            <p:nvPr/>
          </p:nvSpPr>
          <p:spPr>
            <a:xfrm>
              <a:off x="1269925" y="3950600"/>
              <a:ext cx="10695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Gestión de usuarios</a:t>
              </a:r>
              <a:endParaRPr b="1" sz="946">
                <a:solidFill>
                  <a:schemeClr val="dk1"/>
                </a:solidFill>
                <a:latin typeface="Poppins"/>
                <a:ea typeface="Poppins"/>
                <a:cs typeface="Poppins"/>
                <a:sym typeface="Poppins"/>
              </a:endParaRPr>
            </a:p>
          </p:txBody>
        </p:sp>
        <p:sp>
          <p:nvSpPr>
            <p:cNvPr id="406" name="Google Shape;406;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07" name="Google Shape;407;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408" name="Google Shape;408;p16"/>
          <p:cNvGrpSpPr/>
          <p:nvPr/>
        </p:nvGrpSpPr>
        <p:grpSpPr>
          <a:xfrm>
            <a:off x="2888790" y="4597062"/>
            <a:ext cx="1030460" cy="471085"/>
            <a:chOff x="1182464" y="3950606"/>
            <a:chExt cx="1307856" cy="597900"/>
          </a:xfrm>
        </p:grpSpPr>
        <p:sp>
          <p:nvSpPr>
            <p:cNvPr id="409" name="Google Shape;409;p16"/>
            <p:cNvSpPr/>
            <p:nvPr/>
          </p:nvSpPr>
          <p:spPr>
            <a:xfrm>
              <a:off x="1269921"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Componente de Catálogo</a:t>
              </a:r>
              <a:endParaRPr b="1" sz="946">
                <a:solidFill>
                  <a:schemeClr val="dk1"/>
                </a:solidFill>
                <a:latin typeface="Poppins"/>
                <a:ea typeface="Poppins"/>
                <a:cs typeface="Poppins"/>
                <a:sym typeface="Poppins"/>
              </a:endParaRPr>
            </a:p>
          </p:txBody>
        </p:sp>
        <p:sp>
          <p:nvSpPr>
            <p:cNvPr id="410" name="Google Shape;410;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11" name="Google Shape;411;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grpSp>
        <p:nvGrpSpPr>
          <p:cNvPr id="412" name="Google Shape;412;p16"/>
          <p:cNvGrpSpPr/>
          <p:nvPr/>
        </p:nvGrpSpPr>
        <p:grpSpPr>
          <a:xfrm>
            <a:off x="2839678" y="5574419"/>
            <a:ext cx="1162726" cy="471085"/>
            <a:chOff x="1182464" y="3950606"/>
            <a:chExt cx="1261912" cy="597900"/>
          </a:xfrm>
        </p:grpSpPr>
        <p:sp>
          <p:nvSpPr>
            <p:cNvPr id="413" name="Google Shape;413;p16"/>
            <p:cNvSpPr/>
            <p:nvPr/>
          </p:nvSpPr>
          <p:spPr>
            <a:xfrm>
              <a:off x="1223976"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Motor de recomendación</a:t>
              </a:r>
              <a:endParaRPr b="1" sz="946">
                <a:solidFill>
                  <a:schemeClr val="dk1"/>
                </a:solidFill>
                <a:latin typeface="Poppins"/>
                <a:ea typeface="Poppins"/>
                <a:cs typeface="Poppins"/>
                <a:sym typeface="Poppins"/>
              </a:endParaRPr>
            </a:p>
          </p:txBody>
        </p:sp>
        <p:sp>
          <p:nvSpPr>
            <p:cNvPr id="414" name="Google Shape;414;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15" name="Google Shape;415;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416" name="Google Shape;416;p16"/>
          <p:cNvCxnSpPr>
            <a:stCxn id="417" idx="3"/>
            <a:endCxn id="376" idx="2"/>
          </p:cNvCxnSpPr>
          <p:nvPr/>
        </p:nvCxnSpPr>
        <p:spPr>
          <a:xfrm flipH="1">
            <a:off x="5500583" y="7185445"/>
            <a:ext cx="105300" cy="2509800"/>
          </a:xfrm>
          <a:prstGeom prst="bentConnector4">
            <a:avLst>
              <a:gd fmla="val -582600" name="adj1"/>
              <a:gd fmla="val 109491" name="adj2"/>
            </a:avLst>
          </a:prstGeom>
          <a:noFill/>
          <a:ln cap="flat" cmpd="sng" w="15000">
            <a:solidFill>
              <a:srgbClr val="434343"/>
            </a:solidFill>
            <a:prstDash val="dash"/>
            <a:round/>
            <a:headEnd len="med" w="med" type="none"/>
            <a:tailEnd len="med" w="med" type="triangle"/>
          </a:ln>
        </p:spPr>
      </p:cxnSp>
      <p:sp>
        <p:nvSpPr>
          <p:cNvPr id="418" name="Google Shape;418;p16"/>
          <p:cNvSpPr txBox="1"/>
          <p:nvPr/>
        </p:nvSpPr>
        <p:spPr>
          <a:xfrm>
            <a:off x="5833375" y="8112200"/>
            <a:ext cx="710700" cy="7521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s" sz="750">
                <a:highlight>
                  <a:srgbClr val="FFFFFF"/>
                </a:highlight>
                <a:latin typeface="Poppins"/>
                <a:ea typeface="Poppins"/>
                <a:cs typeface="Poppins"/>
                <a:sym typeface="Poppins"/>
              </a:rPr>
              <a:t>Realiza llamadas API a la Pasarela de Pagos usando</a:t>
            </a:r>
            <a:endParaRPr sz="750">
              <a:highlight>
                <a:srgbClr val="FFFFFF"/>
              </a:highlight>
              <a:latin typeface="Poppins"/>
              <a:ea typeface="Poppins"/>
              <a:cs typeface="Poppins"/>
              <a:sym typeface="Poppins"/>
            </a:endParaRPr>
          </a:p>
          <a:p>
            <a:pPr indent="0" lvl="0" marL="0" rtl="0" algn="ctr">
              <a:lnSpc>
                <a:spcPct val="90000"/>
              </a:lnSpc>
              <a:spcBef>
                <a:spcPts val="0"/>
              </a:spcBef>
              <a:spcAft>
                <a:spcPts val="0"/>
              </a:spcAft>
              <a:buNone/>
            </a:pPr>
            <a:r>
              <a:rPr lang="es" sz="750">
                <a:highlight>
                  <a:srgbClr val="FFFFFF"/>
                </a:highlight>
                <a:latin typeface="Poppins"/>
                <a:ea typeface="Poppins"/>
                <a:cs typeface="Poppins"/>
                <a:sym typeface="Poppins"/>
              </a:rPr>
              <a:t>[HTTPS/API de pagos]  </a:t>
            </a:r>
            <a:endParaRPr sz="750">
              <a:highlight>
                <a:srgbClr val="FFFFFF"/>
              </a:highlight>
              <a:latin typeface="Poppins"/>
              <a:ea typeface="Poppins"/>
              <a:cs typeface="Poppins"/>
              <a:sym typeface="Poppins"/>
            </a:endParaRPr>
          </a:p>
        </p:txBody>
      </p:sp>
      <p:grpSp>
        <p:nvGrpSpPr>
          <p:cNvPr id="419" name="Google Shape;419;p16"/>
          <p:cNvGrpSpPr/>
          <p:nvPr/>
        </p:nvGrpSpPr>
        <p:grpSpPr>
          <a:xfrm>
            <a:off x="1337216" y="4597056"/>
            <a:ext cx="1205059" cy="471085"/>
            <a:chOff x="1182464" y="3950606"/>
            <a:chExt cx="1307856" cy="597900"/>
          </a:xfrm>
        </p:grpSpPr>
        <p:sp>
          <p:nvSpPr>
            <p:cNvPr id="420" name="Google Shape;420;p16"/>
            <p:cNvSpPr/>
            <p:nvPr/>
          </p:nvSpPr>
          <p:spPr>
            <a:xfrm>
              <a:off x="1269921" y="3950606"/>
              <a:ext cx="1220400" cy="597900"/>
            </a:xfrm>
            <a:prstGeom prst="roundRect">
              <a:avLst>
                <a:gd fmla="val 6867" name="adj"/>
              </a:avLst>
            </a:prstGeom>
            <a:no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Reportes y Analitica</a:t>
              </a:r>
              <a:endParaRPr b="1" sz="946">
                <a:solidFill>
                  <a:schemeClr val="dk1"/>
                </a:solidFill>
                <a:latin typeface="Poppins"/>
                <a:ea typeface="Poppins"/>
                <a:cs typeface="Poppins"/>
                <a:sym typeface="Poppins"/>
              </a:endParaRPr>
            </a:p>
          </p:txBody>
        </p:sp>
        <p:sp>
          <p:nvSpPr>
            <p:cNvPr id="421" name="Google Shape;421;p16"/>
            <p:cNvSpPr/>
            <p:nvPr/>
          </p:nvSpPr>
          <p:spPr>
            <a:xfrm>
              <a:off x="1182464" y="4036075"/>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22" name="Google Shape;422;p16"/>
            <p:cNvSpPr/>
            <p:nvPr/>
          </p:nvSpPr>
          <p:spPr>
            <a:xfrm>
              <a:off x="1182464" y="4166352"/>
              <a:ext cx="172800" cy="81900"/>
            </a:xfrm>
            <a:prstGeom prst="roundRect">
              <a:avLst>
                <a:gd fmla="val 27950" name="adj"/>
              </a:avLst>
            </a:prstGeom>
            <a:solidFill>
              <a:srgbClr val="FFFFFF"/>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423" name="Google Shape;423;p16"/>
          <p:cNvCxnSpPr>
            <a:stCxn id="399" idx="2"/>
            <a:endCxn id="405" idx="0"/>
          </p:cNvCxnSpPr>
          <p:nvPr/>
        </p:nvCxnSpPr>
        <p:spPr>
          <a:xfrm flipH="1" rot="-5400000">
            <a:off x="3854789" y="3443117"/>
            <a:ext cx="695700" cy="1527300"/>
          </a:xfrm>
          <a:prstGeom prst="bentConnector3">
            <a:avLst>
              <a:gd fmla="val 49996" name="adj1"/>
            </a:avLst>
          </a:prstGeom>
          <a:noFill/>
          <a:ln cap="flat" cmpd="sng" w="15000">
            <a:solidFill>
              <a:srgbClr val="434343"/>
            </a:solidFill>
            <a:prstDash val="dash"/>
            <a:round/>
            <a:headEnd len="med" w="med" type="none"/>
            <a:tailEnd len="med" w="med" type="triangle"/>
          </a:ln>
        </p:spPr>
      </p:cxnSp>
      <p:cxnSp>
        <p:nvCxnSpPr>
          <p:cNvPr id="424" name="Google Shape;424;p16"/>
          <p:cNvCxnSpPr>
            <a:stCxn id="399" idx="2"/>
            <a:endCxn id="409" idx="0"/>
          </p:cNvCxnSpPr>
          <p:nvPr/>
        </p:nvCxnSpPr>
        <p:spPr>
          <a:xfrm rot="5400000">
            <a:off x="3069689" y="4227617"/>
            <a:ext cx="738000" cy="600"/>
          </a:xfrm>
          <a:prstGeom prst="bentConnector3">
            <a:avLst>
              <a:gd fmla="val 50010" name="adj1"/>
            </a:avLst>
          </a:prstGeom>
          <a:noFill/>
          <a:ln cap="flat" cmpd="sng" w="15000">
            <a:solidFill>
              <a:srgbClr val="434343"/>
            </a:solidFill>
            <a:prstDash val="dash"/>
            <a:round/>
            <a:headEnd len="med" w="med" type="none"/>
            <a:tailEnd len="med" w="med" type="triangle"/>
          </a:ln>
        </p:spPr>
      </p:cxnSp>
      <p:cxnSp>
        <p:nvCxnSpPr>
          <p:cNvPr id="425" name="Google Shape;425;p16"/>
          <p:cNvCxnSpPr>
            <a:stCxn id="399" idx="2"/>
            <a:endCxn id="420" idx="0"/>
          </p:cNvCxnSpPr>
          <p:nvPr/>
        </p:nvCxnSpPr>
        <p:spPr>
          <a:xfrm rot="5400000">
            <a:off x="2340539" y="3498467"/>
            <a:ext cx="738000" cy="1458900"/>
          </a:xfrm>
          <a:prstGeom prst="bentConnector3">
            <a:avLst>
              <a:gd fmla="val 50009" name="adj1"/>
            </a:avLst>
          </a:prstGeom>
          <a:noFill/>
          <a:ln cap="flat" cmpd="sng" w="15000">
            <a:solidFill>
              <a:srgbClr val="434343"/>
            </a:solidFill>
            <a:prstDash val="dash"/>
            <a:round/>
            <a:headEnd len="med" w="med" type="none"/>
            <a:tailEnd len="med" w="med" type="triangle"/>
          </a:ln>
        </p:spPr>
      </p:cxnSp>
      <p:cxnSp>
        <p:nvCxnSpPr>
          <p:cNvPr id="426" name="Google Shape;426;p16"/>
          <p:cNvCxnSpPr>
            <a:stCxn id="399" idx="3"/>
          </p:cNvCxnSpPr>
          <p:nvPr/>
        </p:nvCxnSpPr>
        <p:spPr>
          <a:xfrm>
            <a:off x="4056505" y="3623375"/>
            <a:ext cx="1404600" cy="3340500"/>
          </a:xfrm>
          <a:prstGeom prst="bentConnector2">
            <a:avLst/>
          </a:prstGeom>
          <a:noFill/>
          <a:ln cap="flat" cmpd="sng" w="15000">
            <a:solidFill>
              <a:srgbClr val="434343"/>
            </a:solidFill>
            <a:prstDash val="dash"/>
            <a:round/>
            <a:headEnd len="med" w="med" type="none"/>
            <a:tailEnd len="med" w="med" type="triangle"/>
          </a:ln>
        </p:spPr>
      </p:cxnSp>
      <p:cxnSp>
        <p:nvCxnSpPr>
          <p:cNvPr id="427" name="Google Shape;427;p16"/>
          <p:cNvCxnSpPr>
            <a:stCxn id="399" idx="1"/>
            <a:endCxn id="380" idx="1"/>
          </p:cNvCxnSpPr>
          <p:nvPr/>
        </p:nvCxnSpPr>
        <p:spPr>
          <a:xfrm>
            <a:off x="2821472" y="3623375"/>
            <a:ext cx="126300" cy="3559500"/>
          </a:xfrm>
          <a:prstGeom prst="bentConnector3">
            <a:avLst>
              <a:gd fmla="val -1217239" name="adj1"/>
            </a:avLst>
          </a:prstGeom>
          <a:noFill/>
          <a:ln cap="flat" cmpd="sng" w="15000">
            <a:solidFill>
              <a:srgbClr val="434343"/>
            </a:solidFill>
            <a:prstDash val="dash"/>
            <a:round/>
            <a:headEnd len="med" w="med" type="none"/>
            <a:tailEnd len="med" w="med" type="triangle"/>
          </a:ln>
        </p:spPr>
      </p:cxnSp>
      <p:cxnSp>
        <p:nvCxnSpPr>
          <p:cNvPr id="428" name="Google Shape;428;p16"/>
          <p:cNvCxnSpPr>
            <a:stCxn id="409" idx="2"/>
            <a:endCxn id="413" idx="0"/>
          </p:cNvCxnSpPr>
          <p:nvPr/>
        </p:nvCxnSpPr>
        <p:spPr>
          <a:xfrm flipH="1" rot="-5400000">
            <a:off x="3186173" y="5320448"/>
            <a:ext cx="506400" cy="1800"/>
          </a:xfrm>
          <a:prstGeom prst="bentConnector3">
            <a:avLst>
              <a:gd fmla="val 49987" name="adj1"/>
            </a:avLst>
          </a:prstGeom>
          <a:noFill/>
          <a:ln cap="flat" cmpd="sng" w="15000">
            <a:solidFill>
              <a:srgbClr val="434343"/>
            </a:solidFill>
            <a:prstDash val="dash"/>
            <a:round/>
            <a:headEnd len="med" w="med" type="none"/>
            <a:tailEnd len="med" w="med" type="triangle"/>
          </a:ln>
        </p:spPr>
      </p:cxnSp>
      <p:cxnSp>
        <p:nvCxnSpPr>
          <p:cNvPr id="429" name="Google Shape;429;p16"/>
          <p:cNvCxnSpPr>
            <a:stCxn id="405" idx="2"/>
            <a:endCxn id="378" idx="4"/>
          </p:cNvCxnSpPr>
          <p:nvPr/>
        </p:nvCxnSpPr>
        <p:spPr>
          <a:xfrm rot="5400000">
            <a:off x="2695271" y="6255340"/>
            <a:ext cx="3500700" cy="1041300"/>
          </a:xfrm>
          <a:prstGeom prst="bentConnector2">
            <a:avLst/>
          </a:prstGeom>
          <a:noFill/>
          <a:ln cap="flat" cmpd="sng" w="15000">
            <a:solidFill>
              <a:srgbClr val="434343"/>
            </a:solidFill>
            <a:prstDash val="dash"/>
            <a:round/>
            <a:headEnd len="med" w="med" type="none"/>
            <a:tailEnd len="med" w="med" type="triangle"/>
          </a:ln>
        </p:spPr>
      </p:cxnSp>
      <p:grpSp>
        <p:nvGrpSpPr>
          <p:cNvPr id="430" name="Google Shape;430;p16"/>
          <p:cNvGrpSpPr/>
          <p:nvPr/>
        </p:nvGrpSpPr>
        <p:grpSpPr>
          <a:xfrm>
            <a:off x="4694314" y="6949902"/>
            <a:ext cx="911569" cy="471085"/>
            <a:chOff x="1182464" y="3950600"/>
            <a:chExt cx="1156961" cy="597900"/>
          </a:xfrm>
        </p:grpSpPr>
        <p:sp>
          <p:nvSpPr>
            <p:cNvPr id="417" name="Google Shape;417;p16"/>
            <p:cNvSpPr/>
            <p:nvPr/>
          </p:nvSpPr>
          <p:spPr>
            <a:xfrm>
              <a:off x="1269925" y="3950600"/>
              <a:ext cx="1069500" cy="597900"/>
            </a:xfrm>
            <a:prstGeom prst="roundRect">
              <a:avLst>
                <a:gd fmla="val 6867" name="adj"/>
              </a:avLst>
            </a:prstGeom>
            <a:solidFill>
              <a:schemeClr val="lt1"/>
            </a:solidFill>
            <a:ln cap="flat" cmpd="sng" w="15000">
              <a:solidFill>
                <a:schemeClr val="dk1"/>
              </a:solidFill>
              <a:prstDash val="solid"/>
              <a:round/>
              <a:headEnd len="sm" w="sm" type="none"/>
              <a:tailEnd len="sm" w="sm" type="none"/>
            </a:ln>
          </p:spPr>
          <p:txBody>
            <a:bodyPr anchorCtr="0" anchor="ctr" bIns="28375" lIns="85100" spcFirstLastPara="1" rIns="28375" wrap="square" tIns="28375">
              <a:noAutofit/>
            </a:bodyPr>
            <a:lstStyle/>
            <a:p>
              <a:pPr indent="0" lvl="0" marL="0" rtl="0" algn="ctr">
                <a:lnSpc>
                  <a:spcPct val="90000"/>
                </a:lnSpc>
                <a:spcBef>
                  <a:spcPts val="0"/>
                </a:spcBef>
                <a:spcAft>
                  <a:spcPts val="0"/>
                </a:spcAft>
                <a:buNone/>
              </a:pPr>
              <a:r>
                <a:rPr b="1" lang="es" sz="946">
                  <a:solidFill>
                    <a:schemeClr val="dk1"/>
                  </a:solidFill>
                  <a:latin typeface="Poppins"/>
                  <a:ea typeface="Poppins"/>
                  <a:cs typeface="Poppins"/>
                  <a:sym typeface="Poppins"/>
                </a:rPr>
                <a:t>Gestión de pagos</a:t>
              </a:r>
              <a:endParaRPr b="1" sz="946">
                <a:solidFill>
                  <a:schemeClr val="dk1"/>
                </a:solidFill>
                <a:latin typeface="Poppins"/>
                <a:ea typeface="Poppins"/>
                <a:cs typeface="Poppins"/>
                <a:sym typeface="Poppins"/>
              </a:endParaRPr>
            </a:p>
          </p:txBody>
        </p:sp>
        <p:sp>
          <p:nvSpPr>
            <p:cNvPr id="431" name="Google Shape;431;p16"/>
            <p:cNvSpPr/>
            <p:nvPr/>
          </p:nvSpPr>
          <p:spPr>
            <a:xfrm>
              <a:off x="1182464" y="4036075"/>
              <a:ext cx="172800" cy="81900"/>
            </a:xfrm>
            <a:prstGeom prst="roundRect">
              <a:avLst>
                <a:gd fmla="val 27950" name="adj"/>
              </a:avLst>
            </a:prstGeom>
            <a:solidFill>
              <a:schemeClr val="lt1"/>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sp>
          <p:nvSpPr>
            <p:cNvPr id="432" name="Google Shape;432;p16"/>
            <p:cNvSpPr/>
            <p:nvPr/>
          </p:nvSpPr>
          <p:spPr>
            <a:xfrm>
              <a:off x="1182464" y="4166352"/>
              <a:ext cx="172800" cy="81900"/>
            </a:xfrm>
            <a:prstGeom prst="roundRect">
              <a:avLst>
                <a:gd fmla="val 27950" name="adj"/>
              </a:avLst>
            </a:prstGeom>
            <a:solidFill>
              <a:schemeClr val="lt1"/>
            </a:solidFill>
            <a:ln cap="flat" cmpd="sng" w="15000">
              <a:solidFill>
                <a:schemeClr val="dk1"/>
              </a:solidFill>
              <a:prstDash val="solid"/>
              <a:round/>
              <a:headEnd len="sm" w="sm" type="none"/>
              <a:tailEnd len="sm" w="sm" type="none"/>
            </a:ln>
          </p:spPr>
          <p:txBody>
            <a:bodyPr anchorCtr="0" anchor="ctr" bIns="28375" lIns="28375" spcFirstLastPara="1" rIns="28375" wrap="square" tIns="28375">
              <a:noAutofit/>
            </a:bodyPr>
            <a:lstStyle/>
            <a:p>
              <a:pPr indent="0" lvl="0" marL="0" rtl="0" algn="l">
                <a:lnSpc>
                  <a:spcPct val="90000"/>
                </a:lnSpc>
                <a:spcBef>
                  <a:spcPts val="158"/>
                </a:spcBef>
                <a:spcAft>
                  <a:spcPts val="0"/>
                </a:spcAft>
                <a:buNone/>
              </a:pPr>
              <a:r>
                <a:t/>
              </a:r>
              <a:endParaRPr sz="552">
                <a:solidFill>
                  <a:srgbClr val="434343"/>
                </a:solidFill>
              </a:endParaRPr>
            </a:p>
          </p:txBody>
        </p:sp>
      </p:grpSp>
      <p:cxnSp>
        <p:nvCxnSpPr>
          <p:cNvPr id="433" name="Google Shape;433;p16"/>
          <p:cNvCxnSpPr>
            <a:stCxn id="420" idx="2"/>
            <a:endCxn id="378" idx="2"/>
          </p:cNvCxnSpPr>
          <p:nvPr/>
        </p:nvCxnSpPr>
        <p:spPr>
          <a:xfrm flipH="1" rot="-5400000">
            <a:off x="792786" y="6255392"/>
            <a:ext cx="3458100" cy="1083600"/>
          </a:xfrm>
          <a:prstGeom prst="bentConnector2">
            <a:avLst/>
          </a:prstGeom>
          <a:noFill/>
          <a:ln cap="flat" cmpd="sng" w="15000">
            <a:solidFill>
              <a:srgbClr val="434343"/>
            </a:solidFill>
            <a:prstDash val="dash"/>
            <a:round/>
            <a:headEnd len="med" w="med" type="none"/>
            <a:tailEnd len="med" w="med" type="triangle"/>
          </a:ln>
        </p:spPr>
      </p:cxnSp>
      <p:sp>
        <p:nvSpPr>
          <p:cNvPr id="434" name="Google Shape;434;p16"/>
          <p:cNvSpPr txBox="1"/>
          <p:nvPr/>
        </p:nvSpPr>
        <p:spPr>
          <a:xfrm>
            <a:off x="2256150" y="8304650"/>
            <a:ext cx="5679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lee/escribe reportes</a:t>
            </a:r>
            <a:endParaRPr sz="788">
              <a:highlight>
                <a:srgbClr val="FFFFFF"/>
              </a:highlight>
              <a:latin typeface="Poppins"/>
              <a:ea typeface="Poppins"/>
              <a:cs typeface="Poppins"/>
              <a:sym typeface="Poppins"/>
            </a:endParaRPr>
          </a:p>
        </p:txBody>
      </p:sp>
      <p:sp>
        <p:nvSpPr>
          <p:cNvPr id="435" name="Google Shape;435;p16"/>
          <p:cNvSpPr/>
          <p:nvPr/>
        </p:nvSpPr>
        <p:spPr>
          <a:xfrm>
            <a:off x="2610913" y="9461526"/>
            <a:ext cx="911400" cy="753900"/>
          </a:xfrm>
          <a:prstGeom prst="can">
            <a:avLst>
              <a:gd fmla="val 25000" name="adj"/>
            </a:avLst>
          </a:prstGeom>
          <a:noFill/>
          <a:ln cap="flat" cmpd="sng" w="19050">
            <a:solidFill>
              <a:srgbClr val="1B6F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s" sz="900">
                <a:solidFill>
                  <a:srgbClr val="156CBE"/>
                </a:solidFill>
                <a:latin typeface="Poppins"/>
                <a:ea typeface="Poppins"/>
                <a:cs typeface="Poppins"/>
                <a:sym typeface="Poppins"/>
              </a:rPr>
              <a:t>STATEMENT STORE </a:t>
            </a:r>
            <a:endParaRPr b="1" sz="900">
              <a:solidFill>
                <a:srgbClr val="156CBE"/>
              </a:solidFill>
              <a:latin typeface="Poppins"/>
              <a:ea typeface="Poppins"/>
              <a:cs typeface="Poppins"/>
              <a:sym typeface="Poppins"/>
            </a:endParaRPr>
          </a:p>
          <a:p>
            <a:pPr indent="0" lvl="0" marL="0" rtl="0" algn="ctr">
              <a:lnSpc>
                <a:spcPct val="90000"/>
              </a:lnSpc>
              <a:spcBef>
                <a:spcPts val="200"/>
              </a:spcBef>
              <a:spcAft>
                <a:spcPts val="0"/>
              </a:spcAft>
              <a:buClr>
                <a:schemeClr val="dk1"/>
              </a:buClr>
              <a:buSzPts val="1100"/>
              <a:buFont typeface="Arial"/>
              <a:buNone/>
            </a:pPr>
            <a:r>
              <a:rPr lang="es" sz="550">
                <a:solidFill>
                  <a:srgbClr val="156CBE"/>
                </a:solidFill>
                <a:latin typeface="Poppins"/>
                <a:ea typeface="Poppins"/>
                <a:cs typeface="Poppins"/>
                <a:sym typeface="Poppins"/>
              </a:rPr>
              <a:t>[Container: Amazon S3]</a:t>
            </a:r>
            <a:endParaRPr sz="550">
              <a:solidFill>
                <a:srgbClr val="156CBE"/>
              </a:solidFill>
              <a:latin typeface="Poppins"/>
              <a:ea typeface="Poppins"/>
              <a:cs typeface="Poppins"/>
              <a:sym typeface="Poppins"/>
            </a:endParaRPr>
          </a:p>
        </p:txBody>
      </p:sp>
      <p:cxnSp>
        <p:nvCxnSpPr>
          <p:cNvPr id="436" name="Google Shape;436;p16"/>
          <p:cNvCxnSpPr>
            <a:stCxn id="409" idx="3"/>
            <a:endCxn id="435" idx="4"/>
          </p:cNvCxnSpPr>
          <p:nvPr/>
        </p:nvCxnSpPr>
        <p:spPr>
          <a:xfrm flipH="1">
            <a:off x="3522350" y="4832605"/>
            <a:ext cx="396900" cy="5005800"/>
          </a:xfrm>
          <a:prstGeom prst="bentConnector3">
            <a:avLst>
              <a:gd fmla="val -123576" name="adj1"/>
            </a:avLst>
          </a:prstGeom>
          <a:noFill/>
          <a:ln cap="flat" cmpd="sng" w="15000">
            <a:solidFill>
              <a:srgbClr val="434343"/>
            </a:solidFill>
            <a:prstDash val="dash"/>
            <a:round/>
            <a:headEnd len="med" w="med" type="none"/>
            <a:tailEnd len="med" w="med" type="triangle"/>
          </a:ln>
        </p:spPr>
      </p:cxnSp>
      <p:sp>
        <p:nvSpPr>
          <p:cNvPr id="437" name="Google Shape;437;p16"/>
          <p:cNvSpPr txBox="1"/>
          <p:nvPr/>
        </p:nvSpPr>
        <p:spPr>
          <a:xfrm>
            <a:off x="4164550" y="8342750"/>
            <a:ext cx="567900" cy="367200"/>
          </a:xfrm>
          <a:prstGeom prst="rect">
            <a:avLst/>
          </a:prstGeom>
          <a:solidFill>
            <a:srgbClr val="FFFFFF"/>
          </a:solidFill>
          <a:ln>
            <a:noFill/>
          </a:ln>
        </p:spPr>
        <p:txBody>
          <a:bodyPr anchorCtr="0" anchor="ctr" bIns="0" lIns="0" spcFirstLastPara="1" rIns="0" wrap="square" tIns="0">
            <a:noAutofit/>
          </a:bodyPr>
          <a:lstStyle/>
          <a:p>
            <a:pPr indent="0" lvl="0" marL="0" rtl="0" algn="ctr">
              <a:lnSpc>
                <a:spcPct val="70000"/>
              </a:lnSpc>
              <a:spcBef>
                <a:spcPts val="0"/>
              </a:spcBef>
              <a:spcAft>
                <a:spcPts val="0"/>
              </a:spcAft>
              <a:buNone/>
            </a:pPr>
            <a:r>
              <a:rPr lang="es" sz="788">
                <a:highlight>
                  <a:srgbClr val="FFFFFF"/>
                </a:highlight>
                <a:latin typeface="Poppins"/>
                <a:ea typeface="Poppins"/>
                <a:cs typeface="Poppins"/>
                <a:sym typeface="Poppins"/>
              </a:rPr>
              <a:t>lee/escribe usuarios</a:t>
            </a:r>
            <a:endParaRPr sz="788">
              <a:highlight>
                <a:srgbClr val="FFFFFF"/>
              </a:highlight>
              <a:latin typeface="Poppins"/>
              <a:ea typeface="Poppins"/>
              <a:cs typeface="Poppins"/>
              <a:sym typeface="Poppins"/>
            </a:endParaRPr>
          </a:p>
        </p:txBody>
      </p:sp>
      <p:sp>
        <p:nvSpPr>
          <p:cNvPr id="438" name="Google Shape;438;p16"/>
          <p:cNvSpPr txBox="1"/>
          <p:nvPr/>
        </p:nvSpPr>
        <p:spPr>
          <a:xfrm>
            <a:off x="3701775" y="9046063"/>
            <a:ext cx="1119600" cy="53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700">
                <a:latin typeface="Poppins"/>
                <a:ea typeface="Poppins"/>
                <a:cs typeface="Poppins"/>
                <a:sym typeface="Poppins"/>
              </a:rPr>
              <a:t>Consulta las fotos de los productos para moderación [HTTPS/API] </a:t>
            </a:r>
            <a:endParaRPr sz="7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7"/>
          <p:cNvSpPr txBox="1"/>
          <p:nvPr/>
        </p:nvSpPr>
        <p:spPr>
          <a:xfrm>
            <a:off x="1021200" y="1017250"/>
            <a:ext cx="5735700" cy="418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2.10 Código (N4)</a:t>
            </a:r>
            <a:endParaRPr sz="1100">
              <a:solidFill>
                <a:schemeClr val="dk1"/>
              </a:solidFill>
              <a:latin typeface="Poppins"/>
              <a:ea typeface="Poppins"/>
              <a:cs typeface="Poppins"/>
              <a:sym typeface="Poppins"/>
            </a:endParaRPr>
          </a:p>
        </p:txBody>
      </p:sp>
      <p:sp>
        <p:nvSpPr>
          <p:cNvPr id="444" name="Google Shape;444;p17"/>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5" name="Google Shape;445;p17"/>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6" name="Google Shape;446;p17"/>
          <p:cNvSpPr txBox="1"/>
          <p:nvPr/>
        </p:nvSpPr>
        <p:spPr>
          <a:xfrm>
            <a:off x="1020150" y="1451050"/>
            <a:ext cx="5735700" cy="104130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2.10.1 Estructura del repositorio y módulos</a:t>
            </a:r>
            <a:endParaRPr b="1" sz="1300">
              <a:solidFill>
                <a:schemeClr val="dk1"/>
              </a:solidFill>
              <a:latin typeface="Poppins"/>
              <a:ea typeface="Poppins"/>
              <a:cs typeface="Poppins"/>
              <a:sym typeface="Poppins"/>
            </a:endParaRPr>
          </a:p>
          <a:p>
            <a:pPr indent="0" lvl="0" marL="0" rtl="0" algn="just">
              <a:spcBef>
                <a:spcPts val="500"/>
              </a:spcBef>
              <a:spcAft>
                <a:spcPts val="0"/>
              </a:spcAft>
              <a:buNone/>
            </a:pPr>
            <a:r>
              <a:rPr lang="es" sz="1200">
                <a:solidFill>
                  <a:schemeClr val="dk1"/>
                </a:solidFill>
                <a:latin typeface="Poppins"/>
                <a:ea typeface="Poppins"/>
                <a:cs typeface="Poppins"/>
                <a:sym typeface="Poppins"/>
              </a:rPr>
              <a:t>El sistema se implementa en dos módulos principales alineados con el Nivel 2 (Contenedores): una SPA web en Angular como canal del cliente y un Backend en Java (Spring Boot) que centraliza la lógica de negocio e integraciones externas.</a:t>
            </a:r>
            <a:endParaRPr sz="1200">
              <a:solidFill>
                <a:schemeClr val="dk1"/>
              </a:solidFill>
              <a:latin typeface="Poppins"/>
              <a:ea typeface="Poppins"/>
              <a:cs typeface="Poppins"/>
              <a:sym typeface="Poppins"/>
            </a:endParaRPr>
          </a:p>
          <a:p>
            <a:pPr indent="0" lvl="0" marL="0" rtl="0" algn="just">
              <a:spcBef>
                <a:spcPts val="800"/>
              </a:spcBef>
              <a:spcAft>
                <a:spcPts val="0"/>
              </a:spcAft>
              <a:buNone/>
            </a:pPr>
            <a:r>
              <a:rPr b="1" lang="es" sz="1200">
                <a:solidFill>
                  <a:schemeClr val="dk1"/>
                </a:solidFill>
                <a:latin typeface="Poppins"/>
                <a:ea typeface="Poppins"/>
                <a:cs typeface="Poppins"/>
                <a:sym typeface="Poppins"/>
              </a:rPr>
              <a:t>Estructura (árbol):</a:t>
            </a:r>
            <a:endParaRPr b="1" sz="1200">
              <a:solidFill>
                <a:schemeClr val="dk1"/>
              </a:solidFill>
              <a:latin typeface="Poppins"/>
              <a:ea typeface="Poppins"/>
              <a:cs typeface="Poppins"/>
              <a:sym typeface="Poppins"/>
            </a:endParaRPr>
          </a:p>
          <a:p>
            <a:pPr indent="0" lvl="0" marL="0" rtl="0" algn="just">
              <a:spcBef>
                <a:spcPts val="300"/>
              </a:spcBef>
              <a:spcAft>
                <a:spcPts val="0"/>
              </a:spcAft>
              <a:buNone/>
            </a:pPr>
            <a:r>
              <a:rPr lang="es" sz="1200">
                <a:latin typeface="Poppins"/>
                <a:ea typeface="Poppins"/>
                <a:cs typeface="Poppins"/>
                <a:sym typeface="Poppins"/>
              </a:rPr>
              <a:t>/</a:t>
            </a:r>
            <a:r>
              <a:rPr lang="es" sz="1200">
                <a:solidFill>
                  <a:srgbClr val="C42228"/>
                </a:solidFill>
                <a:latin typeface="Poppins"/>
                <a:ea typeface="Poppins"/>
                <a:cs typeface="Poppins"/>
                <a:sym typeface="Poppins"/>
              </a:rPr>
              <a:t>frontend</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/public</a:t>
            </a:r>
            <a:endParaRPr sz="1000">
              <a:solidFill>
                <a:srgbClr val="BF9000"/>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/src</a:t>
            </a:r>
            <a:endParaRPr sz="1200">
              <a:solidFill>
                <a:schemeClr val="dk1"/>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app</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/core</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guards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/auth.guard.ts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/role.guard.spec.ts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/role.guard.ts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interceptors</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/auth.interceptor.spec.ts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/auth.interceptor.ts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models</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/auth.models.ts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services</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/auth.service.spec.ts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/auth.service.ts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testing</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/auth-testing.ts</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/features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auth</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/components/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/pages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login</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registro</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/auth.routes.ts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/auth.validators.ts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catalogoCompras</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/components/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/data/</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/models/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/pages/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/services/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/testing/</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/catalogo-compras.routes.ts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/catalogo.routes.ts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cuenta/pages/</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home/pages</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pedidos</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/models/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/pages/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/services/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perfilesInfantiles</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/models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/pages/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chemeClr val="dk1"/>
                </a:solidFill>
                <a:latin typeface="Poppins"/>
                <a:ea typeface="Poppins"/>
                <a:cs typeface="Poppins"/>
                <a:sym typeface="Poppins"/>
              </a:rPr>
              <a:t>			/services/</a:t>
            </a:r>
            <a:endParaRPr sz="1200">
              <a:solidFill>
                <a:schemeClr val="dk1"/>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recomendacion/</a:t>
            </a:r>
            <a:endParaRPr sz="1200">
              <a:solidFill>
                <a:srgbClr val="C42228"/>
              </a:solidFill>
              <a:latin typeface="Poppins"/>
              <a:ea typeface="Poppins"/>
              <a:cs typeface="Poppins"/>
              <a:sym typeface="Poppins"/>
            </a:endParaRPr>
          </a:p>
          <a:p>
            <a:pPr indent="180000" lvl="0" marL="457200" rtl="0" algn="just">
              <a:spcBef>
                <a:spcPts val="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vitrina/</a:t>
            </a:r>
            <a:endParaRPr sz="1200">
              <a:solidFill>
                <a:srgbClr val="C42228"/>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8"/>
          <p:cNvSpPr txBox="1"/>
          <p:nvPr/>
        </p:nvSpPr>
        <p:spPr>
          <a:xfrm>
            <a:off x="1021200" y="1017250"/>
            <a:ext cx="5735700" cy="418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2.10 Código (N4)</a:t>
            </a:r>
            <a:endParaRPr sz="1100">
              <a:solidFill>
                <a:schemeClr val="dk1"/>
              </a:solidFill>
              <a:latin typeface="Poppins"/>
              <a:ea typeface="Poppins"/>
              <a:cs typeface="Poppins"/>
              <a:sym typeface="Poppins"/>
            </a:endParaRPr>
          </a:p>
        </p:txBody>
      </p:sp>
      <p:sp>
        <p:nvSpPr>
          <p:cNvPr id="452" name="Google Shape;452;p18"/>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3" name="Google Shape;453;p18"/>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4" name="Google Shape;454;p18"/>
          <p:cNvSpPr txBox="1"/>
          <p:nvPr/>
        </p:nvSpPr>
        <p:spPr>
          <a:xfrm>
            <a:off x="1020150" y="1395300"/>
            <a:ext cx="5735700" cy="5390100"/>
          </a:xfrm>
          <a:prstGeom prst="rect">
            <a:avLst/>
          </a:prstGeom>
          <a:noFill/>
          <a:ln>
            <a:noFill/>
          </a:ln>
        </p:spPr>
        <p:txBody>
          <a:bodyPr anchorCtr="0" anchor="t" bIns="108000" lIns="108000" spcFirstLastPara="1" rIns="108000" wrap="square" tIns="108000">
            <a:spAutoFit/>
          </a:bodyPr>
          <a:lstStyle/>
          <a:p>
            <a:pPr indent="180000" lvl="0" marL="4572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/shared</a:t>
            </a:r>
            <a:endParaRPr sz="1200">
              <a:solidFill>
                <a:schemeClr val="dk1"/>
              </a:solidFill>
              <a:latin typeface="Poppins"/>
              <a:ea typeface="Poppins"/>
              <a:cs typeface="Poppins"/>
              <a:sym typeface="Poppins"/>
            </a:endParaRPr>
          </a:p>
          <a:p>
            <a:pPr indent="180000" lvl="0" marL="4572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components/</a:t>
            </a:r>
            <a:endParaRPr sz="1200">
              <a:solidFill>
                <a:srgbClr val="C42228"/>
              </a:solidFill>
              <a:latin typeface="Poppins"/>
              <a:ea typeface="Poppins"/>
              <a:cs typeface="Poppins"/>
              <a:sym typeface="Poppins"/>
            </a:endParaRPr>
          </a:p>
          <a:p>
            <a:pPr indent="180000" lvl="0" marL="457200" rtl="0" algn="just">
              <a:spcBef>
                <a:spcPts val="0"/>
              </a:spcBef>
              <a:spcAft>
                <a:spcPts val="0"/>
              </a:spcAft>
              <a:buClr>
                <a:schemeClr val="dk1"/>
              </a:buClr>
              <a:buSzPts val="1100"/>
              <a:buFont typeface="Arial"/>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pages/</a:t>
            </a:r>
            <a:endParaRPr sz="1200">
              <a:solidFill>
                <a:srgbClr val="C42228"/>
              </a:solidFill>
              <a:latin typeface="Poppins"/>
              <a:ea typeface="Poppins"/>
              <a:cs typeface="Poppins"/>
              <a:sym typeface="Poppins"/>
            </a:endParaRPr>
          </a:p>
          <a:p>
            <a:pPr indent="180000" lvl="0" marL="4572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/app.config.ts</a:t>
            </a:r>
            <a:endParaRPr sz="1200">
              <a:solidFill>
                <a:schemeClr val="dk1"/>
              </a:solidFill>
              <a:latin typeface="Poppins"/>
              <a:ea typeface="Poppins"/>
              <a:cs typeface="Poppins"/>
              <a:sym typeface="Poppins"/>
            </a:endParaRPr>
          </a:p>
          <a:p>
            <a:pPr indent="180000" lvl="0" marL="4572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/app.routes.ts</a:t>
            </a:r>
            <a:endParaRPr sz="1200">
              <a:solidFill>
                <a:schemeClr val="dk1"/>
              </a:solidFill>
              <a:latin typeface="Poppins"/>
              <a:ea typeface="Poppins"/>
              <a:cs typeface="Poppins"/>
              <a:sym typeface="Poppins"/>
            </a:endParaRPr>
          </a:p>
          <a:p>
            <a:pPr indent="180000" lvl="0" marL="4572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/app.spec.ts</a:t>
            </a:r>
            <a:endParaRPr sz="1200">
              <a:solidFill>
                <a:schemeClr val="dk1"/>
              </a:solidFill>
              <a:latin typeface="Poppins"/>
              <a:ea typeface="Poppins"/>
              <a:cs typeface="Poppins"/>
              <a:sym typeface="Poppins"/>
            </a:endParaRPr>
          </a:p>
          <a:p>
            <a:pPr indent="180000" lvl="0" marL="45720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/app.ts</a:t>
            </a:r>
            <a:endParaRPr sz="1200">
              <a:solidFill>
                <a:srgbClr val="C42228"/>
              </a:solidFill>
              <a:latin typeface="Poppins"/>
              <a:ea typeface="Poppins"/>
              <a:cs typeface="Poppins"/>
              <a:sym typeface="Poppins"/>
            </a:endParaRPr>
          </a:p>
          <a:p>
            <a:pPr indent="180000" lvl="0" marL="0" rtl="0" algn="just">
              <a:spcBef>
                <a:spcPts val="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environments/</a:t>
            </a:r>
            <a:endParaRPr sz="1200">
              <a:solidFill>
                <a:srgbClr val="C42228"/>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styles/</a:t>
            </a:r>
            <a:endParaRPr sz="1200">
              <a:solidFill>
                <a:srgbClr val="C42228"/>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index.html</a:t>
            </a:r>
            <a:endParaRPr sz="1200">
              <a:solidFill>
                <a:srgbClr val="C42228"/>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main.ts</a:t>
            </a:r>
            <a:endParaRPr sz="1200">
              <a:solidFill>
                <a:srgbClr val="C42228"/>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styles.scss</a:t>
            </a:r>
            <a:endParaRPr sz="1200">
              <a:solidFill>
                <a:srgbClr val="C42228"/>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test-setup.ts</a:t>
            </a:r>
            <a:endParaRPr sz="1200">
              <a:solidFill>
                <a:srgbClr val="C42228"/>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/.dockerignore</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/.editorconfig</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/.gitignore</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/.prettierrc</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/Caddyfile</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/Dockerfile</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/README.md</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/angular.json</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/package-lock.json</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/package.json</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/proxy.conf.json</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/tsconfig.app.json</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/tsconfig.json</a:t>
            </a:r>
            <a:endParaRPr sz="1200">
              <a:solidFill>
                <a:schemeClr val="dk1"/>
              </a:solidFill>
              <a:latin typeface="Poppins"/>
              <a:ea typeface="Poppins"/>
              <a:cs typeface="Poppins"/>
              <a:sym typeface="Poppins"/>
            </a:endParaRPr>
          </a:p>
          <a:p>
            <a:pPr indent="18000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/tsconfig.spec.json</a:t>
            </a:r>
            <a:endParaRPr sz="1200">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sz="1200">
              <a:solidFill>
                <a:schemeClr val="dk1"/>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19"/>
          <p:cNvSpPr txBox="1"/>
          <p:nvPr/>
        </p:nvSpPr>
        <p:spPr>
          <a:xfrm>
            <a:off x="1021200" y="1017250"/>
            <a:ext cx="5735700" cy="4182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2.10 Código (N4)</a:t>
            </a:r>
            <a:endParaRPr sz="1100">
              <a:solidFill>
                <a:schemeClr val="dk1"/>
              </a:solidFill>
              <a:latin typeface="Poppins"/>
              <a:ea typeface="Poppins"/>
              <a:cs typeface="Poppins"/>
              <a:sym typeface="Poppins"/>
            </a:endParaRPr>
          </a:p>
        </p:txBody>
      </p:sp>
      <p:sp>
        <p:nvSpPr>
          <p:cNvPr id="460" name="Google Shape;460;p19"/>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1" name="Google Shape;461;p19"/>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2" name="Google Shape;462;p19"/>
          <p:cNvSpPr txBox="1"/>
          <p:nvPr/>
        </p:nvSpPr>
        <p:spPr>
          <a:xfrm>
            <a:off x="1020150" y="1395300"/>
            <a:ext cx="5735700" cy="103002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200">
                <a:solidFill>
                  <a:schemeClr val="dk1"/>
                </a:solidFill>
                <a:latin typeface="Poppins"/>
                <a:ea typeface="Poppins"/>
                <a:cs typeface="Poppins"/>
                <a:sym typeface="Poppins"/>
              </a:rPr>
              <a:t>Estructura (árbol):</a:t>
            </a:r>
            <a:endParaRPr b="1" sz="1200">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backend</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rtl="0" algn="just">
              <a:spcBef>
                <a:spcPts val="500"/>
              </a:spcBef>
              <a:spcAft>
                <a:spcPts val="0"/>
              </a:spcAft>
              <a:buClr>
                <a:schemeClr val="dk1"/>
              </a:buClr>
              <a:buSzPts val="1100"/>
              <a:buFont typeface="Arial"/>
              <a:buNone/>
            </a:pPr>
            <a:r>
              <a:rPr lang="es" sz="1200">
                <a:solidFill>
                  <a:schemeClr val="dk1"/>
                </a:solidFill>
                <a:latin typeface="Poppins"/>
                <a:ea typeface="Poppins"/>
                <a:cs typeface="Poppins"/>
                <a:sym typeface="Poppins"/>
              </a:rPr>
              <a:t>/.mvn/</a:t>
            </a:r>
            <a:endParaRPr sz="1200">
              <a:solidFill>
                <a:schemeClr val="dk1"/>
              </a:solidFill>
              <a:latin typeface="Poppins"/>
              <a:ea typeface="Poppins"/>
              <a:cs typeface="Poppins"/>
              <a:sym typeface="Poppins"/>
            </a:endParaRPr>
          </a:p>
          <a:p>
            <a:pPr indent="180000" lvl="0" marL="0" rtl="0" algn="just">
              <a:spcBef>
                <a:spcPts val="500"/>
              </a:spcBef>
              <a:spcAft>
                <a:spcPts val="0"/>
              </a:spcAft>
              <a:buClr>
                <a:schemeClr val="dk1"/>
              </a:buClr>
              <a:buSzPts val="1100"/>
              <a:buFont typeface="Arial"/>
              <a:buNone/>
            </a:pPr>
            <a:r>
              <a:rPr lang="es" sz="1200">
                <a:solidFill>
                  <a:schemeClr val="dk1"/>
                </a:solidFill>
                <a:latin typeface="Poppins"/>
                <a:ea typeface="Poppins"/>
                <a:cs typeface="Poppins"/>
                <a:sym typeface="Poppins"/>
              </a:rPr>
              <a:t>/DocumentosArq/</a:t>
            </a:r>
            <a:endParaRPr sz="1200">
              <a:solidFill>
                <a:schemeClr val="dk1"/>
              </a:solidFill>
              <a:latin typeface="Poppins"/>
              <a:ea typeface="Poppins"/>
              <a:cs typeface="Poppins"/>
              <a:sym typeface="Poppins"/>
            </a:endParaRPr>
          </a:p>
          <a:p>
            <a:pPr indent="180000" lvl="0" marL="0" rtl="0" algn="just">
              <a:spcBef>
                <a:spcPts val="500"/>
              </a:spcBef>
              <a:spcAft>
                <a:spcPts val="0"/>
              </a:spcAft>
              <a:buClr>
                <a:schemeClr val="dk1"/>
              </a:buClr>
              <a:buSzPts val="1100"/>
              <a:buFont typeface="Arial"/>
              <a:buNone/>
            </a:pPr>
            <a:r>
              <a:rPr lang="es" sz="1200">
                <a:solidFill>
                  <a:schemeClr val="dk1"/>
                </a:solidFill>
                <a:latin typeface="Poppins"/>
                <a:ea typeface="Poppins"/>
                <a:cs typeface="Poppins"/>
                <a:sym typeface="Poppins"/>
              </a:rPr>
              <a:t>/deploy/</a:t>
            </a:r>
            <a:endParaRPr sz="1200">
              <a:solidFill>
                <a:schemeClr val="dk1"/>
              </a:solidFill>
              <a:latin typeface="Poppins"/>
              <a:ea typeface="Poppins"/>
              <a:cs typeface="Poppins"/>
              <a:sym typeface="Poppins"/>
            </a:endParaRPr>
          </a:p>
          <a:p>
            <a:pPr indent="180000" lvl="0" marL="0" rtl="0" algn="just">
              <a:spcBef>
                <a:spcPts val="500"/>
              </a:spcBef>
              <a:spcAft>
                <a:spcPts val="0"/>
              </a:spcAft>
              <a:buClr>
                <a:schemeClr val="dk1"/>
              </a:buClr>
              <a:buSzPts val="1100"/>
              <a:buFont typeface="Arial"/>
              <a:buNone/>
            </a:pPr>
            <a:r>
              <a:rPr lang="es" sz="1200">
                <a:solidFill>
                  <a:schemeClr val="dk1"/>
                </a:solidFill>
                <a:latin typeface="Poppins"/>
                <a:ea typeface="Poppins"/>
                <a:cs typeface="Poppins"/>
                <a:sym typeface="Poppins"/>
              </a:rPr>
              <a:t>/docs/</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src</a:t>
            </a:r>
            <a:r>
              <a:rPr lang="es" sz="1200">
                <a:solidFill>
                  <a:schemeClr val="dk1"/>
                </a:solidFill>
                <a:latin typeface="Poppins"/>
                <a:ea typeface="Poppins"/>
                <a:cs typeface="Poppins"/>
                <a:sym typeface="Poppins"/>
              </a:rPr>
              <a:t>/main/</a:t>
            </a:r>
            <a:r>
              <a:rPr lang="es" sz="1200">
                <a:solidFill>
                  <a:srgbClr val="C42228"/>
                </a:solidFill>
                <a:latin typeface="Poppins"/>
                <a:ea typeface="Poppins"/>
                <a:cs typeface="Poppins"/>
                <a:sym typeface="Poppins"/>
              </a:rPr>
              <a:t>java</a:t>
            </a:r>
            <a:r>
              <a:rPr lang="es" sz="1200">
                <a:solidFill>
                  <a:schemeClr val="dk1"/>
                </a:solidFill>
                <a:latin typeface="Poppins"/>
                <a:ea typeface="Poppins"/>
                <a:cs typeface="Poppins"/>
                <a:sym typeface="Poppins"/>
              </a:rPr>
              <a:t>/co/</a:t>
            </a:r>
            <a:r>
              <a:rPr lang="es" sz="1200">
                <a:solidFill>
                  <a:srgbClr val="C42228"/>
                </a:solidFill>
                <a:latin typeface="Poppins"/>
                <a:ea typeface="Poppins"/>
                <a:cs typeface="Poppins"/>
                <a:sym typeface="Poppins"/>
              </a:rPr>
              <a:t>edu</a:t>
            </a:r>
            <a:r>
              <a:rPr lang="es" sz="1200">
                <a:solidFill>
                  <a:schemeClr val="dk1"/>
                </a:solidFill>
                <a:latin typeface="Poppins"/>
                <a:ea typeface="Poppins"/>
                <a:cs typeface="Poppins"/>
                <a:sym typeface="Poppins"/>
              </a:rPr>
              <a:t>/uniquindio/</a:t>
            </a:r>
            <a:r>
              <a:rPr lang="es" sz="1200">
                <a:solidFill>
                  <a:srgbClr val="C42228"/>
                </a:solidFill>
                <a:latin typeface="Poppins"/>
                <a:ea typeface="Poppins"/>
                <a:cs typeface="Poppins"/>
                <a:sym typeface="Poppins"/>
              </a:rPr>
              <a:t>littlestyle</a:t>
            </a:r>
            <a:endParaRPr sz="1200">
              <a:solidFill>
                <a:srgbClr val="C42228"/>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/config/</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/modules</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a:t>
            </a:r>
            <a:r>
              <a:rPr lang="es" sz="1200">
                <a:solidFill>
                  <a:srgbClr val="C42228"/>
                </a:solidFill>
                <a:latin typeface="Poppins"/>
                <a:ea typeface="Poppins"/>
                <a:cs typeface="Poppins"/>
                <a:sym typeface="Poppins"/>
              </a:rPr>
              <a:t>admin</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controller</a:t>
            </a:r>
            <a:r>
              <a:rPr lang="es"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auth</a:t>
            </a:r>
            <a:endParaRPr sz="1200">
              <a:solidFill>
                <a:srgbClr val="C42228"/>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/controller/</a:t>
            </a:r>
            <a:endParaRPr sz="1200">
              <a:solidFill>
                <a:schemeClr val="dk1"/>
              </a:solidFill>
              <a:latin typeface="Poppins"/>
              <a:ea typeface="Poppins"/>
              <a:cs typeface="Poppins"/>
              <a:sym typeface="Poppins"/>
            </a:endParaRPr>
          </a:p>
          <a:p>
            <a:pPr indent="0" lvl="0" marL="137160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/dto/</a:t>
            </a:r>
            <a:endParaRPr sz="1200">
              <a:solidFill>
                <a:schemeClr val="dk1"/>
              </a:solidFill>
              <a:latin typeface="Poppins"/>
              <a:ea typeface="Poppins"/>
              <a:cs typeface="Poppins"/>
              <a:sym typeface="Poppins"/>
            </a:endParaRPr>
          </a:p>
          <a:p>
            <a:pPr indent="0" lvl="0" marL="137160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/model/</a:t>
            </a:r>
            <a:endParaRPr sz="1200">
              <a:solidFill>
                <a:schemeClr val="dk1"/>
              </a:solidFill>
              <a:latin typeface="Poppins"/>
              <a:ea typeface="Poppins"/>
              <a:cs typeface="Poppins"/>
              <a:sym typeface="Poppins"/>
            </a:endParaRPr>
          </a:p>
          <a:p>
            <a:pPr indent="0" lvl="0" marL="137160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/repository/</a:t>
            </a:r>
            <a:endParaRPr sz="1200">
              <a:solidFill>
                <a:schemeClr val="dk1"/>
              </a:solidFill>
              <a:latin typeface="Poppins"/>
              <a:ea typeface="Poppins"/>
              <a:cs typeface="Poppins"/>
              <a:sym typeface="Poppins"/>
            </a:endParaRPr>
          </a:p>
          <a:p>
            <a:pPr indent="0" lvl="0" marL="137160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/service/</a:t>
            </a:r>
            <a:r>
              <a:rPr lang="es" sz="1200">
                <a:solidFill>
                  <a:srgbClr val="C42228"/>
                </a:solidFill>
                <a:latin typeface="Poppins"/>
                <a:ea typeface="Poppins"/>
                <a:cs typeface="Poppins"/>
                <a:sym typeface="Poppins"/>
              </a:rPr>
              <a:t>	</a:t>
            </a:r>
            <a:endParaRPr sz="1200">
              <a:solidFill>
                <a:srgbClr val="C42228"/>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catalogocompras</a:t>
            </a:r>
            <a:endParaRPr sz="1200">
              <a:solidFill>
                <a:srgbClr val="C42228"/>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/carrito/</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/catalogo/</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/checkout/</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/inventario/</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/pago/</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/recomendacion/</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rgbClr val="C42228"/>
                </a:solidFill>
                <a:latin typeface="Poppins"/>
                <a:ea typeface="Poppins"/>
                <a:cs typeface="Poppins"/>
                <a:sym typeface="Poppins"/>
              </a:rPr>
              <a:t>		</a:t>
            </a: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perfilesinfantiles/</a:t>
            </a:r>
            <a:endParaRPr sz="1200">
              <a:solidFill>
                <a:srgbClr val="C42228"/>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/shared/</a:t>
            </a:r>
            <a:endParaRPr sz="1200">
              <a:solidFill>
                <a:schemeClr val="dk1"/>
              </a:solidFill>
              <a:latin typeface="Poppins"/>
              <a:ea typeface="Poppins"/>
              <a:cs typeface="Poppins"/>
              <a:sym typeface="Poppins"/>
            </a:endParaRPr>
          </a:p>
          <a:p>
            <a:pPr indent="180000" lvl="0" marL="0" marR="0" rtl="0" algn="just">
              <a:lnSpc>
                <a:spcPct val="100000"/>
              </a:lnSpc>
              <a:spcBef>
                <a:spcPts val="500"/>
              </a:spcBef>
              <a:spcAft>
                <a:spcPts val="0"/>
              </a:spcAft>
              <a:buNone/>
            </a:pPr>
            <a:r>
              <a:rPr lang="es" sz="1200">
                <a:solidFill>
                  <a:schemeClr val="dk1"/>
                </a:solidFill>
                <a:latin typeface="Poppins"/>
                <a:ea typeface="Poppins"/>
                <a:cs typeface="Poppins"/>
                <a:sym typeface="Poppins"/>
              </a:rPr>
              <a:t>	/LittleStyleApplication.java</a:t>
            </a:r>
            <a:endParaRPr sz="1200">
              <a:solidFill>
                <a:schemeClr val="dk1"/>
              </a:solidFill>
              <a:latin typeface="Poppins"/>
              <a:ea typeface="Poppins"/>
              <a:cs typeface="Poppins"/>
              <a:sym typeface="Poppins"/>
            </a:endParaRPr>
          </a:p>
          <a:p>
            <a:pPr indent="180000" lvl="0" marL="0" rtl="0" algn="just">
              <a:spcBef>
                <a:spcPts val="50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src</a:t>
            </a:r>
            <a:r>
              <a:rPr lang="es" sz="1200">
                <a:solidFill>
                  <a:schemeClr val="dk1"/>
                </a:solidFill>
                <a:latin typeface="Poppins"/>
                <a:ea typeface="Poppins"/>
                <a:cs typeface="Poppins"/>
                <a:sym typeface="Poppins"/>
              </a:rPr>
              <a:t>/main/</a:t>
            </a:r>
            <a:r>
              <a:rPr lang="es" sz="1200">
                <a:solidFill>
                  <a:srgbClr val="C42228"/>
                </a:solidFill>
                <a:latin typeface="Poppins"/>
                <a:ea typeface="Poppins"/>
                <a:cs typeface="Poppins"/>
                <a:sym typeface="Poppins"/>
              </a:rPr>
              <a:t>resources/</a:t>
            </a:r>
            <a:endParaRPr sz="1200">
              <a:solidFill>
                <a:srgbClr val="C42228"/>
              </a:solidFill>
              <a:latin typeface="Poppins"/>
              <a:ea typeface="Poppins"/>
              <a:cs typeface="Poppins"/>
              <a:sym typeface="Poppins"/>
            </a:endParaRPr>
          </a:p>
          <a:p>
            <a:pPr indent="180000" lvl="0" marL="0" rtl="0" algn="just">
              <a:spcBef>
                <a:spcPts val="50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src</a:t>
            </a:r>
            <a:r>
              <a:rPr lang="es" sz="1200">
                <a:solidFill>
                  <a:schemeClr val="dk1"/>
                </a:solidFill>
                <a:latin typeface="Poppins"/>
                <a:ea typeface="Poppins"/>
                <a:cs typeface="Poppins"/>
                <a:sym typeface="Poppins"/>
              </a:rPr>
              <a:t>/test/</a:t>
            </a:r>
            <a:r>
              <a:rPr lang="es" sz="1200">
                <a:solidFill>
                  <a:srgbClr val="C42228"/>
                </a:solidFill>
                <a:latin typeface="Poppins"/>
                <a:ea typeface="Poppins"/>
                <a:cs typeface="Poppins"/>
                <a:sym typeface="Poppins"/>
              </a:rPr>
              <a:t>java</a:t>
            </a:r>
            <a:r>
              <a:rPr lang="es" sz="1200">
                <a:solidFill>
                  <a:schemeClr val="dk1"/>
                </a:solidFill>
                <a:latin typeface="Poppins"/>
                <a:ea typeface="Poppins"/>
                <a:cs typeface="Poppins"/>
                <a:sym typeface="Poppins"/>
              </a:rPr>
              <a:t>/co/</a:t>
            </a:r>
            <a:r>
              <a:rPr lang="es" sz="1200">
                <a:solidFill>
                  <a:srgbClr val="C42228"/>
                </a:solidFill>
                <a:latin typeface="Poppins"/>
                <a:ea typeface="Poppins"/>
                <a:cs typeface="Poppins"/>
                <a:sym typeface="Poppins"/>
              </a:rPr>
              <a:t>edu</a:t>
            </a:r>
            <a:r>
              <a:rPr lang="es" sz="1200">
                <a:solidFill>
                  <a:schemeClr val="dk1"/>
                </a:solidFill>
                <a:latin typeface="Poppins"/>
                <a:ea typeface="Poppins"/>
                <a:cs typeface="Poppins"/>
                <a:sym typeface="Poppins"/>
              </a:rPr>
              <a:t>/uniquindio/</a:t>
            </a:r>
            <a:r>
              <a:rPr lang="es" sz="1200">
                <a:solidFill>
                  <a:srgbClr val="C42228"/>
                </a:solidFill>
                <a:latin typeface="Poppins"/>
                <a:ea typeface="Poppins"/>
                <a:cs typeface="Poppins"/>
                <a:sym typeface="Poppins"/>
              </a:rPr>
              <a:t>littlestyle</a:t>
            </a:r>
            <a:endParaRPr sz="1200">
              <a:solidFill>
                <a:srgbClr val="C42228"/>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/config/</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/modules/</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/shared/correo/</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/LittleStyleApplicationTests.java</a:t>
            </a:r>
            <a:endParaRPr sz="1200">
              <a:solidFill>
                <a:schemeClr val="dk1"/>
              </a:solidFill>
              <a:latin typeface="Poppins"/>
              <a:ea typeface="Poppins"/>
              <a:cs typeface="Poppins"/>
              <a:sym typeface="Poppins"/>
            </a:endParaRPr>
          </a:p>
          <a:p>
            <a:pPr indent="180000" lvl="0" marL="0" rtl="0" algn="just">
              <a:spcBef>
                <a:spcPts val="500"/>
              </a:spcBef>
              <a:spcAft>
                <a:spcPts val="0"/>
              </a:spcAft>
              <a:buNone/>
            </a:pPr>
            <a:r>
              <a:rPr lang="es" sz="1200">
                <a:solidFill>
                  <a:schemeClr val="dk1"/>
                </a:solidFill>
                <a:latin typeface="Poppins"/>
                <a:ea typeface="Poppins"/>
                <a:cs typeface="Poppins"/>
                <a:sym typeface="Poppins"/>
              </a:rPr>
              <a:t>/</a:t>
            </a:r>
            <a:r>
              <a:rPr lang="es" sz="1200">
                <a:solidFill>
                  <a:srgbClr val="C42228"/>
                </a:solidFill>
                <a:latin typeface="Poppins"/>
                <a:ea typeface="Poppins"/>
                <a:cs typeface="Poppins"/>
                <a:sym typeface="Poppins"/>
              </a:rPr>
              <a:t>src</a:t>
            </a:r>
            <a:r>
              <a:rPr lang="es" sz="1200">
                <a:solidFill>
                  <a:schemeClr val="dk1"/>
                </a:solidFill>
                <a:latin typeface="Poppins"/>
                <a:ea typeface="Poppins"/>
                <a:cs typeface="Poppins"/>
                <a:sym typeface="Poppins"/>
              </a:rPr>
              <a:t>/test/</a:t>
            </a:r>
            <a:r>
              <a:rPr lang="es" sz="1200">
                <a:solidFill>
                  <a:srgbClr val="C42228"/>
                </a:solidFill>
                <a:latin typeface="Poppins"/>
                <a:ea typeface="Poppins"/>
                <a:cs typeface="Poppins"/>
                <a:sym typeface="Poppins"/>
              </a:rPr>
              <a:t>resources/</a:t>
            </a:r>
            <a:endParaRPr sz="1200">
              <a:solidFill>
                <a:srgbClr val="C42228"/>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/.dockerignore</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/.env.example</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/.gitattributes</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/.gitignore</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/Dockerfile</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/Jenkinsfile</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/README.md</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/docker-compose.local.yml</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/docker-compose.yml</a:t>
            </a:r>
            <a:endParaRPr sz="1200">
              <a:solidFill>
                <a:schemeClr val="dk1"/>
              </a:solidFill>
              <a:latin typeface="Poppins"/>
              <a:ea typeface="Poppins"/>
              <a:cs typeface="Poppins"/>
              <a:sym typeface="Poppins"/>
            </a:endParaRPr>
          </a:p>
          <a:p>
            <a:pPr indent="0" lvl="0" marL="0" rtl="0" algn="just">
              <a:spcBef>
                <a:spcPts val="0"/>
              </a:spcBef>
              <a:spcAft>
                <a:spcPts val="0"/>
              </a:spcAft>
              <a:buClr>
                <a:schemeClr val="dk1"/>
              </a:buClr>
              <a:buSzPts val="1100"/>
              <a:buFont typeface="Arial"/>
              <a:buNone/>
            </a:pPr>
            <a:r>
              <a:rPr lang="es" sz="1200">
                <a:solidFill>
                  <a:schemeClr val="dk1"/>
                </a:solidFill>
                <a:latin typeface="Poppins"/>
                <a:ea typeface="Poppins"/>
                <a:cs typeface="Poppins"/>
                <a:sym typeface="Poppins"/>
              </a:rPr>
              <a:t>    /mvnw</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/mvnw.cmd</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lang="es" sz="1200">
                <a:solidFill>
                  <a:schemeClr val="dk1"/>
                </a:solidFill>
                <a:latin typeface="Poppins"/>
                <a:ea typeface="Poppins"/>
                <a:cs typeface="Poppins"/>
                <a:sym typeface="Poppins"/>
              </a:rPr>
              <a:t>    /pom.xml</a:t>
            </a:r>
            <a:endParaRPr sz="1200">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0"/>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a:t>
            </a:r>
            <a:r>
              <a:rPr b="1" lang="es">
                <a:solidFill>
                  <a:schemeClr val="dk1"/>
                </a:solidFill>
                <a:latin typeface="Poppins"/>
                <a:ea typeface="Poppins"/>
                <a:cs typeface="Poppins"/>
                <a:sym typeface="Poppins"/>
              </a:rPr>
              <a:t>. </a:t>
            </a:r>
            <a:r>
              <a:rPr b="1" lang="es">
                <a:solidFill>
                  <a:schemeClr val="dk1"/>
                </a:solidFill>
                <a:latin typeface="Poppins"/>
                <a:ea typeface="Poppins"/>
                <a:cs typeface="Poppins"/>
                <a:sym typeface="Poppins"/>
              </a:rPr>
              <a:t>D</a:t>
            </a:r>
            <a:r>
              <a:rPr b="1" lang="es">
                <a:solidFill>
                  <a:schemeClr val="dk1"/>
                </a:solidFill>
                <a:latin typeface="Poppins"/>
                <a:ea typeface="Poppins"/>
                <a:cs typeface="Poppins"/>
                <a:sym typeface="Poppins"/>
              </a:rPr>
              <a:t>ECISIONES DE ARQUITECTURA</a:t>
            </a:r>
            <a:r>
              <a:rPr b="1" lang="es">
                <a:solidFill>
                  <a:schemeClr val="dk1"/>
                </a:solidFill>
                <a:latin typeface="Poppins"/>
                <a:ea typeface="Poppins"/>
                <a:cs typeface="Poppins"/>
                <a:sym typeface="Poppins"/>
              </a:rPr>
              <a:t> (ADRs)</a:t>
            </a:r>
            <a:endParaRPr sz="1200">
              <a:solidFill>
                <a:schemeClr val="dk1"/>
              </a:solidFill>
              <a:latin typeface="Poppins"/>
              <a:ea typeface="Poppins"/>
              <a:cs typeface="Poppins"/>
              <a:sym typeface="Poppins"/>
            </a:endParaRPr>
          </a:p>
        </p:txBody>
      </p:sp>
      <p:sp>
        <p:nvSpPr>
          <p:cNvPr id="468" name="Google Shape;468;p20"/>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9" name="Google Shape;469;p20"/>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0" name="Google Shape;470;p20"/>
          <p:cNvSpPr txBox="1"/>
          <p:nvPr/>
        </p:nvSpPr>
        <p:spPr>
          <a:xfrm>
            <a:off x="1020150" y="1451050"/>
            <a:ext cx="5735700" cy="3525000"/>
          </a:xfrm>
          <a:prstGeom prst="rect">
            <a:avLst/>
          </a:prstGeom>
          <a:noFill/>
          <a:ln>
            <a:noFill/>
          </a:ln>
        </p:spPr>
        <p:txBody>
          <a:bodyPr anchorCtr="0" anchor="ctr" bIns="108000" lIns="108000" spcFirstLastPara="1" rIns="108000" wrap="square" tIns="108000">
            <a:no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ADR-01: Canal de usuario mediante aplicación web frontend en Angular</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Desarrollar la interfaz cliente/usuario como una Single Page Application (SPA).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Los tres usuarios del sistema (Clientes, Vendedores y Administradores) requieren acceder desde exploradores web para gestionar perfiles infantiles, catálogo, inventario, pedidos y dashboards.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Aplicación web tradicional con renderizado en servidor.</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Permite un marco de trabajo completo con tipado fuerte, inyección de dependencias y manejo de formularios reactivos.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requiere configurar el enrutamiento del lado del cliente, implementar Guards para restringir vistas según el rol y manejar interceptores HTTP para adjuntar el token JWT.</a:t>
            </a:r>
            <a:endParaRPr sz="1200">
              <a:solidFill>
                <a:schemeClr val="dk1"/>
              </a:solidFill>
              <a:latin typeface="Poppins"/>
              <a:ea typeface="Poppins"/>
              <a:cs typeface="Poppins"/>
              <a:sym typeface="Poppins"/>
            </a:endParaRPr>
          </a:p>
        </p:txBody>
      </p:sp>
      <p:sp>
        <p:nvSpPr>
          <p:cNvPr id="471" name="Google Shape;471;p20"/>
          <p:cNvSpPr txBox="1"/>
          <p:nvPr/>
        </p:nvSpPr>
        <p:spPr>
          <a:xfrm>
            <a:off x="1021200" y="4981325"/>
            <a:ext cx="5735700" cy="29709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ADR-02: </a:t>
            </a:r>
            <a:r>
              <a:rPr b="1" lang="es" sz="1300">
                <a:solidFill>
                  <a:schemeClr val="dk1"/>
                </a:solidFill>
                <a:latin typeface="Poppins"/>
                <a:ea typeface="Poppins"/>
                <a:cs typeface="Poppins"/>
                <a:sym typeface="Poppins"/>
              </a:rPr>
              <a:t>Backend estructurado en una arquitectura Monolítica Modular con Spring Boot</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Construir el backend central como una aplicación de Monolito Modular utilizando Java con Spring Boot.</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Se requiere una API REST que gestione la lógica de negocio dividida en módulos bien definidos.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Arquitectura en capas.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El monolito modular permite mantener la lógica organizada por paquetes/módulos independientes con límites claros, facilitando el desarrollo y despliegue unificado.</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a:t>
            </a:r>
            <a:r>
              <a:rPr lang="es" sz="1200">
                <a:solidFill>
                  <a:schemeClr val="dk1"/>
                </a:solidFill>
                <a:latin typeface="Poppins"/>
                <a:ea typeface="Poppins"/>
                <a:cs typeface="Poppins"/>
                <a:sym typeface="Poppins"/>
              </a:rPr>
              <a:t>Se debe mantener una rigurosa separación de dependencias entre módulos dentro del proyecto Java para evitar un alto acoplamiento.</a:t>
            </a:r>
            <a:endParaRPr sz="1200">
              <a:solidFill>
                <a:schemeClr val="dk1"/>
              </a:solidFill>
              <a:latin typeface="Poppins"/>
              <a:ea typeface="Poppins"/>
              <a:cs typeface="Poppins"/>
              <a:sym typeface="Poppins"/>
            </a:endParaRPr>
          </a:p>
        </p:txBody>
      </p:sp>
      <p:sp>
        <p:nvSpPr>
          <p:cNvPr id="472" name="Google Shape;472;p20"/>
          <p:cNvSpPr txBox="1"/>
          <p:nvPr/>
        </p:nvSpPr>
        <p:spPr>
          <a:xfrm>
            <a:off x="1021200" y="7957500"/>
            <a:ext cx="5735700" cy="35250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ADR-03: Gestión de dependencias y ciclo de vida del proyecto con Apache Maven</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Adoptar </a:t>
            </a:r>
            <a:r>
              <a:rPr i="1" lang="es" sz="1200">
                <a:solidFill>
                  <a:schemeClr val="dk1"/>
                </a:solidFill>
                <a:latin typeface="Poppins"/>
                <a:ea typeface="Poppins"/>
                <a:cs typeface="Poppins"/>
                <a:sym typeface="Poppins"/>
              </a:rPr>
              <a:t>Apache Maven</a:t>
            </a:r>
            <a:r>
              <a:rPr lang="es" sz="1200">
                <a:solidFill>
                  <a:schemeClr val="dk1"/>
                </a:solidFill>
                <a:latin typeface="Poppins"/>
                <a:ea typeface="Poppins"/>
                <a:cs typeface="Poppins"/>
                <a:sym typeface="Poppins"/>
              </a:rPr>
              <a:t> como herramienta de gestión de dependencias y automatización del proceso de compilación (build)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backend requiere integrar múltiples módulos y librerías de Spring (Spring Security, Spring Data JPA, Spring Mail) e integraciones externnas de forma automatizada y estructurada.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Gradle.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Maven proporciona una estructura de proyecto estandarizada, una gestión clara mediante el archivo </a:t>
            </a:r>
            <a:r>
              <a:rPr i="1" lang="es" sz="1200">
                <a:solidFill>
                  <a:schemeClr val="dk1"/>
                </a:solidFill>
                <a:latin typeface="Poppins"/>
                <a:ea typeface="Poppins"/>
                <a:cs typeface="Poppins"/>
                <a:sym typeface="Poppins"/>
              </a:rPr>
              <a:t>pom.xml</a:t>
            </a:r>
            <a:r>
              <a:rPr lang="es" sz="1200">
                <a:solidFill>
                  <a:schemeClr val="dk1"/>
                </a:solidFill>
                <a:latin typeface="Poppins"/>
                <a:ea typeface="Poppins"/>
                <a:cs typeface="Poppins"/>
                <a:sym typeface="Poppins"/>
              </a:rPr>
              <a:t> y una amplia compatibilidad con entornos de integración y despliegue continuo (CI/CD).</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debe mantener una correcta gestión de las versiones de dependencias en el archivo pom.xml para prevenir conflictos de transitividad.</a:t>
            </a:r>
            <a:endParaRPr sz="1200">
              <a:solidFill>
                <a:schemeClr val="dk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1"/>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478" name="Google Shape;478;p21"/>
          <p:cNvSpPr/>
          <p:nvPr/>
        </p:nvSpPr>
        <p:spPr>
          <a:xfrm>
            <a:off x="5342992" y="11719276"/>
            <a:ext cx="192300" cy="166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9" name="Google Shape;479;p21"/>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0" name="Google Shape;480;p21"/>
          <p:cNvSpPr txBox="1"/>
          <p:nvPr/>
        </p:nvSpPr>
        <p:spPr>
          <a:xfrm>
            <a:off x="1020150" y="1451050"/>
            <a:ext cx="5735700" cy="31554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ADR-04: </a:t>
            </a:r>
            <a:r>
              <a:rPr b="1" lang="es" sz="1300">
                <a:solidFill>
                  <a:schemeClr val="dk1"/>
                </a:solidFill>
                <a:latin typeface="Poppins"/>
                <a:ea typeface="Poppins"/>
                <a:cs typeface="Poppins"/>
                <a:sym typeface="Poppins"/>
              </a:rPr>
              <a:t>Autenticación y Autorización basada en JSON Web Tokens (JWT)</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Implementar un mecanismo de seguridad sin estado (</a:t>
            </a:r>
            <a:r>
              <a:rPr i="1" lang="es" sz="1200">
                <a:solidFill>
                  <a:schemeClr val="dk1"/>
                </a:solidFill>
                <a:latin typeface="Poppins"/>
                <a:ea typeface="Poppins"/>
                <a:cs typeface="Poppins"/>
                <a:sym typeface="Poppins"/>
              </a:rPr>
              <a:t>stateless) </a:t>
            </a:r>
            <a:r>
              <a:rPr lang="es" sz="1200">
                <a:solidFill>
                  <a:schemeClr val="dk1"/>
                </a:solidFill>
                <a:latin typeface="Poppins"/>
                <a:ea typeface="Poppins"/>
                <a:cs typeface="Poppins"/>
                <a:sym typeface="Poppins"/>
              </a:rPr>
              <a:t>mediante tokens JWT integrados con Spring Security.</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API REST del backend debe autenticar solicitudes HTTP y validar el rol del usuario de manera segura y eficiente.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Protocolo OAuth2/OpenID Connect</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Al ser una API consumida por una SPA en Angular, JWT evita guardar estado de sesión en el servidor, permitiendo validar permisos mediante la firma digital en cada petición sin realizar consultas continuas a la base de datos.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No es posible revocar un token JWT emitido antes de su tiempo de expiración a menos de que se implemente una lista negra en caché/memoria.</a:t>
            </a:r>
            <a:endParaRPr sz="1200">
              <a:solidFill>
                <a:schemeClr val="dk1"/>
              </a:solidFill>
              <a:latin typeface="Poppins"/>
              <a:ea typeface="Poppins"/>
              <a:cs typeface="Poppins"/>
              <a:sym typeface="Poppins"/>
            </a:endParaRPr>
          </a:p>
        </p:txBody>
      </p:sp>
      <p:sp>
        <p:nvSpPr>
          <p:cNvPr id="481" name="Google Shape;481;p21"/>
          <p:cNvSpPr txBox="1"/>
          <p:nvPr/>
        </p:nvSpPr>
        <p:spPr>
          <a:xfrm>
            <a:off x="1020150" y="4606450"/>
            <a:ext cx="5735700" cy="25860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ADR-05: Persistencia de datos relacional con MySQL</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 Utilizar MySQL como motor de base de datos relacional.</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plataforma debe almacenar información estructurada con relaciones complejas e integridad transaccional.</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PostgreSQL.</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MySQL ofrece un rendimiento óptimo en transacciones ACID. </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 </a:t>
            </a:r>
            <a:r>
              <a:rPr lang="es" sz="1200">
                <a:solidFill>
                  <a:schemeClr val="dk1"/>
                </a:solidFill>
                <a:latin typeface="Poppins"/>
                <a:ea typeface="Poppins"/>
                <a:cs typeface="Poppins"/>
                <a:sym typeface="Poppins"/>
              </a:rPr>
              <a:t>Se requiere un diseño eficiente del esquema relacional, con índices </a:t>
            </a:r>
            <a:r>
              <a:rPr lang="es" sz="1200">
                <a:solidFill>
                  <a:schemeClr val="dk1"/>
                </a:solidFill>
                <a:latin typeface="Poppins"/>
                <a:ea typeface="Poppins"/>
                <a:cs typeface="Poppins"/>
                <a:sym typeface="Poppins"/>
              </a:rPr>
              <a:t>adecuados</a:t>
            </a:r>
            <a:r>
              <a:rPr lang="es" sz="1200">
                <a:solidFill>
                  <a:schemeClr val="dk1"/>
                </a:solidFill>
                <a:latin typeface="Poppins"/>
                <a:ea typeface="Poppins"/>
                <a:cs typeface="Poppins"/>
                <a:sym typeface="Poppins"/>
              </a:rPr>
              <a:t> para garantizar tiempos de respuesta rápidos en las </a:t>
            </a:r>
            <a:r>
              <a:rPr lang="es" sz="1200">
                <a:solidFill>
                  <a:schemeClr val="dk1"/>
                </a:solidFill>
                <a:latin typeface="Poppins"/>
                <a:ea typeface="Poppins"/>
                <a:cs typeface="Poppins"/>
                <a:sym typeface="Poppins"/>
              </a:rPr>
              <a:t> en las consultas.</a:t>
            </a:r>
            <a:endParaRPr sz="1200">
              <a:solidFill>
                <a:schemeClr val="dk1"/>
              </a:solidFill>
              <a:latin typeface="Poppins"/>
              <a:ea typeface="Poppins"/>
              <a:cs typeface="Poppins"/>
              <a:sym typeface="Poppins"/>
            </a:endParaRPr>
          </a:p>
        </p:txBody>
      </p:sp>
      <p:sp>
        <p:nvSpPr>
          <p:cNvPr id="482" name="Google Shape;482;p21"/>
          <p:cNvSpPr txBox="1"/>
          <p:nvPr/>
        </p:nvSpPr>
        <p:spPr>
          <a:xfrm>
            <a:off x="1021725" y="7377250"/>
            <a:ext cx="5735700" cy="40791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ADR-06: Integración con Pasarela de Pagos Wompi y recepción de eventos mediante Webhook</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Delegar la recepción y procesamiento de pagos con tarjetas/PSE a la pasarela Wompi, sincronizando el estado de las transacciones mediante un endpoint Webhook en el backend.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Los usuarios deben pagar sus pedidos dentro del flujo de compra y la plataforma debe actualizar automáticamente el estado del pedido.</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Verificación manual o por consulta periódica. </a:t>
            </a:r>
            <a:r>
              <a:rPr lang="es" sz="1200">
                <a:solidFill>
                  <a:schemeClr val="dk1"/>
                </a:solidFill>
                <a:latin typeface="Poppins"/>
                <a:ea typeface="Poppins"/>
                <a:cs typeface="Poppins"/>
                <a:sym typeface="Poppins"/>
              </a:rPr>
              <a:t>Procesamiento directo de datos de tarjeta en el backend (se requiere certificación PCI-DSS)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Wompi abstra el cumplimiento de PCI-DSS para el manejo de tarjetas. La arquitectura orientada a Webhooks permite que Wompi notifique en tiempo real al backend cuando un pago es aprobado, garantizando la actualización automática de pedidos e inventario.</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El backend debe validar la firma de seguridad del Webhook para evitar peticiones maliciosas y controlar la re-notificación de eventos duplicados.</a:t>
            </a:r>
            <a:endParaRPr sz="1200">
              <a:solidFill>
                <a:schemeClr val="dk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2"/>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488" name="Google Shape;488;p22"/>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9" name="Google Shape;489;p22"/>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0" name="Google Shape;490;p22"/>
          <p:cNvSpPr txBox="1"/>
          <p:nvPr/>
        </p:nvSpPr>
        <p:spPr>
          <a:xfrm>
            <a:off x="1020150" y="1451050"/>
            <a:ext cx="5735700" cy="37098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ADR-07: Notificaciones transaccionales vía correo electrónico con Servicio Gmail (SMTP)</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Integrar el módulo de notificaciones transaccionales del backend con el Servicio de correo de Gmail mediante protocolo SMTP.</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sistema debe notificar por correo electrónico a los Clientes sobre la confirmación de compras y el envío del paquete con su número de guía, asi como emitir alertas de stock bajo a los Vendedores.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Amazon SES, SendGrid, Mailgun.</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Facilita la configuración y pruebas de desarrollo sin incurrir en costos iniciales de servicios transaccionales dedicados, permitiendo enviar plantillas de correo automatizadas desde Spring Boot.</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deben gestionar contraseñas de aplicación o credenciales de forma segura (variables de entorno) y tener en cuenta los límites diarios de envío del servicio de Gmail.</a:t>
            </a:r>
            <a:endParaRPr sz="1200">
              <a:solidFill>
                <a:schemeClr val="dk1"/>
              </a:solidFill>
              <a:latin typeface="Poppins"/>
              <a:ea typeface="Poppins"/>
              <a:cs typeface="Poppins"/>
              <a:sym typeface="Poppins"/>
            </a:endParaRPr>
          </a:p>
        </p:txBody>
      </p:sp>
      <p:sp>
        <p:nvSpPr>
          <p:cNvPr id="491" name="Google Shape;491;p22"/>
          <p:cNvSpPr txBox="1"/>
          <p:nvPr/>
        </p:nvSpPr>
        <p:spPr>
          <a:xfrm>
            <a:off x="1021200" y="5160850"/>
            <a:ext cx="5735700" cy="35250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ADR-08: Acceso a datos mediante Mapeo Objeto-Relacional con Spring Data JPA / Hibernate</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Utilizar Spring DATA JPA (con Hibernate como proveedor ORM) para la capa de accesos a datos del backend.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backend necesita </a:t>
            </a:r>
            <a:r>
              <a:rPr lang="es" sz="1200">
                <a:solidFill>
                  <a:schemeClr val="dk1"/>
                </a:solidFill>
                <a:latin typeface="Poppins"/>
                <a:ea typeface="Poppins"/>
                <a:cs typeface="Poppins"/>
                <a:sym typeface="Poppins"/>
              </a:rPr>
              <a:t>interactuar</a:t>
            </a:r>
            <a:r>
              <a:rPr lang="es" sz="1200">
                <a:solidFill>
                  <a:schemeClr val="dk1"/>
                </a:solidFill>
                <a:latin typeface="Poppins"/>
                <a:ea typeface="Poppins"/>
                <a:cs typeface="Poppins"/>
                <a:sym typeface="Poppins"/>
              </a:rPr>
              <a:t> con MySQL para realizar operaciones CRUD y consultas complejas de manera segura y abstracta.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JDBC Template puro, SQL nativo en repositorios. MyBatis.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Reduce el código repetitivo, automatiza el mapeo de tablas a entidades Java, previene vulnerabilidad de Inyección SQL y proporciona soporte nativo para paginación y ordenamiento.</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debe supervisar el rendimiento de las consultas y configurar adecuadamente la carga perezosa para evitar problemas de rendimiento.</a:t>
            </a:r>
            <a:endParaRPr sz="1200">
              <a:solidFill>
                <a:schemeClr val="dk1"/>
              </a:solidFill>
              <a:latin typeface="Poppins"/>
              <a:ea typeface="Poppins"/>
              <a:cs typeface="Poppins"/>
              <a:sym typeface="Poppins"/>
            </a:endParaRPr>
          </a:p>
        </p:txBody>
      </p:sp>
      <p:sp>
        <p:nvSpPr>
          <p:cNvPr id="492" name="Google Shape;492;p22"/>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3"/>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498" name="Google Shape;498;p23"/>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9" name="Google Shape;499;p23"/>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00" name="Google Shape;500;p23"/>
          <p:cNvSpPr txBox="1"/>
          <p:nvPr/>
        </p:nvSpPr>
        <p:spPr>
          <a:xfrm>
            <a:off x="1020150" y="1451050"/>
            <a:ext cx="5735700" cy="40791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ADR-09: Amazon Web Services (AWS) como Plataforma de Despliegue</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Seleccionar Amazon Web Services (AWS) como el proveedor principal de infraestructura en la nube para el alojamiento, despliegue y gestión de recursos del sistema LittleStyle.</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plataforma requiere una infraestructura en la nube altamente disponible, segura y escalable para alojar la base de datos y ejecutar las instancias del backend y frontend.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Microsoft Azure, Google Cloud Platform.</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AWS ofrece integración nativa de diferentes servicios simplificando la configuración de despliegue automatizado desde jenkins. Además cuenta con alta disponibilidad global y herramientas de gestión de identidad muy robustas.</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debe configurar AWS IAM para gestionar roles y permisos de forma segura, definir variables de entorno protegidas dentro de los pipelines de CI/CD para evitar la exposición de credenciales.</a:t>
            </a:r>
            <a:endParaRPr sz="1200">
              <a:solidFill>
                <a:schemeClr val="dk1"/>
              </a:solidFill>
              <a:latin typeface="Poppins"/>
              <a:ea typeface="Poppins"/>
              <a:cs typeface="Poppins"/>
              <a:sym typeface="Poppins"/>
            </a:endParaRPr>
          </a:p>
        </p:txBody>
      </p:sp>
      <p:sp>
        <p:nvSpPr>
          <p:cNvPr id="501" name="Google Shape;501;p23"/>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
        <p:nvSpPr>
          <p:cNvPr id="502" name="Google Shape;502;p23"/>
          <p:cNvSpPr txBox="1"/>
          <p:nvPr/>
        </p:nvSpPr>
        <p:spPr>
          <a:xfrm>
            <a:off x="1020250" y="5530150"/>
            <a:ext cx="5735700" cy="42639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ADR-10: Almacenamiento multimedia externo en Amazon S3 y referencia mediante URLs en Base de Datos.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Seleccionar Amazon S3 como la plataforma de almacenamiento de objetos externos para alojar las imágenes del catálogo, guardando exclusivamente las direcciones URL en la base de datos.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plataforma requiere almacenar y servir archivos multimedia de forma rápida sin sobrecargar el motor relacional de base de datos ni saturar el servidor de aplicaciones backend con el envío de archivos estáticos.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Cloudflare R2, Backblaze B2. </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Amazon S3 se integra de forma nativa con la infraestructura principal alojada en AWS. Delega la descarga directa de imágenes desde S3 hacia el cliente en Angular optimizando el uso del ancho de banda del backend en Spring Boot.</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El backend en Spring Boot debe incluir el SDK de AWS para procesar la subida, validación y borrado de imágenes. Se deben configurar políticas de lectura pública en el bucket S3 para servir los archivos directamente sobre HTTPS.</a:t>
            </a:r>
            <a:endParaRPr sz="1200">
              <a:solidFill>
                <a:schemeClr val="dk1"/>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4"/>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508" name="Google Shape;508;p24"/>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09" name="Google Shape;509;p24"/>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10" name="Google Shape;510;p24"/>
          <p:cNvSpPr txBox="1"/>
          <p:nvPr/>
        </p:nvSpPr>
        <p:spPr>
          <a:xfrm>
            <a:off x="1020150" y="1451050"/>
            <a:ext cx="5735700" cy="35250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ADR-11:  Selección de JasperReports para la </a:t>
            </a:r>
            <a:r>
              <a:rPr b="1" lang="es" sz="1300">
                <a:solidFill>
                  <a:schemeClr val="dk1"/>
                </a:solidFill>
                <a:latin typeface="Poppins"/>
                <a:ea typeface="Poppins"/>
                <a:cs typeface="Poppins"/>
                <a:sym typeface="Poppins"/>
              </a:rPr>
              <a:t>generación</a:t>
            </a:r>
            <a:r>
              <a:rPr b="1" lang="es" sz="1300">
                <a:solidFill>
                  <a:schemeClr val="dk1"/>
                </a:solidFill>
                <a:latin typeface="Poppins"/>
                <a:ea typeface="Poppins"/>
                <a:cs typeface="Poppins"/>
                <a:sym typeface="Poppins"/>
              </a:rPr>
              <a:t> y Exportación de Reportes en PDF</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a:t>
            </a:r>
            <a:r>
              <a:rPr lang="es" sz="1200">
                <a:solidFill>
                  <a:schemeClr val="dk1"/>
                </a:solidFill>
                <a:latin typeface="Poppins"/>
                <a:ea typeface="Poppins"/>
                <a:cs typeface="Poppins"/>
                <a:sym typeface="Poppins"/>
              </a:rPr>
              <a:t> Adopción de JasperReports Engine integrado en el backend como motor centralizado para el diseño, compilación y generación de reportes analíticos y operativos exportables en formato PDF.</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Los vendedores y administradores requieren exportar consolidados de ventas, métricas de inventario, demandas por talla y productos más buscados en un formato impreso y ejecutivo en PDF.</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iText, Apache PDFBox.</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 Permite maquetar la estructura en plantillas evitando la contaminación del código fuente con coordenadas o píxeles y se conecta de forma nativa con colecciones de DTOs y repositorios de Spring Data JPA.</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Registro de dependencias.</a:t>
            </a:r>
            <a:endParaRPr sz="1200">
              <a:solidFill>
                <a:schemeClr val="dk1"/>
              </a:solidFill>
              <a:latin typeface="Poppins"/>
              <a:ea typeface="Poppins"/>
              <a:cs typeface="Poppins"/>
              <a:sym typeface="Poppins"/>
            </a:endParaRPr>
          </a:p>
        </p:txBody>
      </p:sp>
      <p:sp>
        <p:nvSpPr>
          <p:cNvPr id="511" name="Google Shape;511;p24"/>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
        <p:nvSpPr>
          <p:cNvPr id="512" name="Google Shape;512;p24"/>
          <p:cNvSpPr txBox="1"/>
          <p:nvPr/>
        </p:nvSpPr>
        <p:spPr>
          <a:xfrm>
            <a:off x="1020150" y="4976050"/>
            <a:ext cx="5735700" cy="3894300"/>
          </a:xfrm>
          <a:prstGeom prst="rect">
            <a:avLst/>
          </a:prstGeom>
          <a:noFill/>
          <a:ln>
            <a:noFill/>
          </a:ln>
        </p:spPr>
        <p:txBody>
          <a:bodyPr anchorCtr="0" anchor="t" bIns="108000" lIns="108000" spcFirstLastPara="1" rIns="108000" wrap="square" tIns="108000">
            <a:spAutoFit/>
          </a:bodyPr>
          <a:lstStyle/>
          <a:p>
            <a:pPr indent="0" lvl="0" marL="0" rtl="0" algn="just">
              <a:spcBef>
                <a:spcPts val="800"/>
              </a:spcBef>
              <a:spcAft>
                <a:spcPts val="0"/>
              </a:spcAft>
              <a:buNone/>
            </a:pPr>
            <a:r>
              <a:rPr b="1" lang="es" sz="1300">
                <a:solidFill>
                  <a:schemeClr val="dk1"/>
                </a:solidFill>
                <a:latin typeface="Poppins"/>
                <a:ea typeface="Poppins"/>
                <a:cs typeface="Poppins"/>
                <a:sym typeface="Poppins"/>
              </a:rPr>
              <a:t>ADR-12: Patrón de Diseño Strategy para el Motor de Recomendaciones de Tallas y Filtrado de Sensibilidad Textil</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a:t>
            </a:r>
            <a:r>
              <a:rPr lang="es" sz="1200">
                <a:solidFill>
                  <a:schemeClr val="dk1"/>
                </a:solidFill>
                <a:latin typeface="Poppins"/>
                <a:ea typeface="Poppins"/>
                <a:cs typeface="Poppins"/>
                <a:sym typeface="Poppins"/>
              </a:rPr>
              <a:t> Implementar el patrón de diseño Strategy en la capa de servicio del backend para desacoplar las reglas de cálculo biométrico de tallas y los algoritmos de filtrado/exclusión de telas por alergias sensibles.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proceso de negocio uno requiere evaluar las medidas de los niños cruzadas con las tablas del fabricante, así como aplicar restricciones por alergias textiles. Estas reglas pueden variar según la categoría del producto o la marca.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Condiciones complejas como if-else o switch centralizadas en una sola clase de servicio.</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 Permite encapsular cada algoritmo de recomendación y regla de filtrado en clases independientes que implementan una interfaz común. Esto facilita la adición o modificación de algoritmos sin alterar el código existente.</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Aumenta ligeramente la cantidad de clases pero elimina el acoplamiento y previene errores de regresión.</a:t>
            </a:r>
            <a:endParaRPr sz="1200">
              <a:solidFill>
                <a:schemeClr val="dk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25"/>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518" name="Google Shape;518;p25"/>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19" name="Google Shape;519;p25"/>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0" name="Google Shape;520;p25"/>
          <p:cNvSpPr txBox="1"/>
          <p:nvPr/>
        </p:nvSpPr>
        <p:spPr>
          <a:xfrm>
            <a:off x="1020150" y="5160850"/>
            <a:ext cx="5735700" cy="4263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ADR-14: Patrón Observer / Event-Driven para la Confirmación de Transacciones y Notificaciones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a:t>
            </a:r>
            <a:r>
              <a:rPr lang="es" sz="1200">
                <a:solidFill>
                  <a:schemeClr val="dk1"/>
                </a:solidFill>
                <a:latin typeface="Poppins"/>
                <a:ea typeface="Poppins"/>
                <a:cs typeface="Poppins"/>
                <a:sym typeface="Poppins"/>
              </a:rPr>
              <a:t> Utilizar el patrón Observer para procesar de forma asíncrona y desacoplada las acciones derivadas de la aprobación de una compra.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Cuando la pasarela Wompi confirma un pago mediante un Webhook, el sistema debe ejecutar múltiples acciones consecutivas: actualizar el estado del pedido, descontar el stock del vendedor, generar la notificación por correo electrónico y registrar la auditoría administrativa.</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 </a:t>
            </a:r>
            <a:r>
              <a:rPr lang="es" sz="1200">
                <a:solidFill>
                  <a:schemeClr val="dk1"/>
                </a:solidFill>
                <a:latin typeface="Poppins"/>
                <a:ea typeface="Poppins"/>
                <a:cs typeface="Poppins"/>
                <a:sym typeface="Poppins"/>
              </a:rPr>
              <a:t>Ejecución procedimental secuencial dentro del controlador del Webhook de pagos.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a:t>
            </a:r>
            <a:r>
              <a:rPr lang="es" sz="1200">
                <a:solidFill>
                  <a:schemeClr val="dk1"/>
                </a:solidFill>
                <a:latin typeface="Poppins"/>
                <a:ea typeface="Poppins"/>
                <a:cs typeface="Poppins"/>
                <a:sym typeface="Poppins"/>
              </a:rPr>
              <a:t> Desacopla la recepción del Webhoo de las tareas secundarias. Si el servicio de correo presenta lentitud, no </a:t>
            </a:r>
            <a:r>
              <a:rPr lang="es" sz="1200">
                <a:solidFill>
                  <a:schemeClr val="dk1"/>
                </a:solidFill>
                <a:latin typeface="Poppins"/>
                <a:ea typeface="Poppins"/>
                <a:cs typeface="Poppins"/>
                <a:sym typeface="Poppins"/>
              </a:rPr>
              <a:t>afectará</a:t>
            </a:r>
            <a:r>
              <a:rPr lang="es" sz="1200">
                <a:solidFill>
                  <a:schemeClr val="dk1"/>
                </a:solidFill>
                <a:latin typeface="Poppins"/>
                <a:ea typeface="Poppins"/>
                <a:cs typeface="Poppins"/>
                <a:sym typeface="Poppins"/>
              </a:rPr>
              <a:t> la confirmación del pago ni la actualización inmediata del inventario. Además, mantiene la resiliencia y la tolerancia a fallos del sistema.</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Requiere gestionar transacciones de base de datos asíncronas y manejar políticas de reintento en listeners que fallen.</a:t>
            </a:r>
            <a:endParaRPr sz="1200">
              <a:solidFill>
                <a:schemeClr val="dk1"/>
              </a:solidFill>
              <a:latin typeface="Poppins"/>
              <a:ea typeface="Poppins"/>
              <a:cs typeface="Poppins"/>
              <a:sym typeface="Poppins"/>
            </a:endParaRPr>
          </a:p>
        </p:txBody>
      </p:sp>
      <p:sp>
        <p:nvSpPr>
          <p:cNvPr id="521" name="Google Shape;521;p25"/>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
        <p:nvSpPr>
          <p:cNvPr id="522" name="Google Shape;522;p25"/>
          <p:cNvSpPr txBox="1"/>
          <p:nvPr/>
        </p:nvSpPr>
        <p:spPr>
          <a:xfrm>
            <a:off x="1021200" y="1451050"/>
            <a:ext cx="5735700" cy="3709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ADR-13: Patrón Data Transfer Object (DTO) para el Desacoplamiento entre Entidades de Dominio y la API REST</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Adoptar el patrón DTO en la totalidad de las comunicaciones entre el frontend y los controladores REST del backend.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La base de datos gestiona entidades complejas con relaciones ORM. exponer estas entidades directamente a la API REST genera riesgos de seguridad y cuellos de botella por serialización. </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Serialización y exposición directa de las entidades JPA anotadas con @Entity hacia el frontend.</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a:t>
            </a:r>
            <a:r>
              <a:rPr lang="es" sz="1200">
                <a:solidFill>
                  <a:schemeClr val="dk1"/>
                </a:solidFill>
                <a:latin typeface="Poppins"/>
                <a:ea typeface="Poppins"/>
                <a:cs typeface="Poppins"/>
                <a:sym typeface="Poppins"/>
              </a:rPr>
              <a:t> Oculta campos sensibles de la base de datos garantizando el cumplimineto de Habeas Data. Mantiene la compatibilidad estandarizada de contratos JSON entre Angular y Spring Boot.</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Se requiere implementar mapeadores para convertir  entre DTOs y Entidades de JPA.</a:t>
            </a:r>
            <a:endParaRPr sz="1200">
              <a:solidFill>
                <a:schemeClr val="dk1"/>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6"/>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528" name="Google Shape;528;p26"/>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9" name="Google Shape;529;p26"/>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30" name="Google Shape;530;p26"/>
          <p:cNvSpPr txBox="1"/>
          <p:nvPr/>
        </p:nvSpPr>
        <p:spPr>
          <a:xfrm>
            <a:off x="1021200" y="5714950"/>
            <a:ext cx="5735700" cy="38943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ADR-16: Patrón Factory Method para el Módulo de Generación y Exportación de Reportes Analíticos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 Aplicar el patrón Factory Method para la creación dinámica de generadores de documentos en el módulo de administración.</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proceso de negocio tres hace que administradores y vendedores puedan exportar los reportes en formatos estructurados. </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Estructuras condicionales dentro de los servicios web para formatear manualmente las respuestas en cada formato.</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 Centraliza la lógica de instanciación del exportador correctamente según el parámetro solicitado en la petición de la API. Además, cumple ciertos principios SOLID facilitando la incorporación futura de nuevos formatos sin alterar los controladores de reporte.</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 </a:t>
            </a:r>
            <a:r>
              <a:rPr lang="es" sz="1200">
                <a:solidFill>
                  <a:schemeClr val="dk1"/>
                </a:solidFill>
                <a:latin typeface="Poppins"/>
                <a:ea typeface="Poppins"/>
                <a:cs typeface="Poppins"/>
                <a:sym typeface="Poppins"/>
              </a:rPr>
              <a:t> Requiere definir una interfaz común que estandarice la construcción del archivo descargable.</a:t>
            </a:r>
            <a:r>
              <a:rPr lang="es" sz="1200">
                <a:solidFill>
                  <a:schemeClr val="dk1"/>
                </a:solidFill>
                <a:latin typeface="Poppins"/>
                <a:ea typeface="Poppins"/>
                <a:cs typeface="Poppins"/>
                <a:sym typeface="Poppins"/>
              </a:rPr>
              <a:t> </a:t>
            </a:r>
            <a:endParaRPr sz="1200">
              <a:solidFill>
                <a:schemeClr val="dk1"/>
              </a:solidFill>
              <a:latin typeface="Poppins"/>
              <a:ea typeface="Poppins"/>
              <a:cs typeface="Poppins"/>
              <a:sym typeface="Poppins"/>
            </a:endParaRPr>
          </a:p>
        </p:txBody>
      </p:sp>
      <p:sp>
        <p:nvSpPr>
          <p:cNvPr id="531" name="Google Shape;531;p26"/>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
        <p:nvSpPr>
          <p:cNvPr id="532" name="Google Shape;532;p26"/>
          <p:cNvSpPr txBox="1"/>
          <p:nvPr/>
        </p:nvSpPr>
        <p:spPr>
          <a:xfrm>
            <a:off x="1021200" y="1451050"/>
            <a:ext cx="5735700" cy="42639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ADR-15: Patrón Facade para la Coordinación del Proceso de Checkout y Creación de Pedidos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a:t>
            </a:r>
            <a:r>
              <a:rPr lang="es" sz="1200">
                <a:solidFill>
                  <a:schemeClr val="dk1"/>
                </a:solidFill>
                <a:latin typeface="Poppins"/>
                <a:ea typeface="Poppins"/>
                <a:cs typeface="Poppins"/>
                <a:sym typeface="Poppins"/>
              </a:rPr>
              <a:t> Implementar un servicio facade en el módulo de catálogo y compras que organice la interacción entre los submódulos de perfiles, inventario, catálogo, pasarela de pago y pedidos.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El flujo de compra involucra validar la disponibilidad de productos en inventario, consultar restricciones del perfil infantil activo, liquidar subtotales, costo de envío y comunicarse con la pasarela de pagos.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Permitir que los controladores HTTP consuman e interconectan directamente múltiples repositorios y servicios de diferentes módulos.</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a:t>
            </a:r>
            <a:r>
              <a:rPr lang="es" sz="1200">
                <a:solidFill>
                  <a:schemeClr val="dk1"/>
                </a:solidFill>
                <a:latin typeface="Poppins"/>
                <a:ea typeface="Poppins"/>
                <a:cs typeface="Poppins"/>
                <a:sym typeface="Poppins"/>
              </a:rPr>
              <a:t> Ofrece una interfaz simplificada y unificada para el controlador de checkout. Oculta la complejidad de la interacción entre subsistemas y mantiene la separación estricta de responsabilidades en la arquitectura monolítica modular.</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La clase Facade debe mantenerse cohesionada para no volverse una clase con exceso de responsabilidad (God Object).</a:t>
            </a:r>
            <a:endParaRPr sz="1200">
              <a:solidFill>
                <a:schemeClr val="dk1"/>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27"/>
          <p:cNvSpPr txBox="1"/>
          <p:nvPr/>
        </p:nvSpPr>
        <p:spPr>
          <a:xfrm>
            <a:off x="1021200" y="1017250"/>
            <a:ext cx="5735700" cy="4338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3. DECISIONES DE ARQUITECTURA (ADRs)</a:t>
            </a:r>
            <a:endParaRPr sz="1200">
              <a:solidFill>
                <a:schemeClr val="dk1"/>
              </a:solidFill>
              <a:latin typeface="Poppins"/>
              <a:ea typeface="Poppins"/>
              <a:cs typeface="Poppins"/>
              <a:sym typeface="Poppins"/>
            </a:endParaRPr>
          </a:p>
        </p:txBody>
      </p:sp>
      <p:sp>
        <p:nvSpPr>
          <p:cNvPr id="538" name="Google Shape;538;p27"/>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39" name="Google Shape;539;p27"/>
          <p:cNvSpPr/>
          <p:nvPr/>
        </p:nvSpPr>
        <p:spPr>
          <a:xfrm>
            <a:off x="2147117" y="11097597"/>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0" name="Google Shape;540;p27"/>
          <p:cNvSpPr txBox="1"/>
          <p:nvPr/>
        </p:nvSpPr>
        <p:spPr>
          <a:xfrm>
            <a:off x="1020150" y="1451050"/>
            <a:ext cx="5735700" cy="35250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sz="1300">
                <a:solidFill>
                  <a:schemeClr val="dk1"/>
                </a:solidFill>
                <a:latin typeface="Poppins"/>
                <a:ea typeface="Poppins"/>
                <a:cs typeface="Poppins"/>
                <a:sym typeface="Poppins"/>
              </a:rPr>
              <a:t>ADR-17: Patrón Interceptor / Chain of Responsability para la Seguridad y Manejo de Peticiones</a:t>
            </a:r>
            <a:endParaRPr b="1" sz="13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Decisión: </a:t>
            </a:r>
            <a:r>
              <a:rPr lang="es" sz="1200">
                <a:solidFill>
                  <a:schemeClr val="dk1"/>
                </a:solidFill>
                <a:latin typeface="Poppins"/>
                <a:ea typeface="Poppins"/>
                <a:cs typeface="Poppins"/>
                <a:sym typeface="Poppins"/>
              </a:rPr>
              <a:t> Implementar el patrón Chain of Responsability mediante la cadena de filtros de Spring Security en el backend y HTTP Interceptors en Angular.</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Contexto:</a:t>
            </a:r>
            <a:r>
              <a:rPr lang="es" sz="1200">
                <a:solidFill>
                  <a:schemeClr val="dk1"/>
                </a:solidFill>
                <a:latin typeface="Poppins"/>
                <a:ea typeface="Poppins"/>
                <a:cs typeface="Poppins"/>
                <a:sym typeface="Poppins"/>
              </a:rPr>
              <a:t> Cada petición recibida por la API debe ser interceptada para validar el token JWT, verificar los permisos del rol y sanitizar las entradas contra </a:t>
            </a:r>
            <a:r>
              <a:rPr lang="es" sz="1200">
                <a:solidFill>
                  <a:schemeClr val="dk1"/>
                </a:solidFill>
                <a:latin typeface="Poppins"/>
                <a:ea typeface="Poppins"/>
                <a:cs typeface="Poppins"/>
                <a:sym typeface="Poppins"/>
              </a:rPr>
              <a:t>inyecciones</a:t>
            </a:r>
            <a:r>
              <a:rPr lang="es" sz="1200">
                <a:solidFill>
                  <a:schemeClr val="dk1"/>
                </a:solidFill>
                <a:latin typeface="Poppins"/>
                <a:ea typeface="Poppins"/>
                <a:cs typeface="Poppins"/>
                <a:sym typeface="Poppins"/>
              </a:rPr>
              <a:t> SQL. En el frontend, cada solicitud saliente debe adjuntar automáticamente el encabezado.</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Alternativas:</a:t>
            </a:r>
            <a:r>
              <a:rPr lang="es" sz="1200">
                <a:solidFill>
                  <a:schemeClr val="dk1"/>
                </a:solidFill>
                <a:latin typeface="Poppins"/>
                <a:ea typeface="Poppins"/>
                <a:cs typeface="Poppins"/>
                <a:sym typeface="Poppins"/>
              </a:rPr>
              <a:t> Validar manualmente la autenticación y permisos dentro de cada método de cada controlador REST.</a:t>
            </a:r>
            <a:endParaRPr sz="1200">
              <a:solidFill>
                <a:schemeClr val="dk1"/>
              </a:solidFill>
              <a:latin typeface="Poppins"/>
              <a:ea typeface="Poppins"/>
              <a:cs typeface="Poppins"/>
              <a:sym typeface="Poppins"/>
            </a:endParaRPr>
          </a:p>
          <a:p>
            <a:pPr indent="-304800" lvl="0" marL="457200" rtl="0" algn="just">
              <a:spcBef>
                <a:spcPts val="500"/>
              </a:spcBef>
              <a:spcAft>
                <a:spcPts val="0"/>
              </a:spcAft>
              <a:buClr>
                <a:schemeClr val="dk1"/>
              </a:buClr>
              <a:buSzPts val="1200"/>
              <a:buFont typeface="Poppins"/>
              <a:buChar char="●"/>
            </a:pPr>
            <a:r>
              <a:rPr b="1" lang="es" sz="1200">
                <a:solidFill>
                  <a:schemeClr val="dk1"/>
                </a:solidFill>
                <a:latin typeface="Poppins"/>
                <a:ea typeface="Poppins"/>
                <a:cs typeface="Poppins"/>
                <a:sym typeface="Poppins"/>
              </a:rPr>
              <a:t>Justificación: </a:t>
            </a:r>
            <a:r>
              <a:rPr lang="es" sz="1200">
                <a:solidFill>
                  <a:schemeClr val="dk1"/>
                </a:solidFill>
                <a:latin typeface="Poppins"/>
                <a:ea typeface="Poppins"/>
                <a:cs typeface="Poppins"/>
                <a:sym typeface="Poppins"/>
              </a:rPr>
              <a:t> Permite procesar de forma transversal e independiente los aspectos de seguridad antes de que la petición llegue a la lógica de negocio.</a:t>
            </a:r>
            <a:endParaRPr sz="1200">
              <a:solidFill>
                <a:schemeClr val="dk1"/>
              </a:solidFill>
              <a:latin typeface="Poppins"/>
              <a:ea typeface="Poppins"/>
              <a:cs typeface="Poppins"/>
              <a:sym typeface="Poppins"/>
            </a:endParaRPr>
          </a:p>
          <a:p>
            <a:pPr indent="-304800" lvl="0" marL="457200" rtl="0" algn="just">
              <a:spcBef>
                <a:spcPts val="500"/>
              </a:spcBef>
              <a:spcAft>
                <a:spcPts val="500"/>
              </a:spcAft>
              <a:buClr>
                <a:schemeClr val="dk1"/>
              </a:buClr>
              <a:buSzPts val="1200"/>
              <a:buFont typeface="Poppins"/>
              <a:buChar char="●"/>
            </a:pPr>
            <a:r>
              <a:rPr b="1" lang="es" sz="1200">
                <a:solidFill>
                  <a:schemeClr val="dk1"/>
                </a:solidFill>
                <a:latin typeface="Poppins"/>
                <a:ea typeface="Poppins"/>
                <a:cs typeface="Poppins"/>
                <a:sym typeface="Poppins"/>
              </a:rPr>
              <a:t>Consecuencias:</a:t>
            </a:r>
            <a:r>
              <a:rPr lang="es" sz="1200">
                <a:solidFill>
                  <a:schemeClr val="dk1"/>
                </a:solidFill>
                <a:latin typeface="Poppins"/>
                <a:ea typeface="Poppins"/>
                <a:cs typeface="Poppins"/>
                <a:sym typeface="Poppins"/>
              </a:rPr>
              <a:t> Requiere una configuración rigurosa en Spring Security para evitar bloqueos no deseados en endpoints públicos.</a:t>
            </a:r>
            <a:endParaRPr sz="1200">
              <a:solidFill>
                <a:schemeClr val="dk1"/>
              </a:solidFill>
              <a:latin typeface="Poppins"/>
              <a:ea typeface="Poppins"/>
              <a:cs typeface="Poppins"/>
              <a:sym typeface="Poppins"/>
            </a:endParaRPr>
          </a:p>
        </p:txBody>
      </p:sp>
      <p:sp>
        <p:nvSpPr>
          <p:cNvPr id="541" name="Google Shape;541;p27"/>
          <p:cNvSpPr txBox="1"/>
          <p:nvPr/>
        </p:nvSpPr>
        <p:spPr>
          <a:xfrm>
            <a:off x="1020150" y="8685850"/>
            <a:ext cx="5735700" cy="402900"/>
          </a:xfrm>
          <a:prstGeom prst="rect">
            <a:avLst/>
          </a:prstGeom>
          <a:noFill/>
          <a:ln>
            <a:noFill/>
          </a:ln>
        </p:spPr>
        <p:txBody>
          <a:bodyPr anchorCtr="0" anchor="t" bIns="108000" lIns="108000" spcFirstLastPara="1" rIns="108000" wrap="square" tIns="108000">
            <a:spAutoFit/>
          </a:bodyPr>
          <a:lstStyle/>
          <a:p>
            <a:pPr indent="0" lvl="0" marL="457200" rtl="0" algn="just">
              <a:spcBef>
                <a:spcPts val="500"/>
              </a:spcBef>
              <a:spcAft>
                <a:spcPts val="500"/>
              </a:spcAft>
              <a:buNone/>
            </a:pPr>
            <a:r>
              <a:t/>
            </a:r>
            <a:endParaRPr sz="1200">
              <a:solidFill>
                <a:schemeClr val="dk1"/>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8"/>
          <p:cNvSpPr/>
          <p:nvPr/>
        </p:nvSpPr>
        <p:spPr>
          <a:xfrm>
            <a:off x="1021200" y="2456352"/>
            <a:ext cx="5735700" cy="8787000"/>
          </a:xfrm>
          <a:prstGeom prst="roundRect">
            <a:avLst>
              <a:gd fmla="val 2545" name="adj"/>
            </a:avLst>
          </a:prstGeom>
          <a:solidFill>
            <a:srgbClr val="F3F3F3"/>
          </a:solidFill>
          <a:ln>
            <a:noFill/>
          </a:ln>
        </p:spPr>
        <p:txBody>
          <a:bodyPr anchorCtr="0" anchor="b" bIns="1170000" lIns="90000" spcFirstLastPara="1" rIns="91425" wrap="square" tIns="91425">
            <a:noAutofit/>
          </a:bodyPr>
          <a:lstStyle/>
          <a:p>
            <a:pPr indent="0" lvl="0" marL="0" rtl="0" algn="ctr">
              <a:spcBef>
                <a:spcPts val="800"/>
              </a:spcBef>
              <a:spcAft>
                <a:spcPts val="0"/>
              </a:spcAft>
              <a:buClr>
                <a:schemeClr val="dk1"/>
              </a:buClr>
              <a:buSzPts val="1100"/>
              <a:buFont typeface="Arial"/>
              <a:buNone/>
            </a:pPr>
            <a:r>
              <a:rPr b="1" lang="es">
                <a:solidFill>
                  <a:schemeClr val="dk1"/>
                </a:solidFill>
                <a:latin typeface="Poppins"/>
                <a:ea typeface="Poppins"/>
                <a:cs typeface="Poppins"/>
                <a:sym typeface="Poppins"/>
              </a:rPr>
              <a:t>Cloud Service Provider</a:t>
            </a:r>
            <a:endParaRPr sz="1200">
              <a:solidFill>
                <a:schemeClr val="dk1"/>
              </a:solidFill>
              <a:latin typeface="Poppins"/>
              <a:ea typeface="Poppins"/>
              <a:cs typeface="Poppins"/>
              <a:sym typeface="Poppins"/>
            </a:endParaRPr>
          </a:p>
        </p:txBody>
      </p:sp>
      <p:sp>
        <p:nvSpPr>
          <p:cNvPr id="547" name="Google Shape;547;p28"/>
          <p:cNvSpPr/>
          <p:nvPr/>
        </p:nvSpPr>
        <p:spPr>
          <a:xfrm>
            <a:off x="5342992" y="117192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8" name="Google Shape;548;p28"/>
          <p:cNvSpPr/>
          <p:nvPr/>
        </p:nvSpPr>
        <p:spPr>
          <a:xfrm>
            <a:off x="2147117" y="10557976"/>
            <a:ext cx="192300" cy="16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9" name="Google Shape;549;p28"/>
          <p:cNvSpPr/>
          <p:nvPr/>
        </p:nvSpPr>
        <p:spPr>
          <a:xfrm>
            <a:off x="1328763" y="2766202"/>
            <a:ext cx="2100300" cy="2790900"/>
          </a:xfrm>
          <a:prstGeom prst="roundRect">
            <a:avLst>
              <a:gd fmla="val 7647" name="adj"/>
            </a:avLst>
          </a:prstGeom>
          <a:solidFill>
            <a:srgbClr val="D3E8D5"/>
          </a:solidFill>
          <a:ln cap="flat" cmpd="sng" w="28575">
            <a:solidFill>
              <a:srgbClr val="2A800B"/>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 sz="1500">
                <a:latin typeface="Poppins"/>
                <a:ea typeface="Poppins"/>
                <a:cs typeface="Poppins"/>
                <a:sym typeface="Poppins"/>
              </a:rPr>
              <a:t>FrontEnd</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t/>
            </a:r>
            <a:endParaRPr b="1" sz="1500">
              <a:latin typeface="Poppins"/>
              <a:ea typeface="Poppins"/>
              <a:cs typeface="Poppins"/>
              <a:sym typeface="Poppins"/>
            </a:endParaRPr>
          </a:p>
          <a:p>
            <a:pPr indent="0" lvl="0" marL="0" rtl="0" algn="ctr">
              <a:spcBef>
                <a:spcPts val="0"/>
              </a:spcBef>
              <a:spcAft>
                <a:spcPts val="0"/>
              </a:spcAft>
              <a:buNone/>
            </a:pPr>
            <a:r>
              <a:rPr b="1" lang="es" sz="1000">
                <a:latin typeface="Poppins"/>
                <a:ea typeface="Poppins"/>
                <a:cs typeface="Poppins"/>
                <a:sym typeface="Poppins"/>
              </a:rPr>
              <a:t>Frameworks / Tools</a:t>
            </a:r>
            <a:endParaRPr b="1" sz="1000">
              <a:latin typeface="Poppins"/>
              <a:ea typeface="Poppins"/>
              <a:cs typeface="Poppins"/>
              <a:sym typeface="Poppins"/>
            </a:endParaRPr>
          </a:p>
        </p:txBody>
      </p:sp>
      <p:sp>
        <p:nvSpPr>
          <p:cNvPr id="550" name="Google Shape;550;p28"/>
          <p:cNvSpPr/>
          <p:nvPr/>
        </p:nvSpPr>
        <p:spPr>
          <a:xfrm>
            <a:off x="4377013" y="2766202"/>
            <a:ext cx="2098800" cy="2790900"/>
          </a:xfrm>
          <a:prstGeom prst="roundRect">
            <a:avLst>
              <a:gd fmla="val 10317" name="adj"/>
            </a:avLst>
          </a:prstGeom>
          <a:solidFill>
            <a:srgbClr val="DAE6FC"/>
          </a:solidFill>
          <a:ln cap="flat" cmpd="sng" w="28575">
            <a:solidFill>
              <a:srgbClr val="1B6FC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 sz="1500">
                <a:solidFill>
                  <a:schemeClr val="dk1"/>
                </a:solidFill>
                <a:latin typeface="Poppins"/>
                <a:ea typeface="Poppins"/>
                <a:cs typeface="Poppins"/>
                <a:sym typeface="Poppins"/>
              </a:rPr>
              <a:t>Back</a:t>
            </a:r>
            <a:r>
              <a:rPr b="1" lang="es" sz="1500">
                <a:solidFill>
                  <a:schemeClr val="dk1"/>
                </a:solidFill>
                <a:latin typeface="Poppins"/>
                <a:ea typeface="Poppins"/>
                <a:cs typeface="Poppins"/>
                <a:sym typeface="Poppins"/>
              </a:rPr>
              <a:t>End</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s" sz="1000">
                <a:solidFill>
                  <a:schemeClr val="dk1"/>
                </a:solidFill>
                <a:latin typeface="Poppins"/>
                <a:ea typeface="Poppins"/>
                <a:cs typeface="Poppins"/>
                <a:sym typeface="Poppins"/>
              </a:rPr>
              <a:t>Frameworks</a:t>
            </a:r>
            <a:endParaRPr b="1" sz="1500">
              <a:solidFill>
                <a:schemeClr val="dk1"/>
              </a:solidFill>
              <a:latin typeface="Poppins"/>
              <a:ea typeface="Poppins"/>
              <a:cs typeface="Poppins"/>
              <a:sym typeface="Poppins"/>
            </a:endParaRPr>
          </a:p>
        </p:txBody>
      </p:sp>
      <p:sp>
        <p:nvSpPr>
          <p:cNvPr id="551" name="Google Shape;551;p28"/>
          <p:cNvSpPr/>
          <p:nvPr/>
        </p:nvSpPr>
        <p:spPr>
          <a:xfrm>
            <a:off x="1300188" y="6234727"/>
            <a:ext cx="2700000" cy="2700000"/>
          </a:xfrm>
          <a:prstGeom prst="ellipse">
            <a:avLst/>
          </a:prstGeom>
          <a:solidFill>
            <a:srgbClr val="F3F3F3"/>
          </a:solidFill>
          <a:ln cap="flat" cmpd="sng" w="28575">
            <a:solidFill>
              <a:srgbClr val="000000"/>
            </a:solidFill>
            <a:prstDash val="dash"/>
            <a:round/>
            <a:headEnd len="sm" w="sm" type="none"/>
            <a:tailEnd len="sm" w="sm" type="none"/>
          </a:ln>
        </p:spPr>
        <p:txBody>
          <a:bodyPr anchorCtr="0" anchor="t" bIns="91425" lIns="91425" spcFirstLastPara="1" rIns="91425" wrap="square" tIns="0">
            <a:noAutofit/>
          </a:bodyPr>
          <a:lstStyle/>
          <a:p>
            <a:pPr indent="0" lvl="0" marL="0" rtl="0" algn="ctr">
              <a:spcBef>
                <a:spcPts val="0"/>
              </a:spcBef>
              <a:spcAft>
                <a:spcPts val="0"/>
              </a:spcAft>
              <a:buNone/>
            </a:pPr>
            <a:r>
              <a:rPr b="1" lang="es" sz="1500">
                <a:solidFill>
                  <a:schemeClr val="dk1"/>
                </a:solidFill>
                <a:latin typeface="Poppins"/>
                <a:ea typeface="Poppins"/>
                <a:cs typeface="Poppins"/>
                <a:sym typeface="Poppins"/>
              </a:rPr>
              <a:t>CI/CD</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l">
              <a:spcBef>
                <a:spcPts val="0"/>
              </a:spcBef>
              <a:spcAft>
                <a:spcPts val="0"/>
              </a:spcAft>
              <a:buNone/>
            </a:pPr>
            <a:r>
              <a:t/>
            </a:r>
            <a:endParaRPr b="1" sz="1000">
              <a:solidFill>
                <a:schemeClr val="dk1"/>
              </a:solidFill>
              <a:latin typeface="Poppins"/>
              <a:ea typeface="Poppins"/>
              <a:cs typeface="Poppins"/>
              <a:sym typeface="Poppins"/>
            </a:endParaRPr>
          </a:p>
          <a:p>
            <a:pPr indent="0" lvl="0" marL="0" rtl="0" algn="l">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rPr b="1" lang="es" sz="1000">
                <a:solidFill>
                  <a:schemeClr val="dk1"/>
                </a:solidFill>
                <a:latin typeface="Poppins"/>
                <a:ea typeface="Poppins"/>
                <a:cs typeface="Poppins"/>
                <a:sym typeface="Poppins"/>
              </a:rPr>
              <a:t>Tools</a:t>
            </a:r>
            <a:endParaRPr b="1" sz="15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t/>
            </a:r>
            <a:endParaRPr b="1" sz="1500">
              <a:solidFill>
                <a:schemeClr val="dk1"/>
              </a:solidFill>
              <a:latin typeface="Poppins"/>
              <a:ea typeface="Poppins"/>
              <a:cs typeface="Poppins"/>
              <a:sym typeface="Poppins"/>
            </a:endParaRPr>
          </a:p>
        </p:txBody>
      </p:sp>
      <p:pic>
        <p:nvPicPr>
          <p:cNvPr id="552" name="Google Shape;552;p28"/>
          <p:cNvPicPr preferRelativeResize="0"/>
          <p:nvPr/>
        </p:nvPicPr>
        <p:blipFill>
          <a:blip r:embed="rId3">
            <a:alphaModFix/>
          </a:blip>
          <a:stretch>
            <a:fillRect/>
          </a:stretch>
        </p:blipFill>
        <p:spPr>
          <a:xfrm>
            <a:off x="1687513" y="6285340"/>
            <a:ext cx="612000" cy="612000"/>
          </a:xfrm>
          <a:prstGeom prst="rect">
            <a:avLst/>
          </a:prstGeom>
          <a:noFill/>
          <a:ln>
            <a:noFill/>
          </a:ln>
        </p:spPr>
      </p:pic>
      <p:sp>
        <p:nvSpPr>
          <p:cNvPr id="553" name="Google Shape;553;p28"/>
          <p:cNvSpPr txBox="1"/>
          <p:nvPr/>
        </p:nvSpPr>
        <p:spPr>
          <a:xfrm>
            <a:off x="1369800" y="6906783"/>
            <a:ext cx="2560800" cy="670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300"/>
              </a:spcBef>
              <a:spcAft>
                <a:spcPts val="0"/>
              </a:spcAft>
              <a:buNone/>
            </a:pPr>
            <a:r>
              <a:rPr b="1" lang="es" sz="1200">
                <a:latin typeface="Poppins"/>
                <a:ea typeface="Poppins"/>
                <a:cs typeface="Poppins"/>
                <a:sym typeface="Poppins"/>
              </a:rPr>
              <a:t>Commit -&gt; Build -&gt; Test</a:t>
            </a:r>
            <a:endParaRPr b="1" sz="1200">
              <a:latin typeface="Poppins"/>
              <a:ea typeface="Poppins"/>
              <a:cs typeface="Poppins"/>
              <a:sym typeface="Poppins"/>
            </a:endParaRPr>
          </a:p>
          <a:p>
            <a:pPr indent="0" lvl="0" marL="0" rtl="0" algn="ctr">
              <a:lnSpc>
                <a:spcPct val="100000"/>
              </a:lnSpc>
              <a:spcBef>
                <a:spcPts val="300"/>
              </a:spcBef>
              <a:spcAft>
                <a:spcPts val="300"/>
              </a:spcAft>
              <a:buNone/>
            </a:pPr>
            <a:r>
              <a:rPr b="1" lang="es" sz="1200">
                <a:latin typeface="Poppins"/>
                <a:ea typeface="Poppins"/>
                <a:cs typeface="Poppins"/>
                <a:sym typeface="Poppins"/>
              </a:rPr>
              <a:t>Artifact -&gt; Deploy -&gt; Monitoring</a:t>
            </a:r>
            <a:r>
              <a:rPr b="1" lang="es" sz="1200">
                <a:latin typeface="Poppins"/>
                <a:ea typeface="Poppins"/>
                <a:cs typeface="Poppins"/>
                <a:sym typeface="Poppins"/>
              </a:rPr>
              <a:t> </a:t>
            </a:r>
            <a:endParaRPr b="1" sz="1000">
              <a:latin typeface="Poppins"/>
              <a:ea typeface="Poppins"/>
              <a:cs typeface="Poppins"/>
              <a:sym typeface="Poppins"/>
            </a:endParaRPr>
          </a:p>
        </p:txBody>
      </p:sp>
      <p:pic>
        <p:nvPicPr>
          <p:cNvPr id="554" name="Google Shape;554;p28"/>
          <p:cNvPicPr preferRelativeResize="0"/>
          <p:nvPr/>
        </p:nvPicPr>
        <p:blipFill>
          <a:blip r:embed="rId4">
            <a:alphaModFix/>
          </a:blip>
          <a:stretch>
            <a:fillRect/>
          </a:stretch>
        </p:blipFill>
        <p:spPr>
          <a:xfrm>
            <a:off x="1634238" y="7897002"/>
            <a:ext cx="512875" cy="507759"/>
          </a:xfrm>
          <a:prstGeom prst="rect">
            <a:avLst/>
          </a:prstGeom>
          <a:noFill/>
          <a:ln>
            <a:noFill/>
          </a:ln>
        </p:spPr>
      </p:pic>
      <p:sp>
        <p:nvSpPr>
          <p:cNvPr id="555" name="Google Shape;555;p28"/>
          <p:cNvSpPr/>
          <p:nvPr/>
        </p:nvSpPr>
        <p:spPr>
          <a:xfrm>
            <a:off x="4377013" y="6566677"/>
            <a:ext cx="2098800" cy="2775300"/>
          </a:xfrm>
          <a:prstGeom prst="roundRect">
            <a:avLst>
              <a:gd fmla="val 10317" name="adj"/>
            </a:avLst>
          </a:prstGeom>
          <a:solidFill>
            <a:srgbClr val="FEF1CE"/>
          </a:solidFill>
          <a:ln cap="flat" cmpd="sng" w="28575">
            <a:solidFill>
              <a:srgbClr val="BF9000"/>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 sz="1500">
                <a:solidFill>
                  <a:schemeClr val="dk1"/>
                </a:solidFill>
                <a:latin typeface="Poppins"/>
                <a:ea typeface="Poppins"/>
                <a:cs typeface="Poppins"/>
                <a:sym typeface="Poppins"/>
              </a:rPr>
              <a:t>Base de datos</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None/>
            </a:pPr>
            <a:r>
              <a:t/>
            </a:r>
            <a:endParaRPr b="1" sz="1500">
              <a:solidFill>
                <a:schemeClr val="dk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rPr b="1" lang="es" sz="1000">
                <a:solidFill>
                  <a:schemeClr val="dk1"/>
                </a:solidFill>
                <a:latin typeface="Poppins"/>
                <a:ea typeface="Poppins"/>
                <a:cs typeface="Poppins"/>
                <a:sym typeface="Poppins"/>
              </a:rPr>
              <a:t>Frameworks</a:t>
            </a:r>
            <a:endParaRPr b="1" sz="1500">
              <a:solidFill>
                <a:schemeClr val="dk1"/>
              </a:solidFill>
              <a:latin typeface="Poppins"/>
              <a:ea typeface="Poppins"/>
              <a:cs typeface="Poppins"/>
              <a:sym typeface="Poppins"/>
            </a:endParaRPr>
          </a:p>
        </p:txBody>
      </p:sp>
      <p:pic>
        <p:nvPicPr>
          <p:cNvPr id="556" name="Google Shape;556;p28"/>
          <p:cNvPicPr preferRelativeResize="0"/>
          <p:nvPr/>
        </p:nvPicPr>
        <p:blipFill rotWithShape="1">
          <a:blip r:embed="rId5">
            <a:alphaModFix/>
          </a:blip>
          <a:srcRect b="0" l="11714" r="16286" t="0"/>
          <a:stretch/>
        </p:blipFill>
        <p:spPr>
          <a:xfrm>
            <a:off x="1328775" y="3470825"/>
            <a:ext cx="441100" cy="612650"/>
          </a:xfrm>
          <a:prstGeom prst="rect">
            <a:avLst/>
          </a:prstGeom>
          <a:noFill/>
          <a:ln>
            <a:noFill/>
          </a:ln>
        </p:spPr>
      </p:pic>
      <p:pic>
        <p:nvPicPr>
          <p:cNvPr id="557" name="Google Shape;557;p28"/>
          <p:cNvPicPr preferRelativeResize="0"/>
          <p:nvPr/>
        </p:nvPicPr>
        <p:blipFill>
          <a:blip r:embed="rId6">
            <a:alphaModFix/>
          </a:blip>
          <a:stretch>
            <a:fillRect/>
          </a:stretch>
        </p:blipFill>
        <p:spPr>
          <a:xfrm>
            <a:off x="4624931" y="3512177"/>
            <a:ext cx="612000" cy="612000"/>
          </a:xfrm>
          <a:prstGeom prst="rect">
            <a:avLst/>
          </a:prstGeom>
          <a:noFill/>
          <a:ln>
            <a:noFill/>
          </a:ln>
        </p:spPr>
      </p:pic>
      <p:pic>
        <p:nvPicPr>
          <p:cNvPr id="558" name="Google Shape;558;p28"/>
          <p:cNvPicPr preferRelativeResize="0"/>
          <p:nvPr/>
        </p:nvPicPr>
        <p:blipFill>
          <a:blip r:embed="rId7">
            <a:alphaModFix/>
          </a:blip>
          <a:stretch>
            <a:fillRect/>
          </a:stretch>
        </p:blipFill>
        <p:spPr>
          <a:xfrm>
            <a:off x="4575356" y="7102352"/>
            <a:ext cx="612000" cy="612000"/>
          </a:xfrm>
          <a:prstGeom prst="rect">
            <a:avLst/>
          </a:prstGeom>
          <a:noFill/>
          <a:ln>
            <a:noFill/>
          </a:ln>
        </p:spPr>
      </p:pic>
      <p:sp>
        <p:nvSpPr>
          <p:cNvPr id="559" name="Google Shape;559;p28"/>
          <p:cNvSpPr txBox="1"/>
          <p:nvPr/>
        </p:nvSpPr>
        <p:spPr>
          <a:xfrm>
            <a:off x="1831075" y="3225175"/>
            <a:ext cx="1598100" cy="1285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300"/>
              </a:spcBef>
              <a:spcAft>
                <a:spcPts val="0"/>
              </a:spcAft>
              <a:buNone/>
            </a:pPr>
            <a:r>
              <a:rPr b="1" lang="es" sz="1200">
                <a:latin typeface="Poppins"/>
                <a:ea typeface="Poppins"/>
                <a:cs typeface="Poppins"/>
                <a:sym typeface="Poppins"/>
              </a:rPr>
              <a:t>- HTML</a:t>
            </a:r>
            <a:r>
              <a:rPr lang="es" sz="1000">
                <a:latin typeface="Poppins"/>
                <a:ea typeface="Poppins"/>
                <a:cs typeface="Poppins"/>
                <a:sym typeface="Poppins"/>
              </a:rPr>
              <a:t>(diseño de layouts y vistas)</a:t>
            </a:r>
            <a:endParaRPr sz="1000">
              <a:latin typeface="Poppins"/>
              <a:ea typeface="Poppins"/>
              <a:cs typeface="Poppins"/>
              <a:sym typeface="Poppins"/>
            </a:endParaRPr>
          </a:p>
          <a:p>
            <a:pPr indent="0" lvl="0" marL="0" rtl="0" algn="l">
              <a:lnSpc>
                <a:spcPct val="100000"/>
              </a:lnSpc>
              <a:spcBef>
                <a:spcPts val="300"/>
              </a:spcBef>
              <a:spcAft>
                <a:spcPts val="0"/>
              </a:spcAft>
              <a:buNone/>
            </a:pPr>
            <a:r>
              <a:rPr b="1" lang="es" sz="1200">
                <a:latin typeface="Poppins"/>
                <a:ea typeface="Poppins"/>
                <a:cs typeface="Poppins"/>
                <a:sym typeface="Poppins"/>
              </a:rPr>
              <a:t>-TypeScript</a:t>
            </a:r>
            <a:r>
              <a:rPr lang="es" sz="1000">
                <a:latin typeface="Poppins"/>
                <a:ea typeface="Poppins"/>
                <a:cs typeface="Poppins"/>
                <a:sym typeface="Poppins"/>
              </a:rPr>
              <a:t>(lógica de interfaz, eventos, navegación)</a:t>
            </a:r>
            <a:endParaRPr sz="1000">
              <a:latin typeface="Poppins"/>
              <a:ea typeface="Poppins"/>
              <a:cs typeface="Poppins"/>
              <a:sym typeface="Poppins"/>
            </a:endParaRPr>
          </a:p>
          <a:p>
            <a:pPr indent="0" lvl="0" marL="0" rtl="0" algn="l">
              <a:lnSpc>
                <a:spcPct val="100000"/>
              </a:lnSpc>
              <a:spcBef>
                <a:spcPts val="300"/>
              </a:spcBef>
              <a:spcAft>
                <a:spcPts val="300"/>
              </a:spcAft>
              <a:buNone/>
            </a:pPr>
            <a:r>
              <a:rPr lang="es" sz="1000">
                <a:latin typeface="Poppins"/>
                <a:ea typeface="Poppins"/>
                <a:cs typeface="Poppins"/>
                <a:sym typeface="Poppins"/>
              </a:rPr>
              <a:t>- </a:t>
            </a:r>
            <a:r>
              <a:rPr b="1" lang="es" sz="1000">
                <a:latin typeface="Poppins"/>
                <a:ea typeface="Poppins"/>
                <a:cs typeface="Poppins"/>
                <a:sym typeface="Poppins"/>
              </a:rPr>
              <a:t>CSS(</a:t>
            </a:r>
            <a:r>
              <a:rPr lang="es" sz="1000">
                <a:latin typeface="Poppins"/>
                <a:ea typeface="Poppins"/>
                <a:cs typeface="Poppins"/>
                <a:sym typeface="Poppins"/>
              </a:rPr>
              <a:t>apariencia visual, colores, letras)</a:t>
            </a:r>
            <a:endParaRPr sz="1000">
              <a:latin typeface="Poppins"/>
              <a:ea typeface="Poppins"/>
              <a:cs typeface="Poppins"/>
              <a:sym typeface="Poppins"/>
            </a:endParaRPr>
          </a:p>
        </p:txBody>
      </p:sp>
      <p:sp>
        <p:nvSpPr>
          <p:cNvPr id="560" name="Google Shape;560;p28"/>
          <p:cNvSpPr txBox="1"/>
          <p:nvPr/>
        </p:nvSpPr>
        <p:spPr>
          <a:xfrm>
            <a:off x="5311887" y="3656702"/>
            <a:ext cx="951000" cy="240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300"/>
              </a:spcBef>
              <a:spcAft>
                <a:spcPts val="300"/>
              </a:spcAft>
              <a:buNone/>
            </a:pPr>
            <a:r>
              <a:rPr b="1" lang="es" sz="1200">
                <a:latin typeface="Poppins"/>
                <a:ea typeface="Poppins"/>
                <a:cs typeface="Poppins"/>
                <a:sym typeface="Poppins"/>
              </a:rPr>
              <a:t>-</a:t>
            </a:r>
            <a:r>
              <a:rPr b="1" lang="es" sz="1200">
                <a:latin typeface="Poppins"/>
                <a:ea typeface="Poppins"/>
                <a:cs typeface="Poppins"/>
                <a:sym typeface="Poppins"/>
              </a:rPr>
              <a:t> Java</a:t>
            </a:r>
            <a:endParaRPr sz="1000">
              <a:latin typeface="Poppins"/>
              <a:ea typeface="Poppins"/>
              <a:cs typeface="Poppins"/>
              <a:sym typeface="Poppins"/>
            </a:endParaRPr>
          </a:p>
        </p:txBody>
      </p:sp>
      <p:pic>
        <p:nvPicPr>
          <p:cNvPr id="561" name="Google Shape;561;p28"/>
          <p:cNvPicPr preferRelativeResize="0"/>
          <p:nvPr/>
        </p:nvPicPr>
        <p:blipFill>
          <a:blip r:embed="rId8">
            <a:alphaModFix/>
          </a:blip>
          <a:stretch>
            <a:fillRect/>
          </a:stretch>
        </p:blipFill>
        <p:spPr>
          <a:xfrm>
            <a:off x="4852550" y="4788111"/>
            <a:ext cx="1173206" cy="468000"/>
          </a:xfrm>
          <a:prstGeom prst="rect">
            <a:avLst/>
          </a:prstGeom>
          <a:noFill/>
          <a:ln>
            <a:noFill/>
          </a:ln>
        </p:spPr>
      </p:pic>
      <p:sp>
        <p:nvSpPr>
          <p:cNvPr id="562" name="Google Shape;562;p28"/>
          <p:cNvSpPr txBox="1"/>
          <p:nvPr/>
        </p:nvSpPr>
        <p:spPr>
          <a:xfrm>
            <a:off x="5266238" y="7162877"/>
            <a:ext cx="1173300" cy="240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300"/>
              </a:spcBef>
              <a:spcAft>
                <a:spcPts val="0"/>
              </a:spcAft>
              <a:buNone/>
            </a:pPr>
            <a:r>
              <a:rPr b="1" lang="es" sz="1200">
                <a:latin typeface="Poppins"/>
                <a:ea typeface="Poppins"/>
                <a:cs typeface="Poppins"/>
                <a:sym typeface="Poppins"/>
              </a:rPr>
              <a:t>- </a:t>
            </a:r>
            <a:r>
              <a:rPr b="1" lang="es" sz="1200">
                <a:latin typeface="Poppins"/>
                <a:ea typeface="Poppins"/>
                <a:cs typeface="Poppins"/>
                <a:sym typeface="Poppins"/>
              </a:rPr>
              <a:t>SQL</a:t>
            </a:r>
            <a:r>
              <a:rPr b="1" lang="es" sz="1000">
                <a:latin typeface="Poppins"/>
                <a:ea typeface="Poppins"/>
                <a:cs typeface="Poppins"/>
                <a:sym typeface="Poppins"/>
              </a:rPr>
              <a:t> </a:t>
            </a:r>
            <a:endParaRPr b="1" sz="1000">
              <a:latin typeface="Poppins"/>
              <a:ea typeface="Poppins"/>
              <a:cs typeface="Poppins"/>
              <a:sym typeface="Poppins"/>
            </a:endParaRPr>
          </a:p>
          <a:p>
            <a:pPr indent="0" lvl="0" marL="0" rtl="0" algn="l">
              <a:lnSpc>
                <a:spcPct val="100000"/>
              </a:lnSpc>
              <a:spcBef>
                <a:spcPts val="300"/>
              </a:spcBef>
              <a:spcAft>
                <a:spcPts val="300"/>
              </a:spcAft>
              <a:buNone/>
            </a:pPr>
            <a:r>
              <a:rPr b="1" lang="es" sz="1000">
                <a:latin typeface="Poppins"/>
                <a:ea typeface="Poppins"/>
                <a:cs typeface="Poppins"/>
                <a:sym typeface="Poppins"/>
              </a:rPr>
              <a:t>(Relacional)</a:t>
            </a:r>
            <a:endParaRPr b="1" sz="1000">
              <a:latin typeface="Poppins"/>
              <a:ea typeface="Poppins"/>
              <a:cs typeface="Poppins"/>
              <a:sym typeface="Poppins"/>
            </a:endParaRPr>
          </a:p>
        </p:txBody>
      </p:sp>
      <p:pic>
        <p:nvPicPr>
          <p:cNvPr id="563" name="Google Shape;563;p28"/>
          <p:cNvPicPr preferRelativeResize="0"/>
          <p:nvPr/>
        </p:nvPicPr>
        <p:blipFill>
          <a:blip r:embed="rId9">
            <a:alphaModFix/>
          </a:blip>
          <a:stretch>
            <a:fillRect/>
          </a:stretch>
        </p:blipFill>
        <p:spPr>
          <a:xfrm>
            <a:off x="5169988" y="8602502"/>
            <a:ext cx="512875" cy="509550"/>
          </a:xfrm>
          <a:prstGeom prst="rect">
            <a:avLst/>
          </a:prstGeom>
          <a:noFill/>
          <a:ln>
            <a:noFill/>
          </a:ln>
        </p:spPr>
      </p:pic>
      <p:pic>
        <p:nvPicPr>
          <p:cNvPr id="564" name="Google Shape;564;p28"/>
          <p:cNvPicPr preferRelativeResize="0"/>
          <p:nvPr/>
        </p:nvPicPr>
        <p:blipFill>
          <a:blip r:embed="rId10">
            <a:alphaModFix/>
          </a:blip>
          <a:stretch>
            <a:fillRect/>
          </a:stretch>
        </p:blipFill>
        <p:spPr>
          <a:xfrm>
            <a:off x="3437988" y="10275072"/>
            <a:ext cx="900000" cy="598500"/>
          </a:xfrm>
          <a:prstGeom prst="rect">
            <a:avLst/>
          </a:prstGeom>
          <a:noFill/>
          <a:ln>
            <a:noFill/>
          </a:ln>
        </p:spPr>
      </p:pic>
      <p:sp>
        <p:nvSpPr>
          <p:cNvPr id="565" name="Google Shape;565;p28"/>
          <p:cNvSpPr/>
          <p:nvPr/>
        </p:nvSpPr>
        <p:spPr>
          <a:xfrm>
            <a:off x="2622325" y="5410204"/>
            <a:ext cx="2868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28"/>
          <p:cNvSpPr/>
          <p:nvPr/>
        </p:nvSpPr>
        <p:spPr>
          <a:xfrm>
            <a:off x="2622325" y="6236568"/>
            <a:ext cx="2868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67" name="Google Shape;567;p28"/>
          <p:cNvCxnSpPr>
            <a:endCxn id="565" idx="2"/>
          </p:cNvCxnSpPr>
          <p:nvPr/>
        </p:nvCxnSpPr>
        <p:spPr>
          <a:xfrm rot="10800000">
            <a:off x="2765725" y="5557204"/>
            <a:ext cx="0" cy="679500"/>
          </a:xfrm>
          <a:prstGeom prst="straightConnector1">
            <a:avLst/>
          </a:prstGeom>
          <a:noFill/>
          <a:ln cap="flat" cmpd="sng" w="28575">
            <a:solidFill>
              <a:srgbClr val="434343"/>
            </a:solidFill>
            <a:prstDash val="lgDash"/>
            <a:round/>
            <a:headEnd len="med" w="med" type="none"/>
            <a:tailEnd len="med" w="med" type="stealth"/>
          </a:ln>
        </p:spPr>
      </p:cxnSp>
      <p:sp>
        <p:nvSpPr>
          <p:cNvPr id="568" name="Google Shape;568;p28"/>
          <p:cNvSpPr/>
          <p:nvPr/>
        </p:nvSpPr>
        <p:spPr>
          <a:xfrm>
            <a:off x="3236775" y="402670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9" name="Google Shape;569;p28"/>
          <p:cNvSpPr/>
          <p:nvPr/>
        </p:nvSpPr>
        <p:spPr>
          <a:xfrm>
            <a:off x="3236775" y="440455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28"/>
          <p:cNvSpPr/>
          <p:nvPr/>
        </p:nvSpPr>
        <p:spPr>
          <a:xfrm>
            <a:off x="4371208" y="402670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1" name="Google Shape;571;p28"/>
          <p:cNvSpPr/>
          <p:nvPr/>
        </p:nvSpPr>
        <p:spPr>
          <a:xfrm>
            <a:off x="4371208" y="440455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72" name="Google Shape;572;p28"/>
          <p:cNvCxnSpPr>
            <a:stCxn id="568" idx="3"/>
            <a:endCxn id="570" idx="1"/>
          </p:cNvCxnSpPr>
          <p:nvPr/>
        </p:nvCxnSpPr>
        <p:spPr>
          <a:xfrm>
            <a:off x="3429075" y="4100204"/>
            <a:ext cx="942000" cy="0"/>
          </a:xfrm>
          <a:prstGeom prst="straightConnector1">
            <a:avLst/>
          </a:prstGeom>
          <a:noFill/>
          <a:ln cap="flat" cmpd="sng" w="28575">
            <a:solidFill>
              <a:srgbClr val="434343"/>
            </a:solidFill>
            <a:prstDash val="lgDash"/>
            <a:round/>
            <a:headEnd len="med" w="med" type="none"/>
            <a:tailEnd len="med" w="med" type="stealth"/>
          </a:ln>
        </p:spPr>
      </p:cxnSp>
      <p:cxnSp>
        <p:nvCxnSpPr>
          <p:cNvPr id="573" name="Google Shape;573;p28"/>
          <p:cNvCxnSpPr>
            <a:stCxn id="571" idx="1"/>
            <a:endCxn id="569" idx="3"/>
          </p:cNvCxnSpPr>
          <p:nvPr/>
        </p:nvCxnSpPr>
        <p:spPr>
          <a:xfrm rot="10800000">
            <a:off x="3429208" y="4478054"/>
            <a:ext cx="942000" cy="0"/>
          </a:xfrm>
          <a:prstGeom prst="straightConnector1">
            <a:avLst/>
          </a:prstGeom>
          <a:noFill/>
          <a:ln cap="flat" cmpd="sng" w="28575">
            <a:solidFill>
              <a:srgbClr val="434343"/>
            </a:solidFill>
            <a:prstDash val="lgDash"/>
            <a:round/>
            <a:headEnd len="med" w="med" type="none"/>
            <a:tailEnd len="med" w="med" type="stealth"/>
          </a:ln>
        </p:spPr>
      </p:cxnSp>
      <p:sp>
        <p:nvSpPr>
          <p:cNvPr id="574" name="Google Shape;574;p28"/>
          <p:cNvSpPr/>
          <p:nvPr/>
        </p:nvSpPr>
        <p:spPr>
          <a:xfrm>
            <a:off x="4371208" y="5220210"/>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28"/>
          <p:cNvSpPr/>
          <p:nvPr/>
        </p:nvSpPr>
        <p:spPr>
          <a:xfrm>
            <a:off x="3242133" y="6404685"/>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76" name="Google Shape;576;p28"/>
          <p:cNvCxnSpPr>
            <a:stCxn id="575" idx="3"/>
            <a:endCxn id="574" idx="1"/>
          </p:cNvCxnSpPr>
          <p:nvPr/>
        </p:nvCxnSpPr>
        <p:spPr>
          <a:xfrm flipH="1" rot="10800000">
            <a:off x="3434433" y="5293785"/>
            <a:ext cx="936900" cy="1184400"/>
          </a:xfrm>
          <a:prstGeom prst="bentConnector3">
            <a:avLst>
              <a:gd fmla="val 49993" name="adj1"/>
            </a:avLst>
          </a:prstGeom>
          <a:noFill/>
          <a:ln cap="flat" cmpd="sng" w="28575">
            <a:solidFill>
              <a:srgbClr val="434343"/>
            </a:solidFill>
            <a:prstDash val="lgDash"/>
            <a:round/>
            <a:headEnd len="med" w="med" type="none"/>
            <a:tailEnd len="med" w="med" type="stealth"/>
          </a:ln>
        </p:spPr>
      </p:cxnSp>
      <p:sp>
        <p:nvSpPr>
          <p:cNvPr id="577" name="Google Shape;577;p28"/>
          <p:cNvSpPr/>
          <p:nvPr/>
        </p:nvSpPr>
        <p:spPr>
          <a:xfrm>
            <a:off x="5052875" y="541020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8" name="Google Shape;578;p28"/>
          <p:cNvSpPr/>
          <p:nvPr/>
        </p:nvSpPr>
        <p:spPr>
          <a:xfrm>
            <a:off x="5607675" y="5410204"/>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9" name="Google Shape;579;p28"/>
          <p:cNvSpPr/>
          <p:nvPr/>
        </p:nvSpPr>
        <p:spPr>
          <a:xfrm>
            <a:off x="5052875" y="6558840"/>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28"/>
          <p:cNvSpPr/>
          <p:nvPr/>
        </p:nvSpPr>
        <p:spPr>
          <a:xfrm>
            <a:off x="5607675" y="6558840"/>
            <a:ext cx="192300" cy="14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1" name="Google Shape;581;p28"/>
          <p:cNvCxnSpPr>
            <a:stCxn id="578" idx="2"/>
            <a:endCxn id="580" idx="0"/>
          </p:cNvCxnSpPr>
          <p:nvPr/>
        </p:nvCxnSpPr>
        <p:spPr>
          <a:xfrm>
            <a:off x="5703825" y="5557204"/>
            <a:ext cx="0" cy="1001700"/>
          </a:xfrm>
          <a:prstGeom prst="straightConnector1">
            <a:avLst/>
          </a:prstGeom>
          <a:noFill/>
          <a:ln cap="flat" cmpd="sng" w="28575">
            <a:solidFill>
              <a:srgbClr val="434343"/>
            </a:solidFill>
            <a:prstDash val="lgDash"/>
            <a:round/>
            <a:headEnd len="med" w="med" type="none"/>
            <a:tailEnd len="med" w="med" type="stealth"/>
          </a:ln>
        </p:spPr>
      </p:cxnSp>
      <p:cxnSp>
        <p:nvCxnSpPr>
          <p:cNvPr id="582" name="Google Shape;582;p28"/>
          <p:cNvCxnSpPr>
            <a:stCxn id="579" idx="0"/>
            <a:endCxn id="577" idx="2"/>
          </p:cNvCxnSpPr>
          <p:nvPr/>
        </p:nvCxnSpPr>
        <p:spPr>
          <a:xfrm rot="10800000">
            <a:off x="5149025" y="5557140"/>
            <a:ext cx="0" cy="1001700"/>
          </a:xfrm>
          <a:prstGeom prst="straightConnector1">
            <a:avLst/>
          </a:prstGeom>
          <a:noFill/>
          <a:ln cap="flat" cmpd="sng" w="28575">
            <a:solidFill>
              <a:srgbClr val="434343"/>
            </a:solidFill>
            <a:prstDash val="lgDash"/>
            <a:round/>
            <a:headEnd len="med" w="med" type="none"/>
            <a:tailEnd len="med" w="med" type="stealth"/>
          </a:ln>
        </p:spPr>
      </p:cxnSp>
      <p:sp>
        <p:nvSpPr>
          <p:cNvPr id="583" name="Google Shape;583;p28"/>
          <p:cNvSpPr txBox="1"/>
          <p:nvPr/>
        </p:nvSpPr>
        <p:spPr>
          <a:xfrm>
            <a:off x="1021200" y="1017250"/>
            <a:ext cx="5735700" cy="1395600"/>
          </a:xfrm>
          <a:prstGeom prst="rect">
            <a:avLst/>
          </a:prstGeom>
          <a:noFill/>
          <a:ln>
            <a:noFill/>
          </a:ln>
        </p:spPr>
        <p:txBody>
          <a:bodyPr anchorCtr="0" anchor="t" bIns="108000" lIns="108000" spcFirstLastPara="1" rIns="108000" wrap="square" tIns="108000">
            <a:spAutoFit/>
          </a:bodyPr>
          <a:lstStyle/>
          <a:p>
            <a:pPr indent="0" lvl="0" marL="0" rtl="0" algn="l">
              <a:spcBef>
                <a:spcPts val="800"/>
              </a:spcBef>
              <a:spcAft>
                <a:spcPts val="0"/>
              </a:spcAft>
              <a:buNone/>
            </a:pPr>
            <a:r>
              <a:rPr b="1" lang="es">
                <a:solidFill>
                  <a:schemeClr val="dk1"/>
                </a:solidFill>
                <a:latin typeface="Poppins"/>
                <a:ea typeface="Poppins"/>
                <a:cs typeface="Poppins"/>
                <a:sym typeface="Poppins"/>
              </a:rPr>
              <a:t>4</a:t>
            </a:r>
            <a:r>
              <a:rPr b="1" lang="es">
                <a:solidFill>
                  <a:schemeClr val="dk1"/>
                </a:solidFill>
                <a:latin typeface="Poppins"/>
                <a:ea typeface="Poppins"/>
                <a:cs typeface="Poppins"/>
                <a:sym typeface="Poppins"/>
              </a:rPr>
              <a:t>. STACK TECNOLÓGICO DEL SISTEMA</a:t>
            </a:r>
            <a:endParaRPr b="1">
              <a:solidFill>
                <a:schemeClr val="dk1"/>
              </a:solidFill>
              <a:latin typeface="Poppins"/>
              <a:ea typeface="Poppins"/>
              <a:cs typeface="Poppins"/>
              <a:sym typeface="Poppins"/>
            </a:endParaRPr>
          </a:p>
          <a:p>
            <a:pPr indent="0" lvl="0" marL="0" rtl="0" algn="just">
              <a:spcBef>
                <a:spcPts val="300"/>
              </a:spcBef>
              <a:spcAft>
                <a:spcPts val="0"/>
              </a:spcAft>
              <a:buNone/>
            </a:pPr>
            <a:r>
              <a:rPr lang="es" sz="1200">
                <a:solidFill>
                  <a:schemeClr val="dk1"/>
                </a:solidFill>
                <a:latin typeface="Poppins"/>
                <a:ea typeface="Poppins"/>
                <a:cs typeface="Poppins"/>
                <a:sym typeface="Poppins"/>
              </a:rPr>
              <a:t>En esta sección se describen las tecnologías utilizadas para la implementación del sistema LittleStyle, organizadas por capa: cliente web (frontend), backend y base de datos. Esta descripción es coherente con la arquitectura presentada en los diagramas C4 y corresponde al alcance definido para el rol del cliente.</a:t>
            </a:r>
            <a:endParaRPr sz="1200">
              <a:solidFill>
                <a:schemeClr val="dk1"/>
              </a:solidFill>
              <a:latin typeface="Poppins"/>
              <a:ea typeface="Poppins"/>
              <a:cs typeface="Poppins"/>
              <a:sym typeface="Poppins"/>
            </a:endParaRPr>
          </a:p>
        </p:txBody>
      </p:sp>
      <p:pic>
        <p:nvPicPr>
          <p:cNvPr id="584" name="Google Shape;584;p28"/>
          <p:cNvPicPr preferRelativeResize="0"/>
          <p:nvPr/>
        </p:nvPicPr>
        <p:blipFill>
          <a:blip r:embed="rId11">
            <a:alphaModFix/>
          </a:blip>
          <a:stretch>
            <a:fillRect/>
          </a:stretch>
        </p:blipFill>
        <p:spPr>
          <a:xfrm>
            <a:off x="2072600" y="4760763"/>
            <a:ext cx="612650" cy="612650"/>
          </a:xfrm>
          <a:prstGeom prst="rect">
            <a:avLst/>
          </a:prstGeom>
          <a:solidFill>
            <a:srgbClr val="D3E8D5"/>
          </a:solidFill>
          <a:ln cap="flat" cmpd="sng" w="28575">
            <a:solidFill>
              <a:srgbClr val="2A800B"/>
            </a:solidFill>
            <a:prstDash val="dash"/>
            <a:round/>
            <a:headEnd len="sm" w="sm" type="none"/>
            <a:tailEnd len="sm" w="sm" type="none"/>
          </a:ln>
        </p:spPr>
      </p:pic>
      <p:pic>
        <p:nvPicPr>
          <p:cNvPr id="585" name="Google Shape;585;p28"/>
          <p:cNvPicPr preferRelativeResize="0"/>
          <p:nvPr/>
        </p:nvPicPr>
        <p:blipFill>
          <a:blip r:embed="rId12">
            <a:alphaModFix/>
          </a:blip>
          <a:stretch>
            <a:fillRect/>
          </a:stretch>
        </p:blipFill>
        <p:spPr>
          <a:xfrm>
            <a:off x="2412400" y="7894442"/>
            <a:ext cx="512874" cy="512861"/>
          </a:xfrm>
          <a:prstGeom prst="rect">
            <a:avLst/>
          </a:prstGeom>
          <a:solidFill>
            <a:srgbClr val="F3F3F3"/>
          </a:solidFill>
          <a:ln cap="flat" cmpd="sng" w="28575">
            <a:solidFill>
              <a:schemeClr val="lt1"/>
            </a:solidFill>
            <a:prstDash val="dash"/>
            <a:round/>
            <a:headEnd len="sm" w="sm" type="none"/>
            <a:tailEnd len="sm" w="sm" type="none"/>
          </a:ln>
        </p:spPr>
      </p:pic>
      <p:pic>
        <p:nvPicPr>
          <p:cNvPr id="586" name="Google Shape;586;p28"/>
          <p:cNvPicPr preferRelativeResize="0"/>
          <p:nvPr/>
        </p:nvPicPr>
        <p:blipFill>
          <a:blip r:embed="rId13">
            <a:alphaModFix/>
          </a:blip>
          <a:stretch>
            <a:fillRect/>
          </a:stretch>
        </p:blipFill>
        <p:spPr>
          <a:xfrm>
            <a:off x="3190550" y="7844550"/>
            <a:ext cx="441108" cy="612650"/>
          </a:xfrm>
          <a:prstGeom prst="rect">
            <a:avLst/>
          </a:prstGeom>
          <a:solidFill>
            <a:srgbClr val="F3F3F3"/>
          </a:solid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