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2816000" cx="7776000"/>
  <p:notesSz cx="6858000" cy="9144000"/>
  <p:embeddedFontLst>
    <p:embeddedFont>
      <p:font typeface="Poppi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19">
          <p15:clr>
            <a:srgbClr val="747775"/>
          </p15:clr>
        </p15:guide>
        <p15:guide id="2" orient="horz" pos="1361">
          <p15:clr>
            <a:srgbClr val="747775"/>
          </p15:clr>
        </p15:guide>
        <p15:guide id="3" orient="horz" pos="77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19" orient="horz"/>
        <p:guide pos="1361" orient="horz"/>
        <p:guide pos="77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oppins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oppins-italic.fntdata"/><Relationship Id="rId14" Type="http://schemas.openxmlformats.org/officeDocument/2006/relationships/slide" Target="slides/slide9.xml"/><Relationship Id="rId36" Type="http://schemas.openxmlformats.org/officeDocument/2006/relationships/font" Target="fonts/Poppi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Poppi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50343b984_0_22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b50343b9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b98d37e61_0_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fb98d37e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98d37e61_0_1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b98d37e6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b98d37e61_0_2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fb98d37e6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b98d37e61_0_3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b98d37e6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98d37e61_0_4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98d37e6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98d37e61_0_5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b98d37e6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98d37e61_0_7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98d37e6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98d37e61_0_8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b98d37e6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98d37e61_0_9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b98d37e6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98d37e61_0_10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b98d37e6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b98d37e61_0_11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b98d37e6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710833073_0_32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71083307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e7a4e9ea_0_8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8e7a4e9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bae3bc654_0_4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bae3bc6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ae3bc654_0_1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ae3bc6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ae3bc654_0_25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bae3bc65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ae3bc654_0_40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bae3bc65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bae3bc654_0_49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bae3bc65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ae3bc654_0_57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bae3bc65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bae3bc654_0_65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bae3bc65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bae3bc654_0_73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bae3bc65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bae3bc654_0_81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bae3bc65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ae3bc654_0_88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bae3bc65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bae3bc654_0_97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bae3bc65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ae3bc654_0_105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bae3bc65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ae3bc654_0_116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bae3bc65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bae3bc654_0_124:notes"/>
          <p:cNvSpPr/>
          <p:nvPr>
            <p:ph idx="2" type="sldImg"/>
          </p:nvPr>
        </p:nvSpPr>
        <p:spPr>
          <a:xfrm>
            <a:off x="2389066" y="685800"/>
            <a:ext cx="208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bae3bc65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800"/>
            <a:ext cx="7776000" cy="128064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7204925" y="11619284"/>
            <a:ext cx="4665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ia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b="15240" l="0" r="0" t="0"/>
          <a:stretch/>
        </p:blipFill>
        <p:spPr>
          <a:xfrm>
            <a:off x="28638" y="11955350"/>
            <a:ext cx="7718726" cy="8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"/>
          <p:cNvPicPr preferRelativeResize="0"/>
          <p:nvPr/>
        </p:nvPicPr>
        <p:blipFill rotWithShape="1">
          <a:blip r:embed="rId3">
            <a:alphaModFix/>
          </a:blip>
          <a:srcRect b="0" l="1901" r="79262" t="0"/>
          <a:stretch/>
        </p:blipFill>
        <p:spPr>
          <a:xfrm>
            <a:off x="1015200" y="142350"/>
            <a:ext cx="817500" cy="7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3325" y="253500"/>
            <a:ext cx="1017468" cy="4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2010263" y="136050"/>
            <a:ext cx="35586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LittleStyle</a:t>
            </a:r>
            <a:endParaRPr b="1" sz="12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Poppins"/>
                <a:ea typeface="Poppins"/>
                <a:cs typeface="Poppins"/>
                <a:sym typeface="Poppins"/>
              </a:rPr>
              <a:t>Interfaces de Usuario</a:t>
            </a:r>
            <a:endParaRPr b="1" sz="10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000">
                <a:latin typeface="Poppins"/>
                <a:ea typeface="Poppins"/>
                <a:cs typeface="Poppins"/>
                <a:sym typeface="Poppins"/>
              </a:rPr>
              <a:t>Curso: Ingeniería de software III</a:t>
            </a:r>
            <a:endParaRPr i="1"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800"/>
            <a:ext cx="7776000" cy="1281758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7204925" y="11619284"/>
            <a:ext cx="4665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015200" y="1015350"/>
            <a:ext cx="5745600" cy="107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9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png"/><Relationship Id="rId4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/>
        </p:nvSpPr>
        <p:spPr>
          <a:xfrm>
            <a:off x="1021200" y="6599811"/>
            <a:ext cx="4084800" cy="3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LittleStyle</a:t>
            </a:r>
            <a:endParaRPr b="1" sz="25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Interfaces de Usuario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Autor:</a:t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Oscar Tomas Aristizabal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Valentina Gonzalez Diaz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Valentina Rodriguez Castro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Versión: 2.0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Fecha: 18/10/2026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7"/>
          <p:cNvSpPr txBox="1"/>
          <p:nvPr/>
        </p:nvSpPr>
        <p:spPr>
          <a:xfrm>
            <a:off x="1255050" y="472137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UI-1: Inicio de Sesión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7"/>
          <p:cNvSpPr txBox="1"/>
          <p:nvPr/>
        </p:nvSpPr>
        <p:spPr>
          <a:xfrm>
            <a:off x="1252799" y="820436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UI-2: Registro de Usuarios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1252799" y="1159511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UI-3: Pantalla principal de Clientes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" name="Google Shape;3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788" y="1980550"/>
            <a:ext cx="5660436" cy="243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713" y="5330961"/>
            <a:ext cx="5653083" cy="2479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9788" y="8572163"/>
            <a:ext cx="5616426" cy="2870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1252800" y="47859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UI-4: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8"/>
          <p:cNvSpPr txBox="1"/>
          <p:nvPr/>
        </p:nvSpPr>
        <p:spPr>
          <a:xfrm>
            <a:off x="1252799" y="820547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UI-5: Información Detallada de los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1252799" y="1154336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UI-6: Recomendación de prendas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600" y="1810950"/>
            <a:ext cx="5684801" cy="28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588" y="5056200"/>
            <a:ext cx="5684815" cy="28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600" y="8573275"/>
            <a:ext cx="5684801" cy="2908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1252800" y="486872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UI-7: Perfil del Usuario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" name="Google Shape;5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200" y="1754600"/>
            <a:ext cx="5738098" cy="2909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1252800" y="47834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UI-8: 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Catálogo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Ropa (Vista de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1255374" y="822863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UI-9: Detalle de la prenda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1252799" y="115736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UI-10: Carrito de Compras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375" y="1743375"/>
            <a:ext cx="5720408" cy="292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925" y="5151212"/>
            <a:ext cx="5738155" cy="2925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8925" y="8596450"/>
            <a:ext cx="5720400" cy="28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1252800" y="49376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UI-11: Proceso de Pago-Formulario de DIrección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1252799" y="82085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UI-12: Proceso de Pago-Resumen de la Compra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1"/>
          <p:cNvSpPr txBox="1"/>
          <p:nvPr/>
        </p:nvSpPr>
        <p:spPr>
          <a:xfrm>
            <a:off x="1255049" y="1149303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UI-13: Proceso de Pago-Método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725" y="1760825"/>
            <a:ext cx="5738098" cy="29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725" y="5305475"/>
            <a:ext cx="5738102" cy="275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1200" y="8576400"/>
            <a:ext cx="5738098" cy="276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1252800" y="46091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UI-14: Proceso de Pago-Pago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1252799" y="81232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UI-15: Proceso de Pago-Confirmación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2"/>
          <p:cNvSpPr txBox="1"/>
          <p:nvPr/>
        </p:nvSpPr>
        <p:spPr>
          <a:xfrm>
            <a:off x="1255374" y="114936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UI-16: Información del Pedido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3" name="Google Shape;8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200" y="1814950"/>
            <a:ext cx="5738098" cy="264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200" y="4976900"/>
            <a:ext cx="5710598" cy="29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5675" y="8491000"/>
            <a:ext cx="5710600" cy="28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264350" y="49004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UI-17: Historial de Pedidos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252799" y="82359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UI-18: Panel del Vendedor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264360" y="11498463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UI-19: Catálogo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950" y="1814950"/>
            <a:ext cx="5738099" cy="29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100" y="5172875"/>
            <a:ext cx="5677199" cy="281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950" y="8603750"/>
            <a:ext cx="5738099" cy="27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64350" y="48394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UI-20: Añadir prendas (Vista de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64349" y="8231825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UI-21: Inventario (Vista del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264360" y="1150883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UI-22: Alertas de Stock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975" y="1814950"/>
            <a:ext cx="5662976" cy="248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375" y="5207288"/>
            <a:ext cx="5676170" cy="2872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7888" y="8599625"/>
            <a:ext cx="5465161" cy="275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1021200" y="1013350"/>
            <a:ext cx="57381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264350" y="48092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UI-23: Listado de Pedidos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200" y="1642225"/>
            <a:ext cx="5738099" cy="2894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1021200" y="10133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264350" y="44039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UI-24: Panel de dashboards del Vendedor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264349" y="77353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UI-25: Panel Inicial del Administrador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16" title="Captura de pantalla 2026-09-17 22270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8282650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p16"/>
          <p:cNvSpPr txBox="1"/>
          <p:nvPr/>
        </p:nvSpPr>
        <p:spPr>
          <a:xfrm>
            <a:off x="1264360" y="113122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UI-26: Listado de Usuarios (Vista del Administrador)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6" title="Captura de pantalla 2026-09-17 22250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800" y="1447150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16" title="Captura de pantalla 2026-09-17 22260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800" y="47463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1021200" y="10133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264350" y="440395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UI-27: 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del Usuario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264349" y="77353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UI-28:  Moderación de Catálogo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17" title="Captura de pantalla 2026-09-17 22354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2800" y="82342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" name="Google Shape;134;p17"/>
          <p:cNvSpPr txBox="1"/>
          <p:nvPr/>
        </p:nvSpPr>
        <p:spPr>
          <a:xfrm>
            <a:off x="1264360" y="11312288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UI-29: Gestión de Categorías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17" title="Captura de pantalla 2026-09-17 2228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2800" y="1415000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p17" title="Captura de pantalla 2026-09-17 22345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800" y="4746325"/>
            <a:ext cx="5270399" cy="286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1021200" y="10133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255050" y="4523000"/>
            <a:ext cx="5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UI-30: Dashboards - Reportes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18" title="Captura de pantalla 2026-09-17 22364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050" y="1554088"/>
            <a:ext cx="5270399" cy="2861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1317600" y="1875500"/>
            <a:ext cx="514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/>
              <a:t>UI Dispositivo Móvil</a:t>
            </a:r>
            <a:endParaRPr b="1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1018950" y="63003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UI-1: Inicio de Sesión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1018950" y="109768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UI-2: Registro de Usuarios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6463" y="1811050"/>
            <a:ext cx="2003084" cy="4336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475" y="6577850"/>
            <a:ext cx="2003084" cy="4336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1018950" y="6108900"/>
            <a:ext cx="57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UI-3: Pantalla principal de Clientes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1018950" y="111673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UI-4: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638" y="1707050"/>
            <a:ext cx="2010751" cy="435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2650" y="6661500"/>
            <a:ext cx="2010751" cy="435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1018950" y="62665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UI-5: Información Detallada de los Perfiles Infantiles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1018950" y="109372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UI-6: Recomendación de prendas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075" y="1658650"/>
            <a:ext cx="1987505" cy="430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4250" y="6634150"/>
            <a:ext cx="1987505" cy="430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/>
        </p:nvSpPr>
        <p:spPr>
          <a:xfrm>
            <a:off x="1018950" y="10094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1: Gestión del Perfil Infantil y recomendación personalizada de tallas y prendas.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1018950" y="56746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UI-7: Perfil del Usuario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1018950" y="600720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1018950" y="109603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UI-8: Catálogo de Ropa (Vista de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4" name="Google Shape;18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3925" y="1658650"/>
            <a:ext cx="1847084" cy="39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4463" y="6878850"/>
            <a:ext cx="1847084" cy="39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1021200" y="59377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UI-9: Detalle de la prenda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1021200" y="105737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UI-10: Carrito de Compras (Vista del Cliente)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300" y="1669650"/>
            <a:ext cx="1900950" cy="411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5775" y="6457975"/>
            <a:ext cx="1900950" cy="411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1021200" y="58635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UI-11: Proceso de Pago-Formulario de Dirección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1021200" y="108596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UI-12: Proceso de Pago-Resumen de la Compra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200" y="1837500"/>
            <a:ext cx="1687775" cy="36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9200" y="6231325"/>
            <a:ext cx="2067330" cy="447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1021200" y="57298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UI-13: Proceso de Pago-Método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1021200" y="106172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UI-14: Proceso de Pago-Pago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363" y="1567275"/>
            <a:ext cx="1773800" cy="384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9463" y="6097650"/>
            <a:ext cx="2017078" cy="436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1021200" y="64968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UI-15: Proceso de Pago-Confirmación de pago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1021200" y="112562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UI-16: Información del Pedido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8050" y="1814950"/>
            <a:ext cx="2092063" cy="45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6713" y="6833138"/>
            <a:ext cx="1987075" cy="43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1021200" y="58932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UI-17: Historial de Pedidos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1021200" y="109793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UI-18: Panel del Vendedor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025" y="1673350"/>
            <a:ext cx="1808276" cy="391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8025" y="6345075"/>
            <a:ext cx="2108886" cy="456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1021200" y="57848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UI-19: Catálogo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1021200" y="107861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UI-20: Añadir prendas (Vista de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8" name="Google Shape;2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625" y="6215550"/>
            <a:ext cx="2097259" cy="448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875" y="1226350"/>
            <a:ext cx="2069708" cy="44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1021200" y="58806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UI-21: Inventario (Vista del Vendedor)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1021199" y="1052945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UI-22: Alertas de Stock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7" name="Google Shape;2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0625" y="1552300"/>
            <a:ext cx="1934740" cy="412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9325" y="6248400"/>
            <a:ext cx="1904604" cy="412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/>
        </p:nvSpPr>
        <p:spPr>
          <a:xfrm>
            <a:off x="1018950" y="600797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UI-23: Listado de Pedidos (Vista del Vendedor)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1021200" y="1013350"/>
            <a:ext cx="5738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2: Gestión del catálogo, compras, pedidos e inventario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1018950" y="6440275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1018950" y="112087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UI-24: Panel de dashboards del Vendedor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1"/>
          <p:cNvPicPr preferRelativeResize="0"/>
          <p:nvPr/>
        </p:nvPicPr>
        <p:blipFill rotWithShape="1">
          <a:blip r:embed="rId3">
            <a:alphaModFix/>
          </a:blip>
          <a:srcRect b="2079" l="9596" r="3951" t="768"/>
          <a:stretch/>
        </p:blipFill>
        <p:spPr>
          <a:xfrm>
            <a:off x="2926200" y="7206775"/>
            <a:ext cx="1958400" cy="39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7463" y="1814950"/>
            <a:ext cx="1855869" cy="404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/>
        </p:nvSpPr>
        <p:spPr>
          <a:xfrm>
            <a:off x="1018950" y="10094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2"/>
          <p:cNvPicPr preferRelativeResize="0"/>
          <p:nvPr/>
        </p:nvPicPr>
        <p:blipFill rotWithShape="1">
          <a:blip r:embed="rId3">
            <a:alphaModFix/>
          </a:blip>
          <a:srcRect b="2496" l="2705" r="4341" t="0"/>
          <a:stretch/>
        </p:blipFill>
        <p:spPr>
          <a:xfrm>
            <a:off x="2908800" y="1593875"/>
            <a:ext cx="1958400" cy="39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/>
        </p:nvSpPr>
        <p:spPr>
          <a:xfrm>
            <a:off x="1018950" y="57405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UI-25: Panel Inicial del Administrador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1018950" y="103951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UI-26: Listado de Usuarios (Vista del Administrador)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p32"/>
          <p:cNvPicPr preferRelativeResize="0"/>
          <p:nvPr/>
        </p:nvPicPr>
        <p:blipFill rotWithShape="1">
          <a:blip r:embed="rId4">
            <a:alphaModFix/>
          </a:blip>
          <a:srcRect b="1143" l="4387" r="2857" t="1192"/>
          <a:stretch/>
        </p:blipFill>
        <p:spPr>
          <a:xfrm>
            <a:off x="2920338" y="6212350"/>
            <a:ext cx="1958400" cy="3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/>
        </p:nvSpPr>
        <p:spPr>
          <a:xfrm>
            <a:off x="1018950" y="10094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3" name="Google Shape;273;p33"/>
          <p:cNvPicPr preferRelativeResize="0"/>
          <p:nvPr/>
        </p:nvPicPr>
        <p:blipFill rotWithShape="1">
          <a:blip r:embed="rId3">
            <a:alphaModFix/>
          </a:blip>
          <a:srcRect b="0" l="4314" r="-2132" t="0"/>
          <a:stretch/>
        </p:blipFill>
        <p:spPr>
          <a:xfrm>
            <a:off x="2908800" y="1631525"/>
            <a:ext cx="1958400" cy="39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/>
          <p:cNvPicPr preferRelativeResize="0"/>
          <p:nvPr/>
        </p:nvPicPr>
        <p:blipFill rotWithShape="1">
          <a:blip r:embed="rId4">
            <a:alphaModFix/>
          </a:blip>
          <a:srcRect b="-1061" l="4964" r="11186" t="0"/>
          <a:stretch/>
        </p:blipFill>
        <p:spPr>
          <a:xfrm>
            <a:off x="2908800" y="6361225"/>
            <a:ext cx="1958400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 txBox="1"/>
          <p:nvPr/>
        </p:nvSpPr>
        <p:spPr>
          <a:xfrm>
            <a:off x="1018950" y="58538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UI-27: Información del Usuario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1018950" y="105980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UI-28:  Moderación de Catálogo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/>
        </p:nvSpPr>
        <p:spPr>
          <a:xfrm>
            <a:off x="1018950" y="1009450"/>
            <a:ext cx="57381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Proceso 3: Gestión administrativa y procesos internos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1018950" y="11225500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UI-30: Dashboards - Reportes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1018950" y="6194425"/>
            <a:ext cx="573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UI-29: Gestión de Categorías (Vista del Administrador)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34"/>
          <p:cNvPicPr preferRelativeResize="0"/>
          <p:nvPr/>
        </p:nvPicPr>
        <p:blipFill rotWithShape="1">
          <a:blip r:embed="rId3">
            <a:alphaModFix/>
          </a:blip>
          <a:srcRect b="0" l="13692" r="10366" t="1497"/>
          <a:stretch/>
        </p:blipFill>
        <p:spPr>
          <a:xfrm>
            <a:off x="2908800" y="7125825"/>
            <a:ext cx="1958401" cy="399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/>
          <p:cNvPicPr preferRelativeResize="0"/>
          <p:nvPr/>
        </p:nvPicPr>
        <p:blipFill rotWithShape="1">
          <a:blip r:embed="rId4">
            <a:alphaModFix/>
          </a:blip>
          <a:srcRect b="2606" l="11146" r="14895" t="1947"/>
          <a:stretch/>
        </p:blipFill>
        <p:spPr>
          <a:xfrm>
            <a:off x="2908800" y="1876687"/>
            <a:ext cx="1958400" cy="39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